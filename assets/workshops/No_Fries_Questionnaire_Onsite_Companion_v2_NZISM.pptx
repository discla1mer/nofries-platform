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1fc2ff30c9c4ad8" /><Relationship Type="http://schemas.openxmlformats.org/officeDocument/2006/relationships/extended-properties" Target="/docProps/app.xml" Id="R1214b6fb00634b97" /><Relationship Type="http://schemas.openxmlformats.org/officeDocument/2006/relationships/officeDocument" Target="/ppt/presentation.xml" Id="R45805fbb83e54937" /></Relationships>
</file>

<file path=ppt/presentation.xml><?xml version="1.0" encoding="utf-8"?>
<p:presentation xmlns:p="http://schemas.openxmlformats.org/presentationml/2006/main">
  <p:sldMasterIdLst>
    <p:sldMasterId xmlns:r="http://schemas.openxmlformats.org/officeDocument/2006/relationships" id="2147483648" r:id="Rf9ec106466854aee"/>
  </p:sldMasterIdLst>
  <p:notesMasterIdLst>
    <p:notesMasterId xmlns:r="http://schemas.openxmlformats.org/officeDocument/2006/relationships" r:id="R8d4bb26090904d72"/>
  </p:notesMasterIdLst>
  <p:sldIdLst>
    <p:sldId xmlns:r="http://schemas.openxmlformats.org/officeDocument/2006/relationships" id="256" r:id="Re6c1de6934414b31"/>
    <p:sldId xmlns:r="http://schemas.openxmlformats.org/officeDocument/2006/relationships" id="257" r:id="R923a69568e6d406a"/>
    <p:sldId xmlns:r="http://schemas.openxmlformats.org/officeDocument/2006/relationships" id="258" r:id="R88f2019f8a574e15"/>
    <p:sldId xmlns:r="http://schemas.openxmlformats.org/officeDocument/2006/relationships" id="259" r:id="R2a2ad3e6353048fc"/>
    <p:sldId xmlns:r="http://schemas.openxmlformats.org/officeDocument/2006/relationships" id="260" r:id="R4b7f3d49138a4c1c"/>
    <p:sldId xmlns:r="http://schemas.openxmlformats.org/officeDocument/2006/relationships" id="261" r:id="R8153a4ec6430426b"/>
    <p:sldId xmlns:r="http://schemas.openxmlformats.org/officeDocument/2006/relationships" id="262" r:id="Rbd3c00c177be431d"/>
    <p:sldId xmlns:r="http://schemas.openxmlformats.org/officeDocument/2006/relationships" id="263" r:id="Rc3ea61ab1bdd4862"/>
    <p:sldId xmlns:r="http://schemas.openxmlformats.org/officeDocument/2006/relationships" id="264" r:id="R1c21e51403c54006"/>
    <p:sldId xmlns:r="http://schemas.openxmlformats.org/officeDocument/2006/relationships" id="265" r:id="Rce91a46d5f96424d"/>
    <p:sldId xmlns:r="http://schemas.openxmlformats.org/officeDocument/2006/relationships" id="266" r:id="R1b6b380620bc4d91"/>
    <p:sldId xmlns:r="http://schemas.openxmlformats.org/officeDocument/2006/relationships" id="267" r:id="R41d6bd9baa6444a3"/>
    <p:sldId xmlns:r="http://schemas.openxmlformats.org/officeDocument/2006/relationships" id="268" r:id="Rea173e39a68e45a8"/>
    <p:sldId xmlns:r="http://schemas.openxmlformats.org/officeDocument/2006/relationships" id="269" r:id="R5a551c8ef3f54071"/>
    <p:sldId xmlns:r="http://schemas.openxmlformats.org/officeDocument/2006/relationships" id="270" r:id="Rf7608e71385d42d8"/>
    <p:sldId xmlns:r="http://schemas.openxmlformats.org/officeDocument/2006/relationships" id="271" r:id="R6536bb0c18df4fd5"/>
    <p:sldId xmlns:r="http://schemas.openxmlformats.org/officeDocument/2006/relationships" id="272" r:id="R1d8000925f8b4b32"/>
    <p:sldId xmlns:r="http://schemas.openxmlformats.org/officeDocument/2006/relationships" id="273" r:id="Raa12f989f8d545be"/>
    <p:sldId xmlns:r="http://schemas.openxmlformats.org/officeDocument/2006/relationships" id="274" r:id="R945ed0e30f7b49f6"/>
    <p:sldId xmlns:r="http://schemas.openxmlformats.org/officeDocument/2006/relationships" id="275" r:id="R007b887809ee43b2"/>
    <p:sldId xmlns:r="http://schemas.openxmlformats.org/officeDocument/2006/relationships" id="276" r:id="R9ed569e23eac43cf"/>
    <p:sldId xmlns:r="http://schemas.openxmlformats.org/officeDocument/2006/relationships" id="277" r:id="Rffc401a55467480b"/>
    <p:sldId xmlns:r="http://schemas.openxmlformats.org/officeDocument/2006/relationships" id="278" r:id="Rc54eb41c33924ab1"/>
    <p:sldId xmlns:r="http://schemas.openxmlformats.org/officeDocument/2006/relationships" id="279" r:id="R2831f58540924444"/>
    <p:sldId xmlns:r="http://schemas.openxmlformats.org/officeDocument/2006/relationships" id="280" r:id="R686fba98c28a41d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76df90673f34b54" /><Relationship Type="http://schemas.openxmlformats.org/officeDocument/2006/relationships/slideMaster" Target="/ppt/slideMasters/slideMaster1.xml" Id="Rf9ec106466854aee" /><Relationship Type="http://schemas.openxmlformats.org/officeDocument/2006/relationships/notesMaster" Target="/ppt/notesMasters/notesMaster1.xml" Id="R8d4bb26090904d72" /><Relationship Type="http://schemas.openxmlformats.org/officeDocument/2006/relationships/presProps" Target="/ppt/presProps.xml" Id="R24b6065941d843e2" /><Relationship Type="http://schemas.openxmlformats.org/officeDocument/2006/relationships/tableStyles" Target="/ppt/tableStyles.xml" Id="R5103dd6e385e42d1" /><Relationship Type="http://schemas.openxmlformats.org/officeDocument/2006/relationships/slide" Target="/ppt/slides/slide1.xml" Id="Re6c1de6934414b31" /><Relationship Type="http://schemas.openxmlformats.org/officeDocument/2006/relationships/slide" Target="/ppt/slides/slide2.xml" Id="R923a69568e6d406a" /><Relationship Type="http://schemas.openxmlformats.org/officeDocument/2006/relationships/slide" Target="/ppt/slides/slide3.xml" Id="R88f2019f8a574e15" /><Relationship Type="http://schemas.openxmlformats.org/officeDocument/2006/relationships/slide" Target="/ppt/slides/slide4.xml" Id="R2a2ad3e6353048fc" /><Relationship Type="http://schemas.openxmlformats.org/officeDocument/2006/relationships/slide" Target="/ppt/slides/slide5.xml" Id="R4b7f3d49138a4c1c" /><Relationship Type="http://schemas.openxmlformats.org/officeDocument/2006/relationships/slide" Target="/ppt/slides/slide6.xml" Id="R8153a4ec6430426b" /><Relationship Type="http://schemas.openxmlformats.org/officeDocument/2006/relationships/slide" Target="/ppt/slides/slide7.xml" Id="Rbd3c00c177be431d" /><Relationship Type="http://schemas.openxmlformats.org/officeDocument/2006/relationships/slide" Target="/ppt/slides/slide8.xml" Id="Rc3ea61ab1bdd4862" /><Relationship Type="http://schemas.openxmlformats.org/officeDocument/2006/relationships/slide" Target="/ppt/slides/slide9.xml" Id="R1c21e51403c54006" /><Relationship Type="http://schemas.openxmlformats.org/officeDocument/2006/relationships/slide" Target="/ppt/slides/slide10.xml" Id="Rce91a46d5f96424d" /><Relationship Type="http://schemas.openxmlformats.org/officeDocument/2006/relationships/slide" Target="/ppt/slides/slide11.xml" Id="R1b6b380620bc4d91" /><Relationship Type="http://schemas.openxmlformats.org/officeDocument/2006/relationships/slide" Target="/ppt/slides/slide12.xml" Id="R41d6bd9baa6444a3" /><Relationship Type="http://schemas.openxmlformats.org/officeDocument/2006/relationships/slide" Target="/ppt/slides/slide13.xml" Id="Rea173e39a68e45a8" /><Relationship Type="http://schemas.openxmlformats.org/officeDocument/2006/relationships/slide" Target="/ppt/slides/slide14.xml" Id="R5a551c8ef3f54071" /><Relationship Type="http://schemas.openxmlformats.org/officeDocument/2006/relationships/slide" Target="/ppt/slides/slide15.xml" Id="Rf7608e71385d42d8" /><Relationship Type="http://schemas.openxmlformats.org/officeDocument/2006/relationships/slide" Target="/ppt/slides/slide16.xml" Id="R6536bb0c18df4fd5" /><Relationship Type="http://schemas.openxmlformats.org/officeDocument/2006/relationships/slide" Target="/ppt/slides/slide17.xml" Id="R1d8000925f8b4b32" /><Relationship Type="http://schemas.openxmlformats.org/officeDocument/2006/relationships/slide" Target="/ppt/slides/slide18.xml" Id="Raa12f989f8d545be" /><Relationship Type="http://schemas.openxmlformats.org/officeDocument/2006/relationships/slide" Target="/ppt/slides/slide19.xml" Id="R945ed0e30f7b49f6" /><Relationship Type="http://schemas.openxmlformats.org/officeDocument/2006/relationships/slide" Target="/ppt/slides/slide20.xml" Id="R007b887809ee43b2" /><Relationship Type="http://schemas.openxmlformats.org/officeDocument/2006/relationships/slide" Target="/ppt/slides/slide21.xml" Id="R9ed569e23eac43cf" /><Relationship Type="http://schemas.openxmlformats.org/officeDocument/2006/relationships/slide" Target="/ppt/slides/slide22.xml" Id="Rffc401a55467480b" /><Relationship Type="http://schemas.openxmlformats.org/officeDocument/2006/relationships/slide" Target="/ppt/slides/slide23.xml" Id="Rc54eb41c33924ab1" /><Relationship Type="http://schemas.openxmlformats.org/officeDocument/2006/relationships/slide" Target="/ppt/slides/slide24.xml" Id="R2831f58540924444" /><Relationship Type="http://schemas.openxmlformats.org/officeDocument/2006/relationships/slide" Target="/ppt/slides/slide25.xml" Id="R686fba98c28a41d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c2b6edaf2f343a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21c11e75cfa4bf6" /><Relationship Type="http://schemas.openxmlformats.org/officeDocument/2006/relationships/notesMaster" Target="/ppt/notesMasters/notesMaster1.xml" Id="R94cf18a84f624de3" /></Relationships>
</file>

<file path=ppt/notesSlides/_rels/notesSlide2.xml.rels>&#65279;<?xml version="1.0" encoding="utf-8"?><Relationships xmlns="http://schemas.openxmlformats.org/package/2006/relationships"><Relationship Type="http://schemas.openxmlformats.org/officeDocument/2006/relationships/slide" Target="/ppt/slides/slide2.xml" Id="R990ec61e28db449e" /><Relationship Type="http://schemas.openxmlformats.org/officeDocument/2006/relationships/notesMaster" Target="/ppt/notesMasters/notesMaster1.xml" Id="Rb8940af86a4a4721" /></Relationships>
</file>

<file path=ppt/notesSlides/_rels/notesSlide3.xml.rels>&#65279;<?xml version="1.0" encoding="utf-8"?><Relationships xmlns="http://schemas.openxmlformats.org/package/2006/relationships"><Relationship Type="http://schemas.openxmlformats.org/officeDocument/2006/relationships/slide" Target="/ppt/slides/slide3.xml" Id="R2281f548fa4d4f4a" /><Relationship Type="http://schemas.openxmlformats.org/officeDocument/2006/relationships/notesMaster" Target="/ppt/notesMasters/notesMaster1.xml" Id="R232c7443a0e945e7" /></Relationships>
</file>

<file path=ppt/notesSlides/_rels/notesSlide4.xml.rels>&#65279;<?xml version="1.0" encoding="utf-8"?><Relationships xmlns="http://schemas.openxmlformats.org/package/2006/relationships"><Relationship Type="http://schemas.openxmlformats.org/officeDocument/2006/relationships/slide" Target="/ppt/slides/slide4.xml" Id="R74fa36cb98b44438" /><Relationship Type="http://schemas.openxmlformats.org/officeDocument/2006/relationships/notesMaster" Target="/ppt/notesMasters/notesMaster1.xml" Id="R6c28752cb8014477" /></Relationships>
</file>

<file path=ppt/notesSlides/_rels/notesSlide5.xml.rels>&#65279;<?xml version="1.0" encoding="utf-8"?><Relationships xmlns="http://schemas.openxmlformats.org/package/2006/relationships"><Relationship Type="http://schemas.openxmlformats.org/officeDocument/2006/relationships/slide" Target="/ppt/slides/slide5.xml" Id="Raf90adc79a874dbc" /><Relationship Type="http://schemas.openxmlformats.org/officeDocument/2006/relationships/notesMaster" Target="/ppt/notesMasters/notesMaster1.xml" Id="Rdc8b8d6441ea4dec" /></Relationships>
</file>

<file path=ppt/notesSlides/_rels/notesSlide6.xml.rels>&#65279;<?xml version="1.0" encoding="utf-8"?><Relationships xmlns="http://schemas.openxmlformats.org/package/2006/relationships"><Relationship Type="http://schemas.openxmlformats.org/officeDocument/2006/relationships/slide" Target="/ppt/slides/slide6.xml" Id="R54d543ed3e524ed8" /><Relationship Type="http://schemas.openxmlformats.org/officeDocument/2006/relationships/notesMaster" Target="/ppt/notesMasters/notesMaster1.xml" Id="R8d08d0b6308b49c0" /></Relationships>
</file>

<file path=ppt/notesSlides/_rels/notesSlide7.xml.rels>&#65279;<?xml version="1.0" encoding="utf-8"?><Relationships xmlns="http://schemas.openxmlformats.org/package/2006/relationships"><Relationship Type="http://schemas.openxmlformats.org/officeDocument/2006/relationships/slide" Target="/ppt/slides/slide7.xml" Id="R11890fe631f84e0f" /><Relationship Type="http://schemas.openxmlformats.org/officeDocument/2006/relationships/notesMaster" Target="/ppt/notesMasters/notesMaster1.xml" Id="R46af8bae123b4b3b" /></Relationships>
</file>

<file path=ppt/notesSlides/_rels/notesSlide8.xml.rels>&#65279;<?xml version="1.0" encoding="utf-8"?><Relationships xmlns="http://schemas.openxmlformats.org/package/2006/relationships"><Relationship Type="http://schemas.openxmlformats.org/officeDocument/2006/relationships/slide" Target="/ppt/slides/slide8.xml" Id="Rd07278547019481f" /><Relationship Type="http://schemas.openxmlformats.org/officeDocument/2006/relationships/notesMaster" Target="/ppt/notesMasters/notesMaster1.xml" Id="R009f467536f84f81" /></Relationships>
</file>

<file path=ppt/notesSlides/_rels/notesSlide9.xml.rels>&#65279;<?xml version="1.0" encoding="utf-8"?><Relationships xmlns="http://schemas.openxmlformats.org/package/2006/relationships"><Relationship Type="http://schemas.openxmlformats.org/officeDocument/2006/relationships/slide" Target="/ppt/slides/slide9.xml" Id="R48ec9b60d08c4b96" /><Relationship Type="http://schemas.openxmlformats.org/officeDocument/2006/relationships/notesMaster" Target="/ppt/notesMasters/notesMaster1.xml" Id="Ra321c5d324bd4ae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034e4ef366747f2" /><Relationship Type="http://schemas.openxmlformats.org/officeDocument/2006/relationships/notesMaster" Target="/ppt/notesMasters/notesMaster1.xml" Id="R9e3ebbe111034f7f"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c6cdc1d2aed049f6" /><Relationship Type="http://schemas.openxmlformats.org/officeDocument/2006/relationships/notesMaster" Target="/ppt/notesMasters/notesMaster1.xml" Id="Rf176c2add4ae4367"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796c334f63894949" /><Relationship Type="http://schemas.openxmlformats.org/officeDocument/2006/relationships/notesMaster" Target="/ppt/notesMasters/notesMaster1.xml" Id="R76387aab19b143e8"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4401fab3758e4f7c" /><Relationship Type="http://schemas.openxmlformats.org/officeDocument/2006/relationships/notesMaster" Target="/ppt/notesMasters/notesMaster1.xml" Id="Rd2674bd33ca9492f"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ad050f9178244ba9" /><Relationship Type="http://schemas.openxmlformats.org/officeDocument/2006/relationships/notesMaster" Target="/ppt/notesMasters/notesMaster1.xml" Id="R79a7c94291d4436b"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01aed16eeb8b4ea3" /><Relationship Type="http://schemas.openxmlformats.org/officeDocument/2006/relationships/notesMaster" Target="/ppt/notesMasters/notesMaster1.xml" Id="Rd5e65bb046904059"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1139d7cd182d453c" /><Relationship Type="http://schemas.openxmlformats.org/officeDocument/2006/relationships/notesMaster" Target="/ppt/notesMasters/notesMaster1.xml" Id="R9d836c2998834395"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1a900a6fdedd443b" /><Relationship Type="http://schemas.openxmlformats.org/officeDocument/2006/relationships/notesMaster" Target="/ppt/notesMasters/notesMaster1.xml" Id="R9647e76317964033"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d9da6c08c9d94d73" /><Relationship Type="http://schemas.openxmlformats.org/officeDocument/2006/relationships/notesMaster" Target="/ppt/notesMasters/notesMaster1.xml" Id="Rd585bbed52574f85"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79299cbfff2c4f42" /><Relationship Type="http://schemas.openxmlformats.org/officeDocument/2006/relationships/notesMaster" Target="/ppt/notesMasters/notesMaster1.xml" Id="R69fca09fb08d4baa"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0516ebe014dd4ef6" /><Relationship Type="http://schemas.openxmlformats.org/officeDocument/2006/relationships/notesMaster" Target="/ppt/notesMasters/notesMaster1.xml" Id="R257e94db68fb4c06"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8f7ddd67d9b747b7" /><Relationship Type="http://schemas.openxmlformats.org/officeDocument/2006/relationships/notesMaster" Target="/ppt/notesMasters/notesMaster1.xml" Id="R6c2f941c15f3406d"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434ccb4d438f4c78" /><Relationship Type="http://schemas.openxmlformats.org/officeDocument/2006/relationships/notesMaster" Target="/ppt/notesMasters/notesMaster1.xml" Id="R5e81bc1689694247"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8f1b9ecf9ba5451b" /><Relationship Type="http://schemas.openxmlformats.org/officeDocument/2006/relationships/notesMaster" Target="/ppt/notesMasters/notesMaster1.xml" Id="Rd0c00c3b6019400b"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87e8bde478e04dc7" /><Relationship Type="http://schemas.openxmlformats.org/officeDocument/2006/relationships/notesMaster" Target="/ppt/notesMasters/notesMaster1.xml" Id="R66302eccccb24eac"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894ca248025a425c" /><Relationship Type="http://schemas.openxmlformats.org/officeDocument/2006/relationships/notesMaster" Target="/ppt/notesMasters/notesMaster1.xml" Id="Rc100b25c927047d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 run this deck alongside the actual No Fries questionnaire during an onsite customer meeting. Use the question numbers and full question IDs to stay aligned. The 14 question slides follow the accepted catalogue order, which moves between functions. Avoid reordering them into function groups during the walkthrough.</a:t>
            </a:r>
          </a:p>
          <a:p xmlns:a="http://schemas.openxmlformats.org/drawingml/2006/main">
            <a:r>
              <a:t/>
            </a:r>
          </a:p>
          <a:p xmlns:a="http://schemas.openxmlformats.org/drawingml/2006/main">
            <a:r>
              <a:t>Suggested setup: the customer identifies the decision-maker, business owner and technical contact. Keep the questionnaire visible on a separate screen or switch to it after discussion. This deck does not implement an embedded or synchronised viewer. Use a separate workshop record for evidence references and agreed actions.</a:t>
            </a:r>
          </a:p>
          <a:p xmlns:a="http://schemas.openxmlformats.org/drawingml/2006/main">
            <a:r>
              <a:t/>
            </a:r>
          </a:p>
          <a:p xmlns:a="http://schemas.openxmlformats.org/drawingml/2006/main">
            <a:r>
              <a:t>Facilitator boundary: this is a concise No Fries implementation assessment. It does not assess every cumulative Minimum Standard requirement, establish CS-CMM attainment, certify compliance, provide an official NCSC score, or predict a breach. The customer chooses the answer. Examples are illustrative and must not pre-fill the customer’s response. Keep discussion within the agreed systems, services and date. If evidence is unavailable, record the follow-up in the workshop notes. Do not claim an evidence upload or persisted action-plan feature. Do not collect passwords, tokens, recovery codes or unnecessary personal data.</a:t>
            </a:r>
          </a:p>
          <a:p xmlns:a="http://schemas.openxmlformats.org/drawingml/2006/main">
            <a:r>
              <a:t/>
            </a:r>
          </a:p>
          <a:p xmlns:a="http://schemas.openxmlformats.org/drawingml/2006/main">
            <a:r>
              <a:t>Question catalogue and exact ordering: https://github.com/Discla1mer/NoFries/blob/813c7eea0176ed388d1a1944ce7e7b90278be50f/api/shared/securityGap/ncscProfile.js</a:t>
            </a:r>
          </a:p>
          <a:p xmlns:a="http://schemas.openxmlformats.org/drawingml/2006/main">
            <a:r>
              <a:t>Accepted profile and limitations: https://github.com/Discla1mer/NoFries/blob/813c7eea0176ed388d1a1944ce7e7b90278be50f/api/shared/assessmentEngine/ncscAcceptedFrameworkProfile.js</a:t>
            </a:r>
          </a:p>
          <a:p xmlns:a="http://schemas.openxmlformats.org/drawingml/2006/main">
            <a:r>
              <a:t>Question metadata projection: https://github.com/Discla1mer/NoFries/blob/813c7eea0176ed388d1a1944ce7e7b90278be50f/api/shared/ncscQuestionnaireMetadata.js</a:t>
            </a:r>
          </a:p>
          <a:p xmlns:a="http://schemas.openxmlformats.org/drawingml/2006/main">
            <a:r>
              <a:t>Current customer colour and type system: https://github.com/Discla1mer/NoFries/blob/813c7eea0176ed388d1a1944ce7e7b90278be50f/style.css</a:t>
            </a:r>
          </a:p>
          <a:p xmlns:a="http://schemas.openxmlformats.org/drawingml/2006/main">
            <a:r>
              <a:t>Original No Fries logo: https://github.com/Discla1mer/NoFries/blob/813c7eea0176ed388d1a1944ce7e7b90278be50f/images/nofrieslogo.png</a:t>
            </a:r>
          </a:p>
          <a:p xmlns:a="http://schemas.openxmlformats.org/drawingml/2006/main">
            <a:r>
              <a:t>Inter font: https://github.com/google/fonts/tree/main/ofl/inter (SIL Open Font License).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Before creating an assessment, agree the organisation, assessment date and systems/services in scope. Ask which services the business cannot operate without and which face the internet. Include important information, cloud services and relevant third-party responsibilities. Write exclusions clearly and explain why. A supplier-managed service still needs an answer about the customer’s actual coverage and responsibilities.</a:t>
            </a:r>
          </a:p>
          <a:p xmlns:a="http://schemas.openxmlformats.org/drawingml/2006/main">
            <a:r>
              <a:t/>
            </a:r>
          </a:p>
          <a:p xmlns:a="http://schemas.openxmlformats.org/drawingml/2006/main">
            <a:r>
              <a:t>Read the proposed declaration back to the customer. Explain that the current assessment declaration is immutable after creation. If scope changes materially, use the appropriate new-assessment process rather than silently comparing unlike scopes. Avoid including secrets or unnecessary personal details. The sample scope is fictional.</a:t>
            </a:r>
          </a:p>
          <a:p xmlns:a="http://schemas.openxmlformats.org/drawingml/2006/main">
            <a:r>
              <a:t/>
            </a:r>
          </a:p>
          <a:p xmlns:a="http://schemas.openxmlformats.org/drawingml/2006/main">
            <a:r>
              <a:t>Facilitator boundary: this is a concise No Fries implementation assessment. It does not assess every cumulative Minimum Standard requirement, establish CS-CMM attainment, certify compliance, provide an official NCSC score, or predict a breach. The customer chooses the answer. Examples are illustrative and must not pre-fill the customer’s response. Keep discussion within the agreed systems, services and date. If evidence is unavailable, record the follow-up in the workshop notes. Do not claim an evidence upload or persisted action-plan feature. Do not collect passwords, tokens, recovery codes or unnecessary personal data.</a:t>
            </a:r>
          </a:p>
          <a:p xmlns:a="http://schemas.openxmlformats.org/drawingml/2006/main">
            <a:r>
              <a:t/>
            </a:r>
          </a:p>
          <a:p xmlns:a="http://schemas.openxmlformats.org/drawingml/2006/main">
            <a:r>
              <a:t>Question catalogue and exact ordering: https://github.com/Discla1mer/NoFries/blob/813c7eea0176ed388d1a1944ce7e7b90278be50f/api/shared/securityGap/ncscProfile.js</a:t>
            </a:r>
          </a:p>
          <a:p xmlns:a="http://schemas.openxmlformats.org/drawingml/2006/main">
            <a:r>
              <a:t>Accepted profile and limitations: https://github.com/Discla1mer/NoFries/blob/813c7eea0176ed388d1a1944ce7e7b90278be50f/api/shared/assessmentEngine/ncscAcceptedFrameworkProfile.js</a:t>
            </a:r>
          </a:p>
          <a:p xmlns:a="http://schemas.openxmlformats.org/drawingml/2006/main">
            <a:r>
              <a:t>Question metadata projection: https://github.com/Discla1mer/NoFries/blob/813c7eea0176ed388d1a1944ce7e7b90278be50f/api/shared/ncscQuestionnaireMetadata.js</a:t>
            </a:r>
          </a:p>
          <a:p xmlns:a="http://schemas.openxmlformats.org/drawingml/2006/main">
            <a:r>
              <a:t>Current customer colour and type system: https://github.com/Discla1mer/NoFries/blob/813c7eea0176ed388d1a1944ce7e7b90278be50f/style.css</a:t>
            </a:r>
          </a:p>
          <a:p xmlns:a="http://schemas.openxmlformats.org/drawingml/2006/main">
            <a:r>
              <a:t>Original No Fries logo: https://github.com/Discla1mer/NoFries/blob/813c7eea0176ed388d1a1944ce7e7b90278be50f/images/nofrieslogo.png</a:t>
            </a:r>
          </a:p>
          <a:p xmlns:a="http://schemas.openxmlformats.org/drawingml/2006/main">
            <a:r>
              <a:t>Inter font: https://github.com/google/fonts/tree/main/ofl/inter (SIL Open Font License).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 five exact answer labels before the first question. Yes means the customer can support that the practice operates for the agreed scope. Partial means meaningful gaps remain in coverage or execution. No means the practice is absent. Unknown is a valid explicit answer and creates a need to find out. An unanswered item and an explicit Unknown are different completion states, even though both leave uncertainty.</a:t>
            </a:r>
          </a:p>
          <a:p xmlns:a="http://schemas.openxmlformats.org/drawingml/2006/main">
            <a:r>
              <a:t/>
            </a:r>
          </a:p>
          <a:p xmlns:a="http://schemas.openxmlformats.org/drawingml/2006/main">
            <a:r>
              <a:t>Not applicable requires a rationale in the questionnaire and remains a pending claim. The current submission adapter has no approved N/A decision registry, so do not describe a claim as an approved exclusion or say it removes the question from the calculation. A small business, cloud-only setup or outsourced IT does not automatically make a topic inapplicable. Review actual responsibilities and scope.</a:t>
            </a:r>
          </a:p>
          <a:p xmlns:a="http://schemas.openxmlformats.org/drawingml/2006/main">
            <a:r>
              <a:t/>
            </a:r>
          </a:p>
          <a:p xmlns:a="http://schemas.openxmlformats.org/drawingml/2006/main">
            <a:r>
              <a:t>The example answers later in this deck are fictional prompts for discussion. Ask customers to describe their situation in their own words. Confirm and save using the controls available in their session. Only acknowledged progress counts as saved. Avoid promising unsaved text will survive a refresh. General comments are being implemented separately and must not be presented as an available per-question field.</a:t>
            </a:r>
          </a:p>
          <a:p xmlns:a="http://schemas.openxmlformats.org/drawingml/2006/main">
            <a:r>
              <a:t/>
            </a:r>
          </a:p>
          <a:p xmlns:a="http://schemas.openxmlformats.org/drawingml/2006/main">
            <a:r>
              <a:t>Facilitator boundary: this is a concise No Fries implementation assessment. It does not assess every cumulative Minimum Standard requirement, establish CS-CMM attainment, certify compliance, provide an official NCSC score, or predict a breach. The customer chooses the answer. Examples are illustrative and must not pre-fill the customer’s response. Keep discussion within the agreed systems, services and date. If evidence is unavailable, record the follow-up in the workshop notes. Do not claim an evidence upload or persisted action-plan feature. Do not collect passwords, tokens, recovery codes or unnecessary personal data.</a:t>
            </a:r>
          </a:p>
          <a:p xmlns:a="http://schemas.openxmlformats.org/drawingml/2006/main">
            <a:r>
              <a:t/>
            </a:r>
          </a:p>
          <a:p xmlns:a="http://schemas.openxmlformats.org/drawingml/2006/main">
            <a:r>
              <a:t>https://github.com/Discla1mer/NoFries/blob/813c7eea0176ed388d1a1944ce7e7b90278be50f/docs/ncsc-questionnaire.md</a:t>
            </a:r>
          </a:p>
          <a:p xmlns:a="http://schemas.openxmlformats.org/drawingml/2006/main">
            <a:r>
              <a:t>https://github.com/Discla1mer/NoFries/blob/813c7eea0176ed388d1a1944ce7e7b90278be50f/docs/ncsc-results.md</a:t>
            </a:r>
          </a:p>
          <a:p xmlns:a="http://schemas.openxmlformats.org/drawingml/2006/main">
            <a:r>
              <a:t>Question catalogue and exact ordering: https://github.com/Discla1mer/NoFries/blob/813c7eea0176ed388d1a1944ce7e7b90278be50f/api/shared/securityGap/ncscProfile.js</a:t>
            </a:r>
          </a:p>
          <a:p xmlns:a="http://schemas.openxmlformats.org/drawingml/2006/main">
            <a:r>
              <a:t>Accepted profile and limitations: https://github.com/Discla1mer/NoFries/blob/813c7eea0176ed388d1a1944ce7e7b90278be50f/api/shared/assessmentEngine/ncscAcceptedFrameworkProfile.js</a:t>
            </a:r>
          </a:p>
          <a:p xmlns:a="http://schemas.openxmlformats.org/drawingml/2006/main">
            <a:r>
              <a:t>Question metadata projection: https://github.com/Discla1mer/NoFries/blob/813c7eea0176ed388d1a1944ce7e7b90278be50f/api/shared/ncscQuestionnaireMetadata.js</a:t>
            </a:r>
          </a:p>
          <a:p xmlns:a="http://schemas.openxmlformats.org/drawingml/2006/main">
            <a:r>
              <a:t>Current customer colour and type system: https://github.com/Discla1mer/NoFries/blob/813c7eea0176ed388d1a1944ce7e7b90278be50f/style.css</a:t>
            </a:r>
          </a:p>
          <a:p xmlns:a="http://schemas.openxmlformats.org/drawingml/2006/main">
            <a:r>
              <a:t>Original No Fries logo: https://github.com/Discla1mer/NoFries/blob/813c7eea0176ed388d1a1944ce7e7b90278be50f/images/nofrieslogo.png</a:t>
            </a:r>
          </a:p>
          <a:p xmlns:a="http://schemas.openxmlformats.org/drawingml/2006/main">
            <a:r>
              <a:t>Inter font: https://github.com/google/fonts/tree/main/ofl/inter (SIL Open Font License).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QUESTION 1 OF 14</a:t>
            </a:r>
          </a:p>
          <a:p xmlns:a="http://schemas.openxmlformats.org/drawingml/2006/main">
            <a:r>
              <a:t>ID: NF-NCSC-MCSS-RM-01-Q1</a:t>
            </a:r>
          </a:p>
          <a:p xmlns:a="http://schemas.openxmlformats.org/drawingml/2006/main">
            <a:r>
              <a:t>Function: Guide and Govern</a:t>
            </a:r>
          </a:p>
          <a:p xmlns:a="http://schemas.openxmlformats.org/drawingml/2006/main">
            <a:r>
              <a:t>Exact questionnaire prompt: Are cyber risks managed through a documented business risk process with tolerance, owners and regular review?</a:t>
            </a:r>
          </a:p>
          <a:p xmlns:a="http://schemas.openxmlformats.org/drawingml/2006/main">
            <a:r>
              <a:t/>
            </a:r>
          </a:p>
          <a:p xmlns:a="http://schemas.openxmlformats.org/drawingml/2006/main">
            <a:r>
              <a:t>PLAIN-LANGUAGE EXPLANATION</a:t>
            </a:r>
          </a:p>
          <a:p xmlns:a="http://schemas.openxmlformats.org/drawingml/2006/main">
            <a:r>
              <a:t>Cyber risks belong in the business risk process. Each needs an owner, an agreed tolerance and a review date.</a:t>
            </a:r>
          </a:p>
          <a:p xmlns:a="http://schemas.openxmlformats.org/drawingml/2006/main">
            <a:r>
              <a:t/>
            </a:r>
          </a:p>
          <a:p xmlns:a="http://schemas.openxmlformats.org/drawingml/2006/main">
            <a:r>
              <a:t>WHY IT MATTERS</a:t>
            </a:r>
          </a:p>
          <a:p xmlns:a="http://schemas.openxmlformats.org/drawingml/2006/main">
            <a:r>
              <a:t>Leaders can decide which risks to reduce, fund or accept.</a:t>
            </a:r>
          </a:p>
          <a:p xmlns:a="http://schemas.openxmlformats.org/drawingml/2006/main">
            <a:r>
              <a:t>Accepted catalogue intent: Make cyber risk visible alongside other business risks and connect treatment decisions to accountable owners.</a:t>
            </a:r>
          </a:p>
          <a:p xmlns:a="http://schemas.openxmlformats.org/drawingml/2006/main">
            <a:r>
              <a:t/>
            </a:r>
          </a:p>
          <a:p xmlns:a="http://schemas.openxmlformats.org/drawingml/2006/main">
            <a:r>
              <a:t>FACILITATION</a:t>
            </a:r>
          </a:p>
          <a:p xmlns:a="http://schemas.openxmlformats.org/drawingml/2006/main">
            <a:r>
              <a:t>Ask who owns cyber risk, where it appears in the business risk register, and which leader accepts remaining risk. Ask for a recent example of a treatment decision and the next review date. Explain tolerance as the level of disruption or loss the organisation is willing to accept, not a technical score.</a:t>
            </a:r>
          </a:p>
          <a:p xmlns:a="http://schemas.openxmlformats.org/drawingml/2006/main">
            <a:r>
              <a:t/>
            </a:r>
          </a:p>
          <a:p xmlns:a="http://schemas.openxmlformats.org/drawingml/2006/main">
            <a:r>
              <a:t>INTERPRETING THE ANSWER</a:t>
            </a:r>
          </a:p>
          <a:p xmlns:a="http://schemas.openxmlformats.org/drawingml/2006/main">
            <a:r>
              <a:t>A policy alone does not show that the process operates. Check that the register is current, owners can act, reviews happen, and decisions reflect business impact. Partial may fit an existing register with missing tolerance, ownership or review. Unknown is appropriate if the person in the room cannot establish how this works.</a:t>
            </a:r>
          </a:p>
          <a:p xmlns:a="http://schemas.openxmlformats.org/drawingml/2006/main">
            <a:r>
              <a:t>If the customer lacks enough information, use Unknown and agree who will check. If they claim Not applicable, ask for a scope-specific rationale and make clear that it remains pending review. Avoid choosing Yes simply because a product is installed or a provider is responsible.</a:t>
            </a:r>
          </a:p>
          <a:p xmlns:a="http://schemas.openxmlformats.org/drawingml/2006/main">
            <a:r>
              <a:t/>
            </a:r>
          </a:p>
          <a:p xmlns:a="http://schemas.openxmlformats.org/drawingml/2006/main">
            <a:r>
              <a:t>ILLUSTRATIVE ANSWER</a:t>
            </a:r>
          </a:p>
          <a:p xmlns:a="http://schemas.openxmlformats.org/drawingml/2006/main">
            <a:r>
              <a:t>Example answer: Partial: “We have a cyber risk register and owners. Leadership reviews it informally, but we haven’t agreed our tolerance.”</a:t>
            </a:r>
          </a:p>
          <a:p xmlns:a="http://schemas.openxmlformats.org/drawingml/2006/main">
            <a:r>
              <a:t>Ask what differs in this customer’s environment. Do not copy the example as their answer.</a:t>
            </a:r>
          </a:p>
          <a:p xmlns:a="http://schemas.openxmlformats.org/drawingml/2006/main">
            <a:r>
              <a:t/>
            </a:r>
          </a:p>
          <a:p xmlns:a="http://schemas.openxmlformats.org/drawingml/2006/main">
            <a:r>
              <a:t>EVIDENCE EXAMPLES</a:t>
            </a:r>
          </a:p>
          <a:p xmlns:a="http://schemas.openxmlformats.org/drawingml/2006/main">
            <a:r>
              <a:t>- Risk framework or policy</a:t>
            </a:r>
          </a:p>
          <a:p xmlns:a="http://schemas.openxmlformats.org/drawingml/2006/main">
            <a:r>
              <a:t>- Current cyber risk register</a:t>
            </a:r>
          </a:p>
          <a:p xmlns:a="http://schemas.openxmlformats.org/drawingml/2006/main">
            <a:r>
              <a:t>- Risk appetite or tolerance record</a:t>
            </a:r>
          </a:p>
          <a:p xmlns:a="http://schemas.openxmlformats.org/drawingml/2006/main">
            <a:r>
              <a:t>- Governance review minutes</a:t>
            </a:r>
          </a:p>
          <a:p xmlns:a="http://schemas.openxmlformats.org/drawingml/2006/main">
            <a:r>
              <a:t>Ask what the evidence covers, its date, the responsible owner and any exceptions. A document or screenshot supports the conversation but does not establish complete or independently tested coverage. Review evidence safely using the customer’s agreed process. Evidence examples do not imply an upload function.</a:t>
            </a:r>
          </a:p>
          <a:p xmlns:a="http://schemas.openxmlformats.org/drawingml/2006/main">
            <a:r>
              <a:t/>
            </a:r>
          </a:p>
          <a:p xmlns:a="http://schemas.openxmlformats.org/drawingml/2006/main">
            <a:r>
              <a:t>POSSIBLE NEXT STEP</a:t>
            </a:r>
          </a:p>
          <a:p xmlns:a="http://schemas.openxmlformats.org/drawingml/2006/main">
            <a:r>
              <a:t>Agree a business owner and record the most important risks, treatment decisions and review dates. Avoid turning the questionnaire result into a formal risk assessment.</a:t>
            </a:r>
          </a:p>
          <a:p xmlns:a="http://schemas.openxmlformats.org/drawingml/2006/main">
            <a:r>
              <a:t>Accepted starting action: Record the most important cyber risks in the business risk register with an owner, treatment and review date.</a:t>
            </a:r>
          </a:p>
          <a:p xmlns:a="http://schemas.openxmlformats.org/drawingml/2006/main">
            <a:r>
              <a:t>If a gap remains, agree a named owner, due date, evidence of completion and review date in the facilitated workshop record. Suggested actions follow catalogue order and are not a calculated risk ranking.</a:t>
            </a:r>
          </a:p>
          <a:p xmlns:a="http://schemas.openxmlformats.org/drawingml/2006/main">
            <a:r>
              <a:t/>
            </a:r>
          </a:p>
          <a:p xmlns:a="http://schemas.openxmlformats.org/drawingml/2006/main">
            <a:r>
              <a:t>Facilitator boundary: this is a concise No Fries implementation assessment. It does not assess every cumulative Minimum Standard requirement, establish CS-CMM attainment, certify compliance, provide an official NCSC score, or predict a breach. The customer chooses the answer. Examples are illustrative and must not pre-fill the customer’s response. Keep discussion within the agreed systems, services and date. If evidence is unavailable, record the follow-up in the workshop notes. Do not claim an evidence upload or persisted action-plan feature. Do not collect passwords, tokens, recovery codes or unnecessary personal data.</a:t>
            </a:r>
          </a:p>
          <a:p xmlns:a="http://schemas.openxmlformats.org/drawingml/2006/main">
            <a:r>
              <a:t/>
            </a:r>
          </a:p>
          <a:p xmlns:a="http://schemas.openxmlformats.org/drawingml/2006/main">
            <a:r>
              <a:t>SOURCE</a:t>
            </a:r>
          </a:p>
          <a:p xmlns:a="http://schemas.openxmlformats.org/drawingml/2006/main">
            <a:r>
              <a:t>Exact question, intent, evidence examples and starting action: https://github.com/Discla1mer/NoFries/blob/813c7eea0176ed388d1a1944ce7e7b90278be50f/api/shared/securityGap/ncscProfile.js</a:t>
            </a:r>
          </a:p>
          <a:p xmlns:a="http://schemas.openxmlformats.org/drawingml/2006/main">
            <a:r>
              <a:t>Relevant upstream guidance: https://www.ncsc.govt.nz/protect-your-organisation/risk-management/</a:t>
            </a:r>
          </a:p>
          <a:p xmlns:a="http://schemas.openxmlformats.org/drawingml/2006/main">
            <a:r>
              <a:t>Question catalogue and exact ordering: https://github.com/Discla1mer/NoFries/blob/813c7eea0176ed388d1a1944ce7e7b90278be50f/api/shared/securityGap/ncscProfile.js</a:t>
            </a:r>
          </a:p>
          <a:p xmlns:a="http://schemas.openxmlformats.org/drawingml/2006/main">
            <a:r>
              <a:t>Accepted profile and limitations: https://github.com/Discla1mer/NoFries/blob/813c7eea0176ed388d1a1944ce7e7b90278be50f/api/shared/assessmentEngine/ncscAcceptedFrameworkProfile.js</a:t>
            </a:r>
          </a:p>
          <a:p xmlns:a="http://schemas.openxmlformats.org/drawingml/2006/main">
            <a:r>
              <a:t>Question metadata projection: https://github.com/Discla1mer/NoFries/blob/813c7eea0176ed388d1a1944ce7e7b90278be50f/api/shared/ncscQuestionnaireMetadata.js</a:t>
            </a:r>
          </a:p>
          <a:p xmlns:a="http://schemas.openxmlformats.org/drawingml/2006/main">
            <a:r>
              <a:t>Current customer colour and type system: https://github.com/Discla1mer/NoFries/blob/813c7eea0176ed388d1a1944ce7e7b90278be50f/style.css</a:t>
            </a:r>
          </a:p>
          <a:p xmlns:a="http://schemas.openxmlformats.org/drawingml/2006/main">
            <a:r>
              <a:t>Original No Fries logo: https://github.com/Discla1mer/NoFries/blob/813c7eea0176ed388d1a1944ce7e7b90278be50f/images/nofrieslogo.png</a:t>
            </a:r>
          </a:p>
          <a:p xmlns:a="http://schemas.openxmlformats.org/drawingml/2006/main">
            <a:r>
              <a:t>Inter font: https://github.com/google/fonts/tree/main/ofl/inter (SIL Open Font License).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QUESTION 2 OF 14</a:t>
            </a:r>
          </a:p>
          <a:p xmlns:a="http://schemas.openxmlformats.org/drawingml/2006/main">
            <a:r>
              <a:t>ID: NF-NCSC-MCSS-SA-01-Q1</a:t>
            </a:r>
          </a:p>
          <a:p xmlns:a="http://schemas.openxmlformats.org/drawingml/2006/main">
            <a:r>
              <a:t>Function: Guide and Govern</a:t>
            </a:r>
          </a:p>
          <a:p xmlns:a="http://schemas.openxmlformats.org/drawingml/2006/main">
            <a:r>
              <a:t>Exact questionnaire prompt: Do people receive current, role-appropriate security guidance from onboarding onward, with results reported to leadership?</a:t>
            </a:r>
          </a:p>
          <a:p xmlns:a="http://schemas.openxmlformats.org/drawingml/2006/main">
            <a:r>
              <a:t/>
            </a:r>
          </a:p>
          <a:p xmlns:a="http://schemas.openxmlformats.org/drawingml/2006/main">
            <a:r>
              <a:t>PLAIN-LANGUAGE EXPLANATION</a:t>
            </a:r>
          </a:p>
          <a:p xmlns:a="http://schemas.openxmlformats.org/drawingml/2006/main">
            <a:r>
              <a:t>People get useful security guidance when they join and as their role changes. Leaders can see participation and results.</a:t>
            </a:r>
          </a:p>
          <a:p xmlns:a="http://schemas.openxmlformats.org/drawingml/2006/main">
            <a:r>
              <a:t/>
            </a:r>
          </a:p>
          <a:p xmlns:a="http://schemas.openxmlformats.org/drawingml/2006/main">
            <a:r>
              <a:t>WHY IT MATTERS</a:t>
            </a:r>
          </a:p>
          <a:p xmlns:a="http://schemas.openxmlformats.org/drawingml/2006/main">
            <a:r>
              <a:t>People need to recognise suspicious requests and know how to report them.</a:t>
            </a:r>
          </a:p>
          <a:p xmlns:a="http://schemas.openxmlformats.org/drawingml/2006/main">
            <a:r>
              <a:t>Accepted catalogue intent: Give people practical knowledge and a safe reporting path so routine behaviour reduces human-targeted risk.</a:t>
            </a:r>
          </a:p>
          <a:p xmlns:a="http://schemas.openxmlformats.org/drawingml/2006/main">
            <a:r>
              <a:t/>
            </a:r>
          </a:p>
          <a:p xmlns:a="http://schemas.openxmlformats.org/drawingml/2006/main">
            <a:r>
              <a:t>FACILITATION</a:t>
            </a:r>
          </a:p>
          <a:p xmlns:a="http://schemas.openxmlformats.org/drawingml/2006/main">
            <a:r>
              <a:t>Ask how new starters learn to report a suspicious email, handle data and use authentication safely. Ask how finance, administrators and other exposed roles receive guidance relevant to their work. Ask what leadership sees beyond a list of course completions.</a:t>
            </a:r>
          </a:p>
          <a:p xmlns:a="http://schemas.openxmlformats.org/drawingml/2006/main">
            <a:r>
              <a:t/>
            </a:r>
          </a:p>
          <a:p xmlns:a="http://schemas.openxmlformats.org/drawingml/2006/main">
            <a:r>
              <a:t>INTERPRETING THE ANSWER</a:t>
            </a:r>
          </a:p>
          <a:p xmlns:a="http://schemas.openxmlformats.org/drawingml/2006/main">
            <a:r>
              <a:t>Training completion can support an answer, but it does not prove that staff can recognise and report a real threat. Discuss practical exercises, reporting confidence and how lessons change guidance. A single annual slide deck may leave gaps in role coverage or onboarding.</a:t>
            </a:r>
          </a:p>
          <a:p xmlns:a="http://schemas.openxmlformats.org/drawingml/2006/main">
            <a:r>
              <a:t>If the customer lacks enough information, use Unknown and agree who will check. If they claim Not applicable, ask for a scope-specific rationale and make clear that it remains pending review. Avoid choosing Yes simply because a product is installed or a provider is responsible.</a:t>
            </a:r>
          </a:p>
          <a:p xmlns:a="http://schemas.openxmlformats.org/drawingml/2006/main">
            <a:r>
              <a:t/>
            </a:r>
          </a:p>
          <a:p xmlns:a="http://schemas.openxmlformats.org/drawingml/2006/main">
            <a:r>
              <a:t>ILLUSTRATIVE ANSWER</a:t>
            </a:r>
          </a:p>
          <a:p xmlns:a="http://schemas.openxmlformats.org/drawingml/2006/main">
            <a:r>
              <a:t>Example answer: Partial: “New starters get security guidance. We haven’t refreshed it for existing staff or reported exercise results to leadership.”</a:t>
            </a:r>
          </a:p>
          <a:p xmlns:a="http://schemas.openxmlformats.org/drawingml/2006/main">
            <a:r>
              <a:t>Ask what differs in this customer’s environment. Do not copy the example as their answer.</a:t>
            </a:r>
          </a:p>
          <a:p xmlns:a="http://schemas.openxmlformats.org/drawingml/2006/main">
            <a:r>
              <a:t/>
            </a:r>
          </a:p>
          <a:p xmlns:a="http://schemas.openxmlformats.org/drawingml/2006/main">
            <a:r>
              <a:t>EVIDENCE EXAMPLES</a:t>
            </a:r>
          </a:p>
          <a:p xmlns:a="http://schemas.openxmlformats.org/drawingml/2006/main">
            <a:r>
              <a:t>- Training programme</a:t>
            </a:r>
          </a:p>
          <a:p xmlns:a="http://schemas.openxmlformats.org/drawingml/2006/main">
            <a:r>
              <a:t>- Onboarding material</a:t>
            </a:r>
          </a:p>
          <a:p xmlns:a="http://schemas.openxmlformats.org/drawingml/2006/main">
            <a:r>
              <a:t>- Completion records</a:t>
            </a:r>
          </a:p>
          <a:p xmlns:a="http://schemas.openxmlformats.org/drawingml/2006/main">
            <a:r>
              <a:t>- Phishing or reporting exercise results</a:t>
            </a:r>
          </a:p>
          <a:p xmlns:a="http://schemas.openxmlformats.org/drawingml/2006/main">
            <a:r>
              <a:t>Ask what the evidence covers, its date, the responsible owner and any exceptions. A document or screenshot supports the conversation but does not establish complete or independently tested coverage. Review evidence safely using the customer’s agreed process. Evidence examples do not imply an upload function.</a:t>
            </a:r>
          </a:p>
          <a:p xmlns:a="http://schemas.openxmlformats.org/drawingml/2006/main">
            <a:r>
              <a:t/>
            </a:r>
          </a:p>
          <a:p xmlns:a="http://schemas.openxmlformats.org/drawingml/2006/main">
            <a:r>
              <a:t>POSSIBLE NEXT STEP</a:t>
            </a:r>
          </a:p>
          <a:p xmlns:a="http://schemas.openxmlformats.org/drawingml/2006/main">
            <a:r>
              <a:t>Name the training owner, address uncovered roles and schedule a short reporting exercise. Discuss learning without blaming staff or treating a phishing result as a performance verdict.</a:t>
            </a:r>
          </a:p>
          <a:p xmlns:a="http://schemas.openxmlformats.org/drawingml/2006/main">
            <a:r>
              <a:t>Accepted starting action: Add short onboarding and recurring guidance for suspicious messages, password use, data handling and incident reporting.</a:t>
            </a:r>
          </a:p>
          <a:p xmlns:a="http://schemas.openxmlformats.org/drawingml/2006/main">
            <a:r>
              <a:t>If a gap remains, agree a named owner, due date, evidence of completion and review date in the facilitated workshop record. Suggested actions follow catalogue order and are not a calculated risk ranking.</a:t>
            </a:r>
          </a:p>
          <a:p xmlns:a="http://schemas.openxmlformats.org/drawingml/2006/main">
            <a:r>
              <a:t/>
            </a:r>
          </a:p>
          <a:p xmlns:a="http://schemas.openxmlformats.org/drawingml/2006/main">
            <a:r>
              <a:t>Facilitator boundary: this is a concise No Fries implementation assessment. It does not assess every cumulative Minimum Standard requirement, establish CS-CMM attainment, certify compliance, provide an official NCSC score, or predict a breach. The customer chooses the answer. Examples are illustrative and must not pre-fill the customer’s response. Keep discussion within the agreed systems, services and date. If evidence is unavailable, record the follow-up in the workshop notes. Do not claim an evidence upload or persisted action-plan feature. Do not collect passwords, tokens, recovery codes or unnecessary personal data.</a:t>
            </a:r>
          </a:p>
          <a:p xmlns:a="http://schemas.openxmlformats.org/drawingml/2006/main">
            <a:r>
              <a:t/>
            </a:r>
          </a:p>
          <a:p xmlns:a="http://schemas.openxmlformats.org/drawingml/2006/main">
            <a:r>
              <a:t>SOURCE</a:t>
            </a:r>
          </a:p>
          <a:p xmlns:a="http://schemas.openxmlformats.org/drawingml/2006/main">
            <a:r>
              <a:t>Exact question, intent, evidence examples and starting action: https://github.com/Discla1mer/NoFries/blob/813c7eea0176ed388d1a1944ce7e7b90278be50f/api/shared/securityGap/ncscProfile.js</a:t>
            </a:r>
          </a:p>
          <a:p xmlns:a="http://schemas.openxmlformats.org/drawingml/2006/main">
            <a:r>
              <a:t>Relevant upstream guidance: https://www.ncsc.govt.nz/protect-your-organisation/security-awareness/</a:t>
            </a:r>
          </a:p>
          <a:p xmlns:a="http://schemas.openxmlformats.org/drawingml/2006/main">
            <a:r>
              <a:t>Question catalogue and exact ordering: https://github.com/Discla1mer/NoFries/blob/813c7eea0176ed388d1a1944ce7e7b90278be50f/api/shared/securityGap/ncscProfile.js</a:t>
            </a:r>
          </a:p>
          <a:p xmlns:a="http://schemas.openxmlformats.org/drawingml/2006/main">
            <a:r>
              <a:t>Accepted profile and limitations: https://github.com/Discla1mer/NoFries/blob/813c7eea0176ed388d1a1944ce7e7b90278be50f/api/shared/assessmentEngine/ncscAcceptedFrameworkProfile.js</a:t>
            </a:r>
          </a:p>
          <a:p xmlns:a="http://schemas.openxmlformats.org/drawingml/2006/main">
            <a:r>
              <a:t>Question metadata projection: https://github.com/Discla1mer/NoFries/blob/813c7eea0176ed388d1a1944ce7e7b90278be50f/api/shared/ncscQuestionnaireMetadata.js</a:t>
            </a:r>
          </a:p>
          <a:p xmlns:a="http://schemas.openxmlformats.org/drawingml/2006/main">
            <a:r>
              <a:t>Current customer colour and type system: https://github.com/Discla1mer/NoFries/blob/813c7eea0176ed388d1a1944ce7e7b90278be50f/style.css</a:t>
            </a:r>
          </a:p>
          <a:p xmlns:a="http://schemas.openxmlformats.org/drawingml/2006/main">
            <a:r>
              <a:t>Original No Fries logo: https://github.com/Discla1mer/NoFries/blob/813c7eea0176ed388d1a1944ce7e7b90278be50f/images/nofrieslogo.png</a:t>
            </a:r>
          </a:p>
          <a:p xmlns:a="http://schemas.openxmlformats.org/drawingml/2006/main">
            <a:r>
              <a:t>Inter font: https://github.com/google/fonts/tree/main/ofl/inter (SIL Open Font License).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QUESTION 3 OF 14</a:t>
            </a:r>
          </a:p>
          <a:p xmlns:a="http://schemas.openxmlformats.org/drawingml/2006/main">
            <a:r>
              <a:t>ID: NF-NCSC-MCSS-AI-01-Q1</a:t>
            </a:r>
          </a:p>
          <a:p xmlns:a="http://schemas.openxmlformats.org/drawingml/2006/main">
            <a:r>
              <a:t>Function: Identify and Understand</a:t>
            </a:r>
          </a:p>
          <a:p xmlns:a="http://schemas.openxmlformats.org/drawingml/2006/main">
            <a:r>
              <a:t>Exact questionnaire prompt: Is there a current inventory of important hardware, software, cloud services and data with owners and lifecycle status?</a:t>
            </a:r>
          </a:p>
          <a:p xmlns:a="http://schemas.openxmlformats.org/drawingml/2006/main">
            <a:r>
              <a:t/>
            </a:r>
          </a:p>
          <a:p xmlns:a="http://schemas.openxmlformats.org/drawingml/2006/main">
            <a:r>
              <a:t>PLAIN-LANGUAGE EXPLANATION</a:t>
            </a:r>
          </a:p>
          <a:p xmlns:a="http://schemas.openxmlformats.org/drawingml/2006/main">
            <a:r>
              <a:t>One current list identifies important devices, software, cloud services and data, including who owns them and support dates.</a:t>
            </a:r>
          </a:p>
          <a:p xmlns:a="http://schemas.openxmlformats.org/drawingml/2006/main">
            <a:r>
              <a:t/>
            </a:r>
          </a:p>
          <a:p xmlns:a="http://schemas.openxmlformats.org/drawingml/2006/main">
            <a:r>
              <a:t>WHY IT MATTERS</a:t>
            </a:r>
          </a:p>
          <a:p xmlns:a="http://schemas.openxmlformats.org/drawingml/2006/main">
            <a:r>
              <a:t>You can protect and replace important systems only when you know they exist.</a:t>
            </a:r>
          </a:p>
          <a:p xmlns:a="http://schemas.openxmlformats.org/drawingml/2006/main">
            <a:r>
              <a:t>Accepted catalogue intent: Know what must be protected, who owns it and when it becomes unsupported or should be retired.</a:t>
            </a:r>
          </a:p>
          <a:p xmlns:a="http://schemas.openxmlformats.org/drawingml/2006/main">
            <a:r>
              <a:t/>
            </a:r>
          </a:p>
          <a:p xmlns:a="http://schemas.openxmlformats.org/drawingml/2006/main">
            <a:r>
              <a:t>FACILITATION</a:t>
            </a:r>
          </a:p>
          <a:p xmlns:a="http://schemas.openxmlformats.org/drawingml/2006/main">
            <a:r>
              <a:t>Ask where the inventory lives and who keeps it current. Include cloud subscriptions, finance systems, remote access, customer-facing services, important datasets and key suppliers. Ask how new systems enter the inventory and how retired systems leave it.</a:t>
            </a:r>
          </a:p>
          <a:p xmlns:a="http://schemas.openxmlformats.org/drawingml/2006/main">
            <a:r>
              <a:t/>
            </a:r>
          </a:p>
          <a:p xmlns:a="http://schemas.openxmlformats.org/drawingml/2006/main">
            <a:r>
              <a:t>INTERPRETING THE ANSWER</a:t>
            </a:r>
          </a:p>
          <a:p xmlns:a="http://schemas.openxmlformats.org/drawingml/2006/main">
            <a:r>
              <a:t>A laptop spreadsheet covers only part of the prompt. Explore software, SaaS, data, business importance, ownership and lifecycle status. If a managed provider has the list, confirm that it covers the declared scope and that the customer can obtain it.</a:t>
            </a:r>
          </a:p>
          <a:p xmlns:a="http://schemas.openxmlformats.org/drawingml/2006/main">
            <a:r>
              <a:t>If the customer lacks enough information, use Unknown and agree who will check. If they claim Not applicable, ask for a scope-specific rationale and make clear that it remains pending review. Avoid choosing Yes simply because a product is installed or a provider is responsible.</a:t>
            </a:r>
          </a:p>
          <a:p xmlns:a="http://schemas.openxmlformats.org/drawingml/2006/main">
            <a:r>
              <a:t/>
            </a:r>
          </a:p>
          <a:p xmlns:a="http://schemas.openxmlformats.org/drawingml/2006/main">
            <a:r>
              <a:t>ILLUSTRATIVE ANSWER</a:t>
            </a:r>
          </a:p>
          <a:p xmlns:a="http://schemas.openxmlformats.org/drawingml/2006/main">
            <a:r>
              <a:t>Example answer: Partial: “Our laptop list is current. We still need to add cloud services, important data owners and end-of-support dates.”</a:t>
            </a:r>
          </a:p>
          <a:p xmlns:a="http://schemas.openxmlformats.org/drawingml/2006/main">
            <a:r>
              <a:t>Ask what differs in this customer’s environment. Do not copy the example as their answer.</a:t>
            </a:r>
          </a:p>
          <a:p xmlns:a="http://schemas.openxmlformats.org/drawingml/2006/main">
            <a:r>
              <a:t/>
            </a:r>
          </a:p>
          <a:p xmlns:a="http://schemas.openxmlformats.org/drawingml/2006/main">
            <a:r>
              <a:t>EVIDENCE EXAMPLES</a:t>
            </a:r>
          </a:p>
          <a:p xmlns:a="http://schemas.openxmlformats.org/drawingml/2006/main">
            <a:r>
              <a:t>- Hardware and software inventory</a:t>
            </a:r>
          </a:p>
          <a:p xmlns:a="http://schemas.openxmlformats.org/drawingml/2006/main">
            <a:r>
              <a:t>- Cloud and SaaS register</a:t>
            </a:r>
          </a:p>
          <a:p xmlns:a="http://schemas.openxmlformats.org/drawingml/2006/main">
            <a:r>
              <a:t>- Data classification record</a:t>
            </a:r>
          </a:p>
          <a:p xmlns:a="http://schemas.openxmlformats.org/drawingml/2006/main">
            <a:r>
              <a:t>- End-of-support register</a:t>
            </a:r>
          </a:p>
          <a:p xmlns:a="http://schemas.openxmlformats.org/drawingml/2006/main">
            <a:r>
              <a:t>Ask what the evidence covers, its date, the responsible owner and any exceptions. A document or screenshot supports the conversation but does not establish complete or independently tested coverage. Review evidence safely using the customer’s agreed process. Evidence examples do not imply an upload function.</a:t>
            </a:r>
          </a:p>
          <a:p xmlns:a="http://schemas.openxmlformats.org/drawingml/2006/main">
            <a:r>
              <a:t/>
            </a:r>
          </a:p>
          <a:p xmlns:a="http://schemas.openxmlformats.org/drawingml/2006/main">
            <a:r>
              <a:t>POSSIBLE NEXT STEP</a:t>
            </a:r>
          </a:p>
          <a:p xmlns:a="http://schemas.openxmlformats.org/drawingml/2006/main">
            <a:r>
              <a:t>Begin with critical and internet-facing services. Assign an owner to fill inventory gaps and identify unsupported systems for replacement or other treatment.</a:t>
            </a:r>
          </a:p>
          <a:p xmlns:a="http://schemas.openxmlformats.org/drawingml/2006/main">
            <a:r>
              <a:t>Accepted starting action: Create one list of critical and externally facing systems, their owners, suppliers, data and support dates.</a:t>
            </a:r>
          </a:p>
          <a:p xmlns:a="http://schemas.openxmlformats.org/drawingml/2006/main">
            <a:r>
              <a:t>If a gap remains, agree a named owner, due date, evidence of completion and review date in the facilitated workshop record. Suggested actions follow catalogue order and are not a calculated risk ranking.</a:t>
            </a:r>
          </a:p>
          <a:p xmlns:a="http://schemas.openxmlformats.org/drawingml/2006/main">
            <a:r>
              <a:t/>
            </a:r>
          </a:p>
          <a:p xmlns:a="http://schemas.openxmlformats.org/drawingml/2006/main">
            <a:r>
              <a:t>Facilitator boundary: this is a concise No Fries implementation assessment. It does not assess every cumulative Minimum Standard requirement, establish CS-CMM attainment, certify compliance, provide an official NCSC score, or predict a breach. The customer chooses the answer. Examples are illustrative and must not pre-fill the customer’s response. Keep discussion within the agreed systems, services and date. If evidence is unavailable, record the follow-up in the workshop notes. Do not claim an evidence upload or persisted action-plan feature. Do not collect passwords, tokens, recovery codes or unnecessary personal data.</a:t>
            </a:r>
          </a:p>
          <a:p xmlns:a="http://schemas.openxmlformats.org/drawingml/2006/main">
            <a:r>
              <a:t/>
            </a:r>
          </a:p>
          <a:p xmlns:a="http://schemas.openxmlformats.org/drawingml/2006/main">
            <a:r>
              <a:t>SOURCE</a:t>
            </a:r>
          </a:p>
          <a:p xmlns:a="http://schemas.openxmlformats.org/drawingml/2006/main">
            <a:r>
              <a:t>Exact question, intent, evidence examples and starting action: https://github.com/Discla1mer/NoFries/blob/813c7eea0176ed388d1a1944ce7e7b90278be50f/api/shared/securityGap/ncscProfile.js</a:t>
            </a:r>
          </a:p>
          <a:p xmlns:a="http://schemas.openxmlformats.org/drawingml/2006/main">
            <a:r>
              <a:t>Relevant upstream guidance: https://www.ncsc.govt.nz/protect-your-organisation/assets-and-their-importance/</a:t>
            </a:r>
          </a:p>
          <a:p xmlns:a="http://schemas.openxmlformats.org/drawingml/2006/main">
            <a:r>
              <a:t>Question catalogue and exact ordering: https://github.com/Discla1mer/NoFries/blob/813c7eea0176ed388d1a1944ce7e7b90278be50f/api/shared/securityGap/ncscProfile.js</a:t>
            </a:r>
          </a:p>
          <a:p xmlns:a="http://schemas.openxmlformats.org/drawingml/2006/main">
            <a:r>
              <a:t>Accepted profile and limitations: https://github.com/Discla1mer/NoFries/blob/813c7eea0176ed388d1a1944ce7e7b90278be50f/api/shared/assessmentEngine/ncscAcceptedFrameworkProfile.js</a:t>
            </a:r>
          </a:p>
          <a:p xmlns:a="http://schemas.openxmlformats.org/drawingml/2006/main">
            <a:r>
              <a:t>Question metadata projection: https://github.com/Discla1mer/NoFries/blob/813c7eea0176ed388d1a1944ce7e7b90278be50f/api/shared/ncscQuestionnaireMetadata.js</a:t>
            </a:r>
          </a:p>
          <a:p xmlns:a="http://schemas.openxmlformats.org/drawingml/2006/main">
            <a:r>
              <a:t>Current customer colour and type system: https://github.com/Discla1mer/NoFries/blob/813c7eea0176ed388d1a1944ce7e7b90278be50f/style.css</a:t>
            </a:r>
          </a:p>
          <a:p xmlns:a="http://schemas.openxmlformats.org/drawingml/2006/main">
            <a:r>
              <a:t>Original No Fries logo: https://github.com/Discla1mer/NoFries/blob/813c7eea0176ed388d1a1944ce7e7b90278be50f/images/nofrieslogo.png</a:t>
            </a:r>
          </a:p>
          <a:p xmlns:a="http://schemas.openxmlformats.org/drawingml/2006/main">
            <a:r>
              <a:t>Inter font: https://github.com/google/fonts/tree/main/ofl/inter (SIL Open Font License).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QUESTION 4 OF 14</a:t>
            </a:r>
          </a:p>
          <a:p xmlns:a="http://schemas.openxmlformats.org/drawingml/2006/main">
            <a:r>
              <a:t>ID: NF-NCSC-MCSS-SC-01-Q1</a:t>
            </a:r>
          </a:p>
          <a:p xmlns:a="http://schemas.openxmlformats.org/drawingml/2006/main">
            <a:r>
              <a:t>Function: Prevent and Protect</a:t>
            </a:r>
          </a:p>
          <a:p xmlns:a="http://schemas.openxmlformats.org/drawingml/2006/main">
            <a:r>
              <a:t>Exact questionnaire prompt: Are secure configuration baselines applied to new and existing systems, with exceptions reviewed when software changes?</a:t>
            </a:r>
          </a:p>
          <a:p xmlns:a="http://schemas.openxmlformats.org/drawingml/2006/main">
            <a:r>
              <a:t/>
            </a:r>
          </a:p>
          <a:p xmlns:a="http://schemas.openxmlformats.org/drawingml/2006/main">
            <a:r>
              <a:t>PLAIN-LANGUAGE EXPLANATION</a:t>
            </a:r>
          </a:p>
          <a:p xmlns:a="http://schemas.openxmlformats.org/drawingml/2006/main">
            <a:r>
              <a:t>Systems use agreed secure settings. The team checks changes and keeps a record of exceptions.</a:t>
            </a:r>
          </a:p>
          <a:p xmlns:a="http://schemas.openxmlformats.org/drawingml/2006/main">
            <a:r>
              <a:t/>
            </a:r>
          </a:p>
          <a:p xmlns:a="http://schemas.openxmlformats.org/drawingml/2006/main">
            <a:r>
              <a:t>WHY IT MATTERS</a:t>
            </a:r>
          </a:p>
          <a:p xmlns:a="http://schemas.openxmlformats.org/drawingml/2006/main">
            <a:r>
              <a:t>Default settings and unnoticed changes can create avoidable exposure.</a:t>
            </a:r>
          </a:p>
          <a:p xmlns:a="http://schemas.openxmlformats.org/drawingml/2006/main">
            <a:r>
              <a:t>Accepted catalogue intent: Reduce avoidable exposure by using repeatable secure settings and keeping configuration drift visible.</a:t>
            </a:r>
          </a:p>
          <a:p xmlns:a="http://schemas.openxmlformats.org/drawingml/2006/main">
            <a:r>
              <a:t/>
            </a:r>
          </a:p>
          <a:p xmlns:a="http://schemas.openxmlformats.org/drawingml/2006/main">
            <a:r>
              <a:t>FACILITATION</a:t>
            </a:r>
          </a:p>
          <a:p xmlns:a="http://schemas.openxmlformats.org/drawingml/2006/main">
            <a:r>
              <a:t>Ask which secure settings the organisation expects for endpoints, identity, email, browsers and important cloud services. Ask how the team applies them to existing systems, detects drift and approves exceptions. Request a recent example of a configuration change.</a:t>
            </a:r>
          </a:p>
          <a:p xmlns:a="http://schemas.openxmlformats.org/drawingml/2006/main">
            <a:r>
              <a:t/>
            </a:r>
          </a:p>
          <a:p xmlns:a="http://schemas.openxmlformats.org/drawingml/2006/main">
            <a:r>
              <a:t>INTERPRETING THE ANSWER</a:t>
            </a:r>
          </a:p>
          <a:p xmlns:a="http://schemas.openxmlformats.org/drawingml/2006/main">
            <a:r>
              <a:t>An intended baseline and a live policy export answer different questions. Compare the written standard with actual coverage and exception handling. Managed devices alone do not establish secure configuration for every service in scope.</a:t>
            </a:r>
          </a:p>
          <a:p xmlns:a="http://schemas.openxmlformats.org/drawingml/2006/main">
            <a:r>
              <a:t>If the customer lacks enough information, use Unknown and agree who will check. If they claim Not applicable, ask for a scope-specific rationale and make clear that it remains pending review. Avoid choosing Yes simply because a product is installed or a provider is responsible.</a:t>
            </a:r>
          </a:p>
          <a:p xmlns:a="http://schemas.openxmlformats.org/drawingml/2006/main">
            <a:r>
              <a:t/>
            </a:r>
          </a:p>
          <a:p xmlns:a="http://schemas.openxmlformats.org/drawingml/2006/main">
            <a:r>
              <a:t>ILLUSTRATIVE ANSWER</a:t>
            </a:r>
          </a:p>
          <a:p xmlns:a="http://schemas.openxmlformats.org/drawingml/2006/main">
            <a:r>
              <a:t>Example answer: Partial: “We apply a standard setup to new laptops. Older devices and cloud settings haven’t had the same review.”</a:t>
            </a:r>
          </a:p>
          <a:p xmlns:a="http://schemas.openxmlformats.org/drawingml/2006/main">
            <a:r>
              <a:t>Ask what differs in this customer’s environment. Do not copy the example as their answer.</a:t>
            </a:r>
          </a:p>
          <a:p xmlns:a="http://schemas.openxmlformats.org/drawingml/2006/main">
            <a:r>
              <a:t/>
            </a:r>
          </a:p>
          <a:p xmlns:a="http://schemas.openxmlformats.org/drawingml/2006/main">
            <a:r>
              <a:t>EVIDENCE EXAMPLES</a:t>
            </a:r>
          </a:p>
          <a:p xmlns:a="http://schemas.openxmlformats.org/drawingml/2006/main">
            <a:r>
              <a:t>- Configuration baseline</a:t>
            </a:r>
          </a:p>
          <a:p xmlns:a="http://schemas.openxmlformats.org/drawingml/2006/main">
            <a:r>
              <a:t>- Device or tenant policy export</a:t>
            </a:r>
          </a:p>
          <a:p xmlns:a="http://schemas.openxmlformats.org/drawingml/2006/main">
            <a:r>
              <a:t>- Exception register</a:t>
            </a:r>
          </a:p>
          <a:p xmlns:a="http://schemas.openxmlformats.org/drawingml/2006/main">
            <a:r>
              <a:t>- Configuration review record</a:t>
            </a:r>
          </a:p>
          <a:p xmlns:a="http://schemas.openxmlformats.org/drawingml/2006/main">
            <a:r>
              <a:t>Ask what the evidence covers, its date, the responsible owner and any exceptions. A document or screenshot supports the conversation but does not establish complete or independently tested coverage. Review evidence safely using the customer’s agreed process. Evidence examples do not imply an upload function.</a:t>
            </a:r>
          </a:p>
          <a:p xmlns:a="http://schemas.openxmlformats.org/drawingml/2006/main">
            <a:r>
              <a:t/>
            </a:r>
          </a:p>
          <a:p xmlns:a="http://schemas.openxmlformats.org/drawingml/2006/main">
            <a:r>
              <a:t>POSSIBLE NEXT STEP</a:t>
            </a:r>
          </a:p>
          <a:p xmlns:a="http://schemas.openxmlformats.org/drawingml/2006/main">
            <a:r>
              <a:t>Document a minimum baseline for important systems, compare current coverage, and assign owners to gaps and exceptions. Treat sample evidence as a sample rather than proof of complete coverage.</a:t>
            </a:r>
          </a:p>
          <a:p xmlns:a="http://schemas.openxmlformats.org/drawingml/2006/main">
            <a:r>
              <a:t>Accepted starting action: Document a minimum configuration baseline for identity, endpoints, browsers, email and key cloud services.</a:t>
            </a:r>
          </a:p>
          <a:p xmlns:a="http://schemas.openxmlformats.org/drawingml/2006/main">
            <a:r>
              <a:t>If a gap remains, agree a named owner, due date, evidence of completion and review date in the facilitated workshop record. Suggested actions follow catalogue order and are not a calculated risk ranking.</a:t>
            </a:r>
          </a:p>
          <a:p xmlns:a="http://schemas.openxmlformats.org/drawingml/2006/main">
            <a:r>
              <a:t/>
            </a:r>
          </a:p>
          <a:p xmlns:a="http://schemas.openxmlformats.org/drawingml/2006/main">
            <a:r>
              <a:t>Facilitator boundary: this is a concise No Fries implementation assessment. It does not assess every cumulative Minimum Standard requirement, establish CS-CMM attainment, certify compliance, provide an official NCSC score, or predict a breach. The customer chooses the answer. Examples are illustrative and must not pre-fill the customer’s response. Keep discussion within the agreed systems, services and date. If evidence is unavailable, record the follow-up in the workshop notes. Do not claim an evidence upload or persisted action-plan feature. Do not collect passwords, tokens, recovery codes or unnecessary personal data.</a:t>
            </a:r>
          </a:p>
          <a:p xmlns:a="http://schemas.openxmlformats.org/drawingml/2006/main">
            <a:r>
              <a:t/>
            </a:r>
          </a:p>
          <a:p xmlns:a="http://schemas.openxmlformats.org/drawingml/2006/main">
            <a:r>
              <a:t>SOURCE</a:t>
            </a:r>
          </a:p>
          <a:p xmlns:a="http://schemas.openxmlformats.org/drawingml/2006/main">
            <a:r>
              <a:t>Exact question, intent, evidence examples and starting action: https://github.com/Discla1mer/NoFries/blob/813c7eea0176ed388d1a1944ce7e7b90278be50f/api/shared/securityGap/ncscProfile.js</a:t>
            </a:r>
          </a:p>
          <a:p xmlns:a="http://schemas.openxmlformats.org/drawingml/2006/main">
            <a:r>
              <a:t>Relevant upstream guidance: https://www.ncsc.govt.nz/protect-your-organisation/secure-configuration-of-software/</a:t>
            </a:r>
          </a:p>
          <a:p xmlns:a="http://schemas.openxmlformats.org/drawingml/2006/main">
            <a:r>
              <a:t>Question catalogue and exact ordering: https://github.com/Discla1mer/NoFries/blob/813c7eea0176ed388d1a1944ce7e7b90278be50f/api/shared/securityGap/ncscProfile.js</a:t>
            </a:r>
          </a:p>
          <a:p xmlns:a="http://schemas.openxmlformats.org/drawingml/2006/main">
            <a:r>
              <a:t>Accepted profile and limitations: https://github.com/Discla1mer/NoFries/blob/813c7eea0176ed388d1a1944ce7e7b90278be50f/api/shared/assessmentEngine/ncscAcceptedFrameworkProfile.js</a:t>
            </a:r>
          </a:p>
          <a:p xmlns:a="http://schemas.openxmlformats.org/drawingml/2006/main">
            <a:r>
              <a:t>Question metadata projection: https://github.com/Discla1mer/NoFries/blob/813c7eea0176ed388d1a1944ce7e7b90278be50f/api/shared/ncscQuestionnaireMetadata.js</a:t>
            </a:r>
          </a:p>
          <a:p xmlns:a="http://schemas.openxmlformats.org/drawingml/2006/main">
            <a:r>
              <a:t>Current customer colour and type system: https://github.com/Discla1mer/NoFries/blob/813c7eea0176ed388d1a1944ce7e7b90278be50f/style.css</a:t>
            </a:r>
          </a:p>
          <a:p xmlns:a="http://schemas.openxmlformats.org/drawingml/2006/main">
            <a:r>
              <a:t>Original No Fries logo: https://github.com/Discla1mer/NoFries/blob/813c7eea0176ed388d1a1944ce7e7b90278be50f/images/nofrieslogo.png</a:t>
            </a:r>
          </a:p>
          <a:p xmlns:a="http://schemas.openxmlformats.org/drawingml/2006/main">
            <a:r>
              <a:t>Inter font: https://github.com/google/fonts/tree/main/ofl/inter (SIL Open Font License).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QUESTION 5 OF 14</a:t>
            </a:r>
          </a:p>
          <a:p xmlns:a="http://schemas.openxmlformats.org/drawingml/2006/main">
            <a:r>
              <a:t>ID: NF-NCSC-MCSS-PA-01-Q1</a:t>
            </a:r>
          </a:p>
          <a:p xmlns:a="http://schemas.openxmlformats.org/drawingml/2006/main">
            <a:r>
              <a:t>Function: Prevent and Protect</a:t>
            </a:r>
          </a:p>
          <a:p xmlns:a="http://schemas.openxmlformats.org/drawingml/2006/main">
            <a:r>
              <a:t>Exact questionnaire prompt: Are patches prioritised, sourced, tested, deployed and verified through a repeatable process that includes rollback and retirement?</a:t>
            </a:r>
          </a:p>
          <a:p xmlns:a="http://schemas.openxmlformats.org/drawingml/2006/main">
            <a:r>
              <a:t/>
            </a:r>
          </a:p>
          <a:p xmlns:a="http://schemas.openxmlformats.org/drawingml/2006/main">
            <a:r>
              <a:t>PLAIN-LANGUAGE EXPLANATION</a:t>
            </a:r>
          </a:p>
          <a:p xmlns:a="http://schemas.openxmlformats.org/drawingml/2006/main">
            <a:r>
              <a:t>Patches follow a repeatable process, with priorities, checks, a way to undo problems and a plan for unsupported systems.</a:t>
            </a:r>
          </a:p>
          <a:p xmlns:a="http://schemas.openxmlformats.org/drawingml/2006/main">
            <a:r>
              <a:t/>
            </a:r>
          </a:p>
          <a:p xmlns:a="http://schemas.openxmlformats.org/drawingml/2006/main">
            <a:r>
              <a:t>WHY IT MATTERS</a:t>
            </a:r>
          </a:p>
          <a:p xmlns:a="http://schemas.openxmlformats.org/drawingml/2006/main">
            <a:r>
              <a:t>A patch needs to reach the right systems and work after installation.</a:t>
            </a:r>
          </a:p>
          <a:p xmlns:a="http://schemas.openxmlformats.org/drawingml/2006/main">
            <a:r>
              <a:t>Accepted catalogue intent: Keep supported software and firmware current and make every delayed or unavailable patch an explicit risk decision.</a:t>
            </a:r>
          </a:p>
          <a:p xmlns:a="http://schemas.openxmlformats.org/drawingml/2006/main">
            <a:r>
              <a:t/>
            </a:r>
          </a:p>
          <a:p xmlns:a="http://schemas.openxmlformats.org/drawingml/2006/main">
            <a:r>
              <a:t>FACILITATION</a:t>
            </a:r>
          </a:p>
          <a:p xmlns:a="http://schemas.openxmlformats.org/drawingml/2006/main">
            <a:r>
              <a:t>Ask what the patch process covers, how urgent fixes are prioritised, who tests and approves them, and how success is checked. Include third-party applications, server software, cloud configuration responsibilities and firmware where relevant. Ask about rollback and end-of-support replacement.</a:t>
            </a:r>
          </a:p>
          <a:p xmlns:a="http://schemas.openxmlformats.org/drawingml/2006/main">
            <a:r>
              <a:t/>
            </a:r>
          </a:p>
          <a:p xmlns:a="http://schemas.openxmlformats.org/drawingml/2006/main">
            <a:r>
              <a:t>INTERPRETING THE ANSWER</a:t>
            </a:r>
          </a:p>
          <a:p xmlns:a="http://schemas.openxmlformats.org/drawingml/2006/main">
            <a:r>
              <a:t>Automatic updates help, but they do not establish full coverage or successful deployment. A green report should state its date and population. Discuss exceptions, offline devices and software the organisation cannot patch.</a:t>
            </a:r>
          </a:p>
          <a:p xmlns:a="http://schemas.openxmlformats.org/drawingml/2006/main">
            <a:r>
              <a:t>If the customer lacks enough information, use Unknown and agree who will check. If they claim Not applicable, ask for a scope-specific rationale and make clear that it remains pending review. Avoid choosing Yes simply because a product is installed or a provider is responsible.</a:t>
            </a:r>
          </a:p>
          <a:p xmlns:a="http://schemas.openxmlformats.org/drawingml/2006/main">
            <a:r>
              <a:t/>
            </a:r>
          </a:p>
          <a:p xmlns:a="http://schemas.openxmlformats.org/drawingml/2006/main">
            <a:r>
              <a:t>ILLUSTRATIVE ANSWER</a:t>
            </a:r>
          </a:p>
          <a:p xmlns:a="http://schemas.openxmlformats.org/drawingml/2006/main">
            <a:r>
              <a:t>Example answer: Partial: “Laptops update automatically. We don’t yet verify third-party applications, firmware or overdue exceptions.”</a:t>
            </a:r>
          </a:p>
          <a:p xmlns:a="http://schemas.openxmlformats.org/drawingml/2006/main">
            <a:r>
              <a:t>Ask what differs in this customer’s environment. Do not copy the example as their answer.</a:t>
            </a:r>
          </a:p>
          <a:p xmlns:a="http://schemas.openxmlformats.org/drawingml/2006/main">
            <a:r>
              <a:t/>
            </a:r>
          </a:p>
          <a:p xmlns:a="http://schemas.openxmlformats.org/drawingml/2006/main">
            <a:r>
              <a:t>EVIDENCE EXAMPLES</a:t>
            </a:r>
          </a:p>
          <a:p xmlns:a="http://schemas.openxmlformats.org/drawingml/2006/main">
            <a:r>
              <a:t>- Patch policy and targets</a:t>
            </a:r>
          </a:p>
          <a:p xmlns:a="http://schemas.openxmlformats.org/drawingml/2006/main">
            <a:r>
              <a:t>- Patch compliance export</a:t>
            </a:r>
          </a:p>
          <a:p xmlns:a="http://schemas.openxmlformats.org/drawingml/2006/main">
            <a:r>
              <a:t>- Exception register</a:t>
            </a:r>
          </a:p>
          <a:p xmlns:a="http://schemas.openxmlformats.org/drawingml/2006/main">
            <a:r>
              <a:t>- End-of-support replacement plan</a:t>
            </a:r>
          </a:p>
          <a:p xmlns:a="http://schemas.openxmlformats.org/drawingml/2006/main">
            <a:r>
              <a:t>Ask what the evidence covers, its date, the responsible owner and any exceptions. A document or screenshot supports the conversation but does not establish complete or independently tested coverage. Review evidence safely using the customer’s agreed process. Evidence examples do not imply an upload function.</a:t>
            </a:r>
          </a:p>
          <a:p xmlns:a="http://schemas.openxmlformats.org/drawingml/2006/main">
            <a:r>
              <a:t/>
            </a:r>
          </a:p>
          <a:p xmlns:a="http://schemas.openxmlformats.org/drawingml/2006/main">
            <a:r>
              <a:t>POSSIBLE NEXT STEP</a:t>
            </a:r>
          </a:p>
          <a:p xmlns:a="http://schemas.openxmlformats.org/drawingml/2006/main">
            <a:r>
              <a:t>Set targets that match business exposure, name an owner for each overdue or unsupported system, and agree how completion will be verified. Do not infer a lower breach probability from a completed patch checklist.</a:t>
            </a:r>
          </a:p>
          <a:p xmlns:a="http://schemas.openxmlformats.org/drawingml/2006/main">
            <a:r>
              <a:t>Accepted starting action: Set patch targets by severity and record every overdue or unsupported system with an owner and treatment.</a:t>
            </a:r>
          </a:p>
          <a:p xmlns:a="http://schemas.openxmlformats.org/drawingml/2006/main">
            <a:r>
              <a:t>If a gap remains, agree a named owner, due date, evidence of completion and review date in the facilitated workshop record. Suggested actions follow catalogue order and are not a calculated risk ranking.</a:t>
            </a:r>
          </a:p>
          <a:p xmlns:a="http://schemas.openxmlformats.org/drawingml/2006/main">
            <a:r>
              <a:t/>
            </a:r>
          </a:p>
          <a:p xmlns:a="http://schemas.openxmlformats.org/drawingml/2006/main">
            <a:r>
              <a:t>Facilitator boundary: this is a concise No Fries implementation assessment. It does not assess every cumulative Minimum Standard requirement, establish CS-CMM attainment, certify compliance, provide an official NCSC score, or predict a breach. The customer chooses the answer. Examples are illustrative and must not pre-fill the customer’s response. Keep discussion within the agreed systems, services and date. If evidence is unavailable, record the follow-up in the workshop notes. Do not claim an evidence upload or persisted action-plan feature. Do not collect passwords, tokens, recovery codes or unnecessary personal data.</a:t>
            </a:r>
          </a:p>
          <a:p xmlns:a="http://schemas.openxmlformats.org/drawingml/2006/main">
            <a:r>
              <a:t/>
            </a:r>
          </a:p>
          <a:p xmlns:a="http://schemas.openxmlformats.org/drawingml/2006/main">
            <a:r>
              <a:t>SOURCE</a:t>
            </a:r>
          </a:p>
          <a:p xmlns:a="http://schemas.openxmlformats.org/drawingml/2006/main">
            <a:r>
              <a:t>Exact question, intent, evidence examples and starting action: https://github.com/Discla1mer/NoFries/blob/813c7eea0176ed388d1a1944ce7e7b90278be50f/api/shared/securityGap/ncscProfile.js</a:t>
            </a:r>
          </a:p>
          <a:p xmlns:a="http://schemas.openxmlformats.org/drawingml/2006/main">
            <a:r>
              <a:t>Relevant upstream guidance: https://www.ncsc.govt.nz/protect-your-organisation/patching-minimum-standards/</a:t>
            </a:r>
          </a:p>
          <a:p xmlns:a="http://schemas.openxmlformats.org/drawingml/2006/main">
            <a:r>
              <a:t>Question catalogue and exact ordering: https://github.com/Discla1mer/NoFries/blob/813c7eea0176ed388d1a1944ce7e7b90278be50f/api/shared/securityGap/ncscProfile.js</a:t>
            </a:r>
          </a:p>
          <a:p xmlns:a="http://schemas.openxmlformats.org/drawingml/2006/main">
            <a:r>
              <a:t>Accepted profile and limitations: https://github.com/Discla1mer/NoFries/blob/813c7eea0176ed388d1a1944ce7e7b90278be50f/api/shared/assessmentEngine/ncscAcceptedFrameworkProfile.js</a:t>
            </a:r>
          </a:p>
          <a:p xmlns:a="http://schemas.openxmlformats.org/drawingml/2006/main">
            <a:r>
              <a:t>Question metadata projection: https://github.com/Discla1mer/NoFries/blob/813c7eea0176ed388d1a1944ce7e7b90278be50f/api/shared/ncscQuestionnaireMetadata.js</a:t>
            </a:r>
          </a:p>
          <a:p xmlns:a="http://schemas.openxmlformats.org/drawingml/2006/main">
            <a:r>
              <a:t>Current customer colour and type system: https://github.com/Discla1mer/NoFries/blob/813c7eea0176ed388d1a1944ce7e7b90278be50f/style.css</a:t>
            </a:r>
          </a:p>
          <a:p xmlns:a="http://schemas.openxmlformats.org/drawingml/2006/main">
            <a:r>
              <a:t>Original No Fries logo: https://github.com/Discla1mer/NoFries/blob/813c7eea0176ed388d1a1944ce7e7b90278be50f/images/nofrieslogo.png</a:t>
            </a:r>
          </a:p>
          <a:p xmlns:a="http://schemas.openxmlformats.org/drawingml/2006/main">
            <a:r>
              <a:t>Inter font: https://github.com/google/fonts/tree/main/ofl/inter (SIL Open Font License).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QUESTION 6 OF 14</a:t>
            </a:r>
          </a:p>
          <a:p xmlns:a="http://schemas.openxmlformats.org/drawingml/2006/main">
            <a:r>
              <a:t>ID: NF-NCSC-MCSS-MF-01-Q1</a:t>
            </a:r>
          </a:p>
          <a:p xmlns:a="http://schemas.openxmlformats.org/drawingml/2006/main">
            <a:r>
              <a:t>Function: Prevent and Protect</a:t>
            </a:r>
          </a:p>
          <a:p xmlns:a="http://schemas.openxmlformats.org/drawingml/2006/main">
            <a:r>
              <a:t>Exact questionnaire prompt: Is MFA enforced for critical, internet-accessible, privileged and relevant third-party access, with failures reviewed?</a:t>
            </a:r>
          </a:p>
          <a:p xmlns:a="http://schemas.openxmlformats.org/drawingml/2006/main">
            <a:r>
              <a:t/>
            </a:r>
          </a:p>
          <a:p xmlns:a="http://schemas.openxmlformats.org/drawingml/2006/main">
            <a:r>
              <a:t>PLAIN-LANGUAGE EXPLANATION</a:t>
            </a:r>
          </a:p>
          <a:p xmlns:a="http://schemas.openxmlformats.org/drawingml/2006/main">
            <a:r>
              <a:t>Multi-factor authentication applies to important access, including administrators and relevant suppliers. The team reviews failures and exclusions.</a:t>
            </a:r>
          </a:p>
          <a:p xmlns:a="http://schemas.openxmlformats.org/drawingml/2006/main">
            <a:r>
              <a:t/>
            </a:r>
          </a:p>
          <a:p xmlns:a="http://schemas.openxmlformats.org/drawingml/2006/main">
            <a:r>
              <a:t>WHY IT MATTERS</a:t>
            </a:r>
          </a:p>
          <a:p xmlns:a="http://schemas.openxmlformats.org/drawingml/2006/main">
            <a:r>
              <a:t>A stolen password should be harder to turn into access to important systems.</a:t>
            </a:r>
          </a:p>
          <a:p xmlns:a="http://schemas.openxmlformats.org/drawingml/2006/main">
            <a:r>
              <a:t>Accepted catalogue intent: Reduce account takeover risk by requiring stronger authentication where stolen credentials would cause material harm.</a:t>
            </a:r>
          </a:p>
          <a:p xmlns:a="http://schemas.openxmlformats.org/drawingml/2006/main">
            <a:r>
              <a:t/>
            </a:r>
          </a:p>
          <a:p xmlns:a="http://schemas.openxmlformats.org/drawingml/2006/main">
            <a:r>
              <a:t>FACILITATION</a:t>
            </a:r>
          </a:p>
          <a:p xmlns:a="http://schemas.openxmlformats.org/drawingml/2006/main">
            <a:r>
              <a:t>Explain MFA as a second authentication factor, such as an authenticator or security key, alongside a password. Ask where enforcement actually applies and which accounts or access paths bypass it. Include administrators, remote access, externally accessible services and relevant third parties.</a:t>
            </a:r>
          </a:p>
          <a:p xmlns:a="http://schemas.openxmlformats.org/drawingml/2006/main">
            <a:r>
              <a:t/>
            </a:r>
          </a:p>
          <a:p xmlns:a="http://schemas.openxmlformats.org/drawingml/2006/main">
            <a:r>
              <a:t>INTERPRETING THE ANSWER</a:t>
            </a:r>
          </a:p>
          <a:p xmlns:a="http://schemas.openxmlformats.org/drawingml/2006/main">
            <a:r>
              <a:t>Having MFA available differs from enforcing it. Review policy scope, exclusions, legacy access and evidence of coverage. Do not request passwords, recovery codes or authentication tokens during the meeting. A staff assurance that everyone uses MFA is a starting point for verification.</a:t>
            </a:r>
          </a:p>
          <a:p xmlns:a="http://schemas.openxmlformats.org/drawingml/2006/main">
            <a:r>
              <a:t>If the customer lacks enough information, use Unknown and agree who will check. If they claim Not applicable, ask for a scope-specific rationale and make clear that it remains pending review. Avoid choosing Yes simply because a product is installed or a provider is responsible.</a:t>
            </a:r>
          </a:p>
          <a:p xmlns:a="http://schemas.openxmlformats.org/drawingml/2006/main">
            <a:r>
              <a:t/>
            </a:r>
          </a:p>
          <a:p xmlns:a="http://schemas.openxmlformats.org/drawingml/2006/main">
            <a:r>
              <a:t>ILLUSTRATIVE ANSWER</a:t>
            </a:r>
          </a:p>
          <a:p xmlns:a="http://schemas.openxmlformats.org/drawingml/2006/main">
            <a:r>
              <a:t>Example answer: Partial: “Email and remote access require MFA. We still need to check administrator accounts, finance services and supplier access.”</a:t>
            </a:r>
          </a:p>
          <a:p xmlns:a="http://schemas.openxmlformats.org/drawingml/2006/main">
            <a:r>
              <a:t>Ask what differs in this customer’s environment. Do not copy the example as their answer.</a:t>
            </a:r>
          </a:p>
          <a:p xmlns:a="http://schemas.openxmlformats.org/drawingml/2006/main">
            <a:r>
              <a:t/>
            </a:r>
          </a:p>
          <a:p xmlns:a="http://schemas.openxmlformats.org/drawingml/2006/main">
            <a:r>
              <a:t>EVIDENCE EXAMPLES</a:t>
            </a:r>
          </a:p>
          <a:p xmlns:a="http://schemas.openxmlformats.org/drawingml/2006/main">
            <a:r>
              <a:t>- Identity policy export</a:t>
            </a:r>
          </a:p>
          <a:p xmlns:a="http://schemas.openxmlformats.org/drawingml/2006/main">
            <a:r>
              <a:t>- Privileged account list</a:t>
            </a:r>
          </a:p>
          <a:p xmlns:a="http://schemas.openxmlformats.org/drawingml/2006/main">
            <a:r>
              <a:t>- MFA coverage report</a:t>
            </a:r>
          </a:p>
          <a:p xmlns:a="http://schemas.openxmlformats.org/drawingml/2006/main">
            <a:r>
              <a:t>- Failed-authentication review</a:t>
            </a:r>
          </a:p>
          <a:p xmlns:a="http://schemas.openxmlformats.org/drawingml/2006/main">
            <a:r>
              <a:t>Ask what the evidence covers, its date, the responsible owner and any exceptions. A document or screenshot supports the conversation but does not establish complete or independently tested coverage. Review evidence safely using the customer’s agreed process. Evidence examples do not imply an upload function.</a:t>
            </a:r>
          </a:p>
          <a:p xmlns:a="http://schemas.openxmlformats.org/drawingml/2006/main">
            <a:r>
              <a:t/>
            </a:r>
          </a:p>
          <a:p xmlns:a="http://schemas.openxmlformats.org/drawingml/2006/main">
            <a:r>
              <a:t>POSSIBLE NEXT STEP</a:t>
            </a:r>
          </a:p>
          <a:p xmlns:a="http://schemas.openxmlformats.org/drawingml/2006/main">
            <a:r>
              <a:t>Close high-impact coverage gaps first, review exclusions with an owner, and agree how failed or unusual sign-ins reach someone who can respond.</a:t>
            </a:r>
          </a:p>
          <a:p xmlns:a="http://schemas.openxmlformats.org/drawingml/2006/main">
            <a:r>
              <a:t>Accepted starting action: Enforce MFA for administrators, email, remote access, finance and other critical cloud services, then review exclusions.</a:t>
            </a:r>
          </a:p>
          <a:p xmlns:a="http://schemas.openxmlformats.org/drawingml/2006/main">
            <a:r>
              <a:t>If a gap remains, agree a named owner, due date, evidence of completion and review date in the facilitated workshop record. Suggested actions follow catalogue order and are not a calculated risk ranking.</a:t>
            </a:r>
          </a:p>
          <a:p xmlns:a="http://schemas.openxmlformats.org/drawingml/2006/main">
            <a:r>
              <a:t/>
            </a:r>
          </a:p>
          <a:p xmlns:a="http://schemas.openxmlformats.org/drawingml/2006/main">
            <a:r>
              <a:t>Facilitator boundary: this is a concise No Fries implementation assessment. It does not assess every cumulative Minimum Standard requirement, establish CS-CMM attainment, certify compliance, provide an official NCSC score, or predict a breach. The customer chooses the answer. Examples are illustrative and must not pre-fill the customer’s response. Keep discussion within the agreed systems, services and date. If evidence is unavailable, record the follow-up in the workshop notes. Do not claim an evidence upload or persisted action-plan feature. Do not collect passwords, tokens, recovery codes or unnecessary personal data.</a:t>
            </a:r>
          </a:p>
          <a:p xmlns:a="http://schemas.openxmlformats.org/drawingml/2006/main">
            <a:r>
              <a:t/>
            </a:r>
          </a:p>
          <a:p xmlns:a="http://schemas.openxmlformats.org/drawingml/2006/main">
            <a:r>
              <a:t>SOURCE</a:t>
            </a:r>
          </a:p>
          <a:p xmlns:a="http://schemas.openxmlformats.org/drawingml/2006/main">
            <a:r>
              <a:t>Exact question, intent, evidence examples and starting action: https://github.com/Discla1mer/NoFries/blob/813c7eea0176ed388d1a1944ce7e7b90278be50f/api/shared/securityGap/ncscProfile.js</a:t>
            </a:r>
          </a:p>
          <a:p xmlns:a="http://schemas.openxmlformats.org/drawingml/2006/main">
            <a:r>
              <a:t>Relevant upstream guidance: https://www.ncsc.govt.nz/protect-your-organisation/multi-factor-authentication/</a:t>
            </a:r>
          </a:p>
          <a:p xmlns:a="http://schemas.openxmlformats.org/drawingml/2006/main">
            <a:r>
              <a:t>Question catalogue and exact ordering: https://github.com/Discla1mer/NoFries/blob/813c7eea0176ed388d1a1944ce7e7b90278be50f/api/shared/securityGap/ncscProfile.js</a:t>
            </a:r>
          </a:p>
          <a:p xmlns:a="http://schemas.openxmlformats.org/drawingml/2006/main">
            <a:r>
              <a:t>Accepted profile and limitations: https://github.com/Discla1mer/NoFries/blob/813c7eea0176ed388d1a1944ce7e7b90278be50f/api/shared/assessmentEngine/ncscAcceptedFrameworkProfile.js</a:t>
            </a:r>
          </a:p>
          <a:p xmlns:a="http://schemas.openxmlformats.org/drawingml/2006/main">
            <a:r>
              <a:t>Question metadata projection: https://github.com/Discla1mer/NoFries/blob/813c7eea0176ed388d1a1944ce7e7b90278be50f/api/shared/ncscQuestionnaireMetadata.js</a:t>
            </a:r>
          </a:p>
          <a:p xmlns:a="http://schemas.openxmlformats.org/drawingml/2006/main">
            <a:r>
              <a:t>Current customer colour and type system: https://github.com/Discla1mer/NoFries/blob/813c7eea0176ed388d1a1944ce7e7b90278be50f/style.css</a:t>
            </a:r>
          </a:p>
          <a:p xmlns:a="http://schemas.openxmlformats.org/drawingml/2006/main">
            <a:r>
              <a:t>Original No Fries logo: https://github.com/Discla1mer/NoFries/blob/813c7eea0176ed388d1a1944ce7e7b90278be50f/images/nofrieslogo.png</a:t>
            </a:r>
          </a:p>
          <a:p xmlns:a="http://schemas.openxmlformats.org/drawingml/2006/main">
            <a:r>
              <a:t>Inter font: https://github.com/google/fonts/tree/main/ofl/inter (SIL Open Font License).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QUESTION 7 OF 14</a:t>
            </a:r>
          </a:p>
          <a:p xmlns:a="http://schemas.openxmlformats.org/drawingml/2006/main">
            <a:r>
              <a:t>ID: NF-NCSC-MCSS-DU-01-Q1</a:t>
            </a:r>
          </a:p>
          <a:p xmlns:a="http://schemas.openxmlformats.org/drawingml/2006/main">
            <a:r>
              <a:t>Function: Detect and Contain</a:t>
            </a:r>
          </a:p>
          <a:p xmlns:a="http://schemas.openxmlformats.org/drawingml/2006/main">
            <a:r>
              <a:t>Exact questionnaire prompt: Are useful logs from critical and externally facing systems brought together, reviewed and turned into actionable alerts?</a:t>
            </a:r>
          </a:p>
          <a:p xmlns:a="http://schemas.openxmlformats.org/drawingml/2006/main">
            <a:r>
              <a:t/>
            </a:r>
          </a:p>
          <a:p xmlns:a="http://schemas.openxmlformats.org/drawingml/2006/main">
            <a:r>
              <a:t>PLAIN-LANGUAGE EXPLANATION</a:t>
            </a:r>
          </a:p>
          <a:p xmlns:a="http://schemas.openxmlformats.org/drawingml/2006/main">
            <a:r>
              <a:t>Important systems send useful activity records to a place where someone reviews alerts and responds.</a:t>
            </a:r>
          </a:p>
          <a:p xmlns:a="http://schemas.openxmlformats.org/drawingml/2006/main">
            <a:r>
              <a:t/>
            </a:r>
          </a:p>
          <a:p xmlns:a="http://schemas.openxmlformats.org/drawingml/2006/main">
            <a:r>
              <a:t>WHY IT MATTERS</a:t>
            </a:r>
          </a:p>
          <a:p xmlns:a="http://schemas.openxmlformats.org/drawingml/2006/main">
            <a:r>
              <a:t>An alert helps only when someone can investigate it and act in time.</a:t>
            </a:r>
          </a:p>
          <a:p xmlns:a="http://schemas.openxmlformats.org/drawingml/2006/main">
            <a:r>
              <a:t>Accepted catalogue intent: Create enough visibility to recognise abnormal activity, investigate what happened and contain it quickly.</a:t>
            </a:r>
          </a:p>
          <a:p xmlns:a="http://schemas.openxmlformats.org/drawingml/2006/main">
            <a:r>
              <a:t/>
            </a:r>
          </a:p>
          <a:p xmlns:a="http://schemas.openxmlformats.org/drawingml/2006/main">
            <a:r>
              <a:t>FACILITATION</a:t>
            </a:r>
          </a:p>
          <a:p xmlns:a="http://schemas.openxmlformats.org/drawingml/2006/main">
            <a:r>
              <a:t>Ask which systems produce logs, where those logs go, what alerts exist, and who owns response during and outside business hours. Follow one recent alert from detection to ticket, investigation and closure. Include identity, endpoints, email and important external services.</a:t>
            </a:r>
          </a:p>
          <a:p xmlns:a="http://schemas.openxmlformats.org/drawingml/2006/main">
            <a:r>
              <a:t/>
            </a:r>
          </a:p>
          <a:p xmlns:a="http://schemas.openxmlformats.org/drawingml/2006/main">
            <a:r>
              <a:t>INTERPRETING THE ANSWER</a:t>
            </a:r>
          </a:p>
          <a:p xmlns:a="http://schemas.openxmlformats.org/drawingml/2006/main">
            <a:r>
              <a:t>A monitoring product or provider contract alone does not prove coverage or response. Unknown is the honest choice when the customer cannot confirm the service details. Centralised logs without review or actionable alerts can still leave a material gap.</a:t>
            </a:r>
          </a:p>
          <a:p xmlns:a="http://schemas.openxmlformats.org/drawingml/2006/main">
            <a:r>
              <a:t>If the customer lacks enough information, use Unknown and agree who will check. If they claim Not applicable, ask for a scope-specific rationale and make clear that it remains pending review. Avoid choosing Yes simply because a product is installed or a provider is responsible.</a:t>
            </a:r>
          </a:p>
          <a:p xmlns:a="http://schemas.openxmlformats.org/drawingml/2006/main">
            <a:r>
              <a:t/>
            </a:r>
          </a:p>
          <a:p xmlns:a="http://schemas.openxmlformats.org/drawingml/2006/main">
            <a:r>
              <a:t>ILLUSTRATIVE ANSWER</a:t>
            </a:r>
          </a:p>
          <a:p xmlns:a="http://schemas.openxmlformats.org/drawingml/2006/main">
            <a:r>
              <a:t>Example answer: Unknown: “Our provider handles monitoring. We haven’t confirmed which systems send logs or who responds after hours.”</a:t>
            </a:r>
          </a:p>
          <a:p xmlns:a="http://schemas.openxmlformats.org/drawingml/2006/main">
            <a:r>
              <a:t>Ask what differs in this customer’s environment. Do not copy the example as their answer.</a:t>
            </a:r>
          </a:p>
          <a:p xmlns:a="http://schemas.openxmlformats.org/drawingml/2006/main">
            <a:r>
              <a:t/>
            </a:r>
          </a:p>
          <a:p xmlns:a="http://schemas.openxmlformats.org/drawingml/2006/main">
            <a:r>
              <a:t>EVIDENCE EXAMPLES</a:t>
            </a:r>
          </a:p>
          <a:p xmlns:a="http://schemas.openxmlformats.org/drawingml/2006/main">
            <a:r>
              <a:t>- Log source inventory</a:t>
            </a:r>
          </a:p>
          <a:p xmlns:a="http://schemas.openxmlformats.org/drawingml/2006/main">
            <a:r>
              <a:t>- Central logging coverage</a:t>
            </a:r>
          </a:p>
          <a:p xmlns:a="http://schemas.openxmlformats.org/drawingml/2006/main">
            <a:r>
              <a:t>- Alert rules</a:t>
            </a:r>
          </a:p>
          <a:p xmlns:a="http://schemas.openxmlformats.org/drawingml/2006/main">
            <a:r>
              <a:t>- Alert-to-ticket and response samples</a:t>
            </a:r>
          </a:p>
          <a:p xmlns:a="http://schemas.openxmlformats.org/drawingml/2006/main">
            <a:r>
              <a:t>Ask what the evidence covers, its date, the responsible owner and any exceptions. A document or screenshot supports the conversation but does not establish complete or independently tested coverage. Review evidence safely using the customer’s agreed process. Evidence examples do not imply an upload function.</a:t>
            </a:r>
          </a:p>
          <a:p xmlns:a="http://schemas.openxmlformats.org/drawingml/2006/main">
            <a:r>
              <a:t/>
            </a:r>
          </a:p>
          <a:p xmlns:a="http://schemas.openxmlformats.org/drawingml/2006/main">
            <a:r>
              <a:t>POSSIBLE NEXT STEP</a:t>
            </a:r>
          </a:p>
          <a:p xmlns:a="http://schemas.openxmlformats.org/drawingml/2006/main">
            <a:r>
              <a:t>Ask the responsible team for a coverage map and a response sample. Assign someone to confirm the hand-off and escalation path. Do not describe this assessment as continuous monitoring of connected systems.</a:t>
            </a:r>
          </a:p>
          <a:p xmlns:a="http://schemas.openxmlformats.org/drawingml/2006/main">
            <a:r>
              <a:t>Accepted starting action: Centralise identity, endpoint, email and critical-service logs and route high-risk alerts to a named response owner.</a:t>
            </a:r>
          </a:p>
          <a:p xmlns:a="http://schemas.openxmlformats.org/drawingml/2006/main">
            <a:r>
              <a:t>If a gap remains, agree a named owner, due date, evidence of completion and review date in the facilitated workshop record. Suggested actions follow catalogue order and are not a calculated risk ranking.</a:t>
            </a:r>
          </a:p>
          <a:p xmlns:a="http://schemas.openxmlformats.org/drawingml/2006/main">
            <a:r>
              <a:t/>
            </a:r>
          </a:p>
          <a:p xmlns:a="http://schemas.openxmlformats.org/drawingml/2006/main">
            <a:r>
              <a:t>Facilitator boundary: this is a concise No Fries implementation assessment. It does not assess every cumulative Minimum Standard requirement, establish CS-CMM attainment, certify compliance, provide an official NCSC score, or predict a breach. The customer chooses the answer. Examples are illustrative and must not pre-fill the customer’s response. Keep discussion within the agreed systems, services and date. If evidence is unavailable, record the follow-up in the workshop notes. Do not claim an evidence upload or persisted action-plan feature. Do not collect passwords, tokens, recovery codes or unnecessary personal data.</a:t>
            </a:r>
          </a:p>
          <a:p xmlns:a="http://schemas.openxmlformats.org/drawingml/2006/main">
            <a:r>
              <a:t/>
            </a:r>
          </a:p>
          <a:p xmlns:a="http://schemas.openxmlformats.org/drawingml/2006/main">
            <a:r>
              <a:t>SOURCE</a:t>
            </a:r>
          </a:p>
          <a:p xmlns:a="http://schemas.openxmlformats.org/drawingml/2006/main">
            <a:r>
              <a:t>Exact question, intent, evidence examples and starting action: https://github.com/Discla1mer/NoFries/blob/813c7eea0176ed388d1a1944ce7e7b90278be50f/api/shared/securityGap/ncscProfile.js</a:t>
            </a:r>
          </a:p>
          <a:p xmlns:a="http://schemas.openxmlformats.org/drawingml/2006/main">
            <a:r>
              <a:t>Relevant upstream guidance: https://www.ncsc.govt.nz/protect-your-organisation/detect-unusual-behaviour/</a:t>
            </a:r>
          </a:p>
          <a:p xmlns:a="http://schemas.openxmlformats.org/drawingml/2006/main">
            <a:r>
              <a:t>Question catalogue and exact ordering: https://github.com/Discla1mer/NoFries/blob/813c7eea0176ed388d1a1944ce7e7b90278be50f/api/shared/securityGap/ncscProfile.js</a:t>
            </a:r>
          </a:p>
          <a:p xmlns:a="http://schemas.openxmlformats.org/drawingml/2006/main">
            <a:r>
              <a:t>Accepted profile and limitations: https://github.com/Discla1mer/NoFries/blob/813c7eea0176ed388d1a1944ce7e7b90278be50f/api/shared/assessmentEngine/ncscAcceptedFrameworkProfile.js</a:t>
            </a:r>
          </a:p>
          <a:p xmlns:a="http://schemas.openxmlformats.org/drawingml/2006/main">
            <a:r>
              <a:t>Question metadata projection: https://github.com/Discla1mer/NoFries/blob/813c7eea0176ed388d1a1944ce7e7b90278be50f/api/shared/ncscQuestionnaireMetadata.js</a:t>
            </a:r>
          </a:p>
          <a:p xmlns:a="http://schemas.openxmlformats.org/drawingml/2006/main">
            <a:r>
              <a:t>Current customer colour and type system: https://github.com/Discla1mer/NoFries/blob/813c7eea0176ed388d1a1944ce7e7b90278be50f/style.css</a:t>
            </a:r>
          </a:p>
          <a:p xmlns:a="http://schemas.openxmlformats.org/drawingml/2006/main">
            <a:r>
              <a:t>Original No Fries logo: https://github.com/Discla1mer/NoFries/blob/813c7eea0176ed388d1a1944ce7e7b90278be50f/images/nofrieslogo.png</a:t>
            </a:r>
          </a:p>
          <a:p xmlns:a="http://schemas.openxmlformats.org/drawingml/2006/main">
            <a:r>
              <a:t>Inter font: https://github.com/google/fonts/tree/main/ofl/inter (SIL Open Font License).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QUESTION 8 OF 14</a:t>
            </a:r>
          </a:p>
          <a:p xmlns:a="http://schemas.openxmlformats.org/drawingml/2006/main">
            <a:r>
              <a:t>ID: NF-NCSC-MCSS-LP-01-Q1</a:t>
            </a:r>
          </a:p>
          <a:p xmlns:a="http://schemas.openxmlformats.org/drawingml/2006/main">
            <a:r>
              <a:t>Function: Prevent and Protect</a:t>
            </a:r>
          </a:p>
          <a:p xmlns:a="http://schemas.openxmlformats.org/drawingml/2006/main">
            <a:r>
              <a:t>Exact questionnaire prompt: Is access limited to what each person needs, with separate privileged accounts and repeatable joiner, mover, leaver and review processes?</a:t>
            </a:r>
          </a:p>
          <a:p xmlns:a="http://schemas.openxmlformats.org/drawingml/2006/main">
            <a:r>
              <a:t/>
            </a:r>
          </a:p>
          <a:p xmlns:a="http://schemas.openxmlformats.org/drawingml/2006/main">
            <a:r>
              <a:t>PLAIN-LANGUAGE EXPLANATION</a:t>
            </a:r>
          </a:p>
          <a:p xmlns:a="http://schemas.openxmlformats.org/drawingml/2006/main">
            <a:r>
              <a:t>People receive only the access they need. Administrator access stays separate, and access changes when people join, move or leave.</a:t>
            </a:r>
          </a:p>
          <a:p xmlns:a="http://schemas.openxmlformats.org/drawingml/2006/main">
            <a:r>
              <a:t/>
            </a:r>
          </a:p>
          <a:p xmlns:a="http://schemas.openxmlformats.org/drawingml/2006/main">
            <a:r>
              <a:t>WHY IT MATTERS</a:t>
            </a:r>
          </a:p>
          <a:p xmlns:a="http://schemas.openxmlformats.org/drawingml/2006/main">
            <a:r>
              <a:t>Limited access reduces accidental changes and the reach of a compromised account.</a:t>
            </a:r>
          </a:p>
          <a:p xmlns:a="http://schemas.openxmlformats.org/drawingml/2006/main">
            <a:r>
              <a:t>Accepted catalogue intent: Limit accidental or malicious change and reduce how far an attacker can move after compromising an account.</a:t>
            </a:r>
          </a:p>
          <a:p xmlns:a="http://schemas.openxmlformats.org/drawingml/2006/main">
            <a:r>
              <a:t/>
            </a:r>
          </a:p>
          <a:p xmlns:a="http://schemas.openxmlformats.org/drawingml/2006/main">
            <a:r>
              <a:t>FACILITATION</a:t>
            </a:r>
          </a:p>
          <a:p xmlns:a="http://schemas.openxmlformats.org/drawingml/2006/main">
            <a:r>
              <a:t>Ask how access gets approved for starters, changes after a role move, and closes for leavers and suppliers. Ask who has privileged access and whether they use separate identities for administration. Discuss periodic review and any shared accounts.</a:t>
            </a:r>
          </a:p>
          <a:p xmlns:a="http://schemas.openxmlformats.org/drawingml/2006/main">
            <a:r>
              <a:t/>
            </a:r>
          </a:p>
          <a:p xmlns:a="http://schemas.openxmlformats.org/drawingml/2006/main">
            <a:r>
              <a:t>INTERPRETING THE ANSWER</a:t>
            </a:r>
          </a:p>
          <a:p xmlns:a="http://schemas.openxmlformats.org/drawingml/2006/main">
            <a:r>
              <a:t>A prompt leaver process is useful but covers only part of the question. Consider excessive access, stale accounts, local administration and review quality. Ask for records that show the process operates without displaying unnecessary personal details.</a:t>
            </a:r>
          </a:p>
          <a:p xmlns:a="http://schemas.openxmlformats.org/drawingml/2006/main">
            <a:r>
              <a:t>If the customer lacks enough information, use Unknown and agree who will check. If they claim Not applicable, ask for a scope-specific rationale and make clear that it remains pending review. Avoid choosing Yes simply because a product is installed or a provider is responsible.</a:t>
            </a:r>
          </a:p>
          <a:p xmlns:a="http://schemas.openxmlformats.org/drawingml/2006/main">
            <a:r>
              <a:t/>
            </a:r>
          </a:p>
          <a:p xmlns:a="http://schemas.openxmlformats.org/drawingml/2006/main">
            <a:r>
              <a:t>ILLUSTRATIVE ANSWER</a:t>
            </a:r>
          </a:p>
          <a:p xmlns:a="http://schemas.openxmlformats.org/drawingml/2006/main">
            <a:r>
              <a:t>Example answer: Partial: “Leavers lose access promptly. Some staff still use administrator accounts for daily work, and reviews are irregular.”</a:t>
            </a:r>
          </a:p>
          <a:p xmlns:a="http://schemas.openxmlformats.org/drawingml/2006/main">
            <a:r>
              <a:t>Ask what differs in this customer’s environment. Do not copy the example as their answer.</a:t>
            </a:r>
          </a:p>
          <a:p xmlns:a="http://schemas.openxmlformats.org/drawingml/2006/main">
            <a:r>
              <a:t/>
            </a:r>
          </a:p>
          <a:p xmlns:a="http://schemas.openxmlformats.org/drawingml/2006/main">
            <a:r>
              <a:t>EVIDENCE EXAMPLES</a:t>
            </a:r>
          </a:p>
          <a:p xmlns:a="http://schemas.openxmlformats.org/drawingml/2006/main">
            <a:r>
              <a:t>- Privileged account inventory</a:t>
            </a:r>
          </a:p>
          <a:p xmlns:a="http://schemas.openxmlformats.org/drawingml/2006/main">
            <a:r>
              <a:t>- Access review</a:t>
            </a:r>
          </a:p>
          <a:p xmlns:a="http://schemas.openxmlformats.org/drawingml/2006/main">
            <a:r>
              <a:t>- Joiner-mover-leaver records</a:t>
            </a:r>
          </a:p>
          <a:p xmlns:a="http://schemas.openxmlformats.org/drawingml/2006/main">
            <a:r>
              <a:t>- Privileged activity logs</a:t>
            </a:r>
          </a:p>
          <a:p xmlns:a="http://schemas.openxmlformats.org/drawingml/2006/main">
            <a:r>
              <a:t>Ask what the evidence covers, its date, the responsible owner and any exceptions. A document or screenshot supports the conversation but does not establish complete or independently tested coverage. Review evidence safely using the customer’s agreed process. Evidence examples do not imply an upload function.</a:t>
            </a:r>
          </a:p>
          <a:p xmlns:a="http://schemas.openxmlformats.org/drawingml/2006/main">
            <a:r>
              <a:t/>
            </a:r>
          </a:p>
          <a:p xmlns:a="http://schemas.openxmlformats.org/drawingml/2006/main">
            <a:r>
              <a:t>POSSIBLE NEXT STEP</a:t>
            </a:r>
          </a:p>
          <a:p xmlns:a="http://schemas.openxmlformats.org/drawingml/2006/main">
            <a:r>
              <a:t>Prioritise unused and excessive access, separate daily and administrator identities, and schedule a review owned by the relevant business manager.</a:t>
            </a:r>
          </a:p>
          <a:p xmlns:a="http://schemas.openxmlformats.org/drawingml/2006/main">
            <a:r>
              <a:t>Accepted starting action: Remove routine local administrator access, separate admin identities and schedule regular access reviews.</a:t>
            </a:r>
          </a:p>
          <a:p xmlns:a="http://schemas.openxmlformats.org/drawingml/2006/main">
            <a:r>
              <a:t>If a gap remains, agree a named owner, due date, evidence of completion and review date in the facilitated workshop record. Suggested actions follow catalogue order and are not a calculated risk ranking.</a:t>
            </a:r>
          </a:p>
          <a:p xmlns:a="http://schemas.openxmlformats.org/drawingml/2006/main">
            <a:r>
              <a:t/>
            </a:r>
          </a:p>
          <a:p xmlns:a="http://schemas.openxmlformats.org/drawingml/2006/main">
            <a:r>
              <a:t>Facilitator boundary: this is a concise No Fries implementation assessment. It does not assess every cumulative Minimum Standard requirement, establish CS-CMM attainment, certify compliance, provide an official NCSC score, or predict a breach. The customer chooses the answer. Examples are illustrative and must not pre-fill the customer’s response. Keep discussion within the agreed systems, services and date. If evidence is unavailable, record the follow-up in the workshop notes. Do not claim an evidence upload or persisted action-plan feature. Do not collect passwords, tokens, recovery codes or unnecessary personal data.</a:t>
            </a:r>
          </a:p>
          <a:p xmlns:a="http://schemas.openxmlformats.org/drawingml/2006/main">
            <a:r>
              <a:t/>
            </a:r>
          </a:p>
          <a:p xmlns:a="http://schemas.openxmlformats.org/drawingml/2006/main">
            <a:r>
              <a:t>SOURCE</a:t>
            </a:r>
          </a:p>
          <a:p xmlns:a="http://schemas.openxmlformats.org/drawingml/2006/main">
            <a:r>
              <a:t>Exact question, intent, evidence examples and starting action: https://github.com/Discla1mer/NoFries/blob/813c7eea0176ed388d1a1944ce7e7b90278be50f/api/shared/securityGap/ncscProfile.js</a:t>
            </a:r>
          </a:p>
          <a:p xmlns:a="http://schemas.openxmlformats.org/drawingml/2006/main">
            <a:r>
              <a:t>Relevant upstream guidance: https://www.ncsc.govt.nz/protect-your-organisation/least-privilege/</a:t>
            </a:r>
          </a:p>
          <a:p xmlns:a="http://schemas.openxmlformats.org/drawingml/2006/main">
            <a:r>
              <a:t>Question catalogue and exact ordering: https://github.com/Discla1mer/NoFries/blob/813c7eea0176ed388d1a1944ce7e7b90278be50f/api/shared/securityGap/ncscProfile.js</a:t>
            </a:r>
          </a:p>
          <a:p xmlns:a="http://schemas.openxmlformats.org/drawingml/2006/main">
            <a:r>
              <a:t>Accepted profile and limitations: https://github.com/Discla1mer/NoFries/blob/813c7eea0176ed388d1a1944ce7e7b90278be50f/api/shared/assessmentEngine/ncscAcceptedFrameworkProfile.js</a:t>
            </a:r>
          </a:p>
          <a:p xmlns:a="http://schemas.openxmlformats.org/drawingml/2006/main">
            <a:r>
              <a:t>Question metadata projection: https://github.com/Discla1mer/NoFries/blob/813c7eea0176ed388d1a1944ce7e7b90278be50f/api/shared/ncscQuestionnaireMetadata.js</a:t>
            </a:r>
          </a:p>
          <a:p xmlns:a="http://schemas.openxmlformats.org/drawingml/2006/main">
            <a:r>
              <a:t>Current customer colour and type system: https://github.com/Discla1mer/NoFries/blob/813c7eea0176ed388d1a1944ce7e7b90278be50f/style.css</a:t>
            </a:r>
          </a:p>
          <a:p xmlns:a="http://schemas.openxmlformats.org/drawingml/2006/main">
            <a:r>
              <a:t>Original No Fries logo: https://github.com/Discla1mer/NoFries/blob/813c7eea0176ed388d1a1944ce7e7b90278be50f/images/nofrieslogo.png</a:t>
            </a:r>
          </a:p>
          <a:p xmlns:a="http://schemas.openxmlformats.org/drawingml/2006/main">
            <a:r>
              <a:t>Inter font: https://github.com/google/fonts/tree/main/ofl/inter (SIL Open Font License).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QUESTION 9 OF 14</a:t>
            </a:r>
          </a:p>
          <a:p xmlns:a="http://schemas.openxmlformats.org/drawingml/2006/main">
            <a:r>
              <a:t>ID: NF-NCSC-MCSS-DR-01-Q1</a:t>
            </a:r>
          </a:p>
          <a:p xmlns:a="http://schemas.openxmlformats.org/drawingml/2006/main">
            <a:r>
              <a:t>Function: Respond and Recover</a:t>
            </a:r>
          </a:p>
          <a:p xmlns:a="http://schemas.openxmlformats.org/drawingml/2006/main">
            <a:r>
              <a:t>Exact questionnaire prompt: Are critical systems and data backed up to defined recovery requirements, with protected copies and sampled restore tests?</a:t>
            </a:r>
          </a:p>
          <a:p xmlns:a="http://schemas.openxmlformats.org/drawingml/2006/main">
            <a:r>
              <a:t/>
            </a:r>
          </a:p>
          <a:p xmlns:a="http://schemas.openxmlformats.org/drawingml/2006/main">
            <a:r>
              <a:t>PLAIN-LANGUAGE EXPLANATION</a:t>
            </a:r>
          </a:p>
          <a:p xmlns:a="http://schemas.openxmlformats.org/drawingml/2006/main">
            <a:r>
              <a:t>Backups cover important data and systems. Protected copies and restore tests show whether recovery can meet business needs.</a:t>
            </a:r>
          </a:p>
          <a:p xmlns:a="http://schemas.openxmlformats.org/drawingml/2006/main">
            <a:r>
              <a:t/>
            </a:r>
          </a:p>
          <a:p xmlns:a="http://schemas.openxmlformats.org/drawingml/2006/main">
            <a:r>
              <a:t>WHY IT MATTERS</a:t>
            </a:r>
          </a:p>
          <a:p xmlns:a="http://schemas.openxmlformats.org/drawingml/2006/main">
            <a:r>
              <a:t>A successful backup job does not establish that the business can recover.</a:t>
            </a:r>
          </a:p>
          <a:p xmlns:a="http://schemas.openxmlformats.org/drawingml/2006/main">
            <a:r>
              <a:t>Accepted catalogue intent: Make recovery dependable by linking backups, supporting information, roles and tests to business recovery needs.</a:t>
            </a:r>
          </a:p>
          <a:p xmlns:a="http://schemas.openxmlformats.org/drawingml/2006/main">
            <a:r>
              <a:t/>
            </a:r>
          </a:p>
          <a:p xmlns:a="http://schemas.openxmlformats.org/drawingml/2006/main">
            <a:r>
              <a:t>FACILITATION</a:t>
            </a:r>
          </a:p>
          <a:p xmlns:a="http://schemas.openxmlformats.org/drawingml/2006/main">
            <a:r>
              <a:t>Ask which services and data the business must recover first, how much lost work it can tolerate, and how long it can operate without them. Check backup scope, protected copies, retention, restore instructions and responsible people. Ask for the most recent actual restore test and its outcome.</a:t>
            </a:r>
          </a:p>
          <a:p xmlns:a="http://schemas.openxmlformats.org/drawingml/2006/main">
            <a:r>
              <a:t/>
            </a:r>
          </a:p>
          <a:p xmlns:a="http://schemas.openxmlformats.org/drawingml/2006/main">
            <a:r>
              <a:t>INTERPRETING THE ANSWER</a:t>
            </a:r>
          </a:p>
          <a:p xmlns:a="http://schemas.openxmlformats.org/drawingml/2006/main">
            <a:r>
              <a:t>Job reports establish that backups ran, while a restore test helps show whether the data and process work. Discuss SaaS and cloud data rather than assuming a vendor keeps a recoverable copy for the customer. Avoid claiming that any backup design guarantees recovery.</a:t>
            </a:r>
          </a:p>
          <a:p xmlns:a="http://schemas.openxmlformats.org/drawingml/2006/main">
            <a:r>
              <a:t>If the customer lacks enough information, use Unknown and agree who will check. If they claim Not applicable, ask for a scope-specific rationale and make clear that it remains pending review. Avoid choosing Yes simply because a product is installed or a provider is responsible.</a:t>
            </a:r>
          </a:p>
          <a:p xmlns:a="http://schemas.openxmlformats.org/drawingml/2006/main">
            <a:r>
              <a:t/>
            </a:r>
          </a:p>
          <a:p xmlns:a="http://schemas.openxmlformats.org/drawingml/2006/main">
            <a:r>
              <a:t>ILLUSTRATIVE ANSWER</a:t>
            </a:r>
          </a:p>
          <a:p xmlns:a="http://schemas.openxmlformats.org/drawingml/2006/main">
            <a:r>
              <a:t>Example answer: Partial: “Backups run every night. We haven’t recently restored a sample or checked recovery time against what the business needs.”</a:t>
            </a:r>
          </a:p>
          <a:p xmlns:a="http://schemas.openxmlformats.org/drawingml/2006/main">
            <a:r>
              <a:t>Ask what differs in this customer’s environment. Do not copy the example as their answer.</a:t>
            </a:r>
          </a:p>
          <a:p xmlns:a="http://schemas.openxmlformats.org/drawingml/2006/main">
            <a:r>
              <a:t/>
            </a:r>
          </a:p>
          <a:p xmlns:a="http://schemas.openxmlformats.org/drawingml/2006/main">
            <a:r>
              <a:t>EVIDENCE EXAMPLES</a:t>
            </a:r>
          </a:p>
          <a:p xmlns:a="http://schemas.openxmlformats.org/drawingml/2006/main">
            <a:r>
              <a:t>- Backup scope and retention</a:t>
            </a:r>
          </a:p>
          <a:p xmlns:a="http://schemas.openxmlformats.org/drawingml/2006/main">
            <a:r>
              <a:t>- Backup job report</a:t>
            </a:r>
          </a:p>
          <a:p xmlns:a="http://schemas.openxmlformats.org/drawingml/2006/main">
            <a:r>
              <a:t>- Restore test record</a:t>
            </a:r>
          </a:p>
          <a:p xmlns:a="http://schemas.openxmlformats.org/drawingml/2006/main">
            <a:r>
              <a:t>- Recovery roles and runbook</a:t>
            </a:r>
          </a:p>
          <a:p xmlns:a="http://schemas.openxmlformats.org/drawingml/2006/main">
            <a:r>
              <a:t>Ask what the evidence covers, its date, the responsible owner and any exceptions. A document or screenshot supports the conversation but does not establish complete or independently tested coverage. Review evidence safely using the customer’s agreed process. Evidence examples do not imply an upload function.</a:t>
            </a:r>
          </a:p>
          <a:p xmlns:a="http://schemas.openxmlformats.org/drawingml/2006/main">
            <a:r>
              <a:t/>
            </a:r>
          </a:p>
          <a:p xmlns:a="http://schemas.openxmlformats.org/drawingml/2006/main">
            <a:r>
              <a:t>POSSIBLE NEXT STEP</a:t>
            </a:r>
          </a:p>
          <a:p xmlns:a="http://schemas.openxmlformats.org/drawingml/2006/main">
            <a:r>
              <a:t>Arrange a safe sampled restore and record the result, elapsed time, owner and follow-up. Compare the result with the business recovery requirements and address missing coverage.</a:t>
            </a:r>
          </a:p>
          <a:p xmlns:a="http://schemas.openxmlformats.org/drawingml/2006/main">
            <a:r>
              <a:t>Accepted starting action: Confirm critical data coverage and run a sampled restore that records result, elapsed time, owner and follow-up.</a:t>
            </a:r>
          </a:p>
          <a:p xmlns:a="http://schemas.openxmlformats.org/drawingml/2006/main">
            <a:r>
              <a:t>If a gap remains, agree a named owner, due date, evidence of completion and review date in the facilitated workshop record. Suggested actions follow catalogue order and are not a calculated risk ranking.</a:t>
            </a:r>
          </a:p>
          <a:p xmlns:a="http://schemas.openxmlformats.org/drawingml/2006/main">
            <a:r>
              <a:t/>
            </a:r>
          </a:p>
          <a:p xmlns:a="http://schemas.openxmlformats.org/drawingml/2006/main">
            <a:r>
              <a:t>Facilitator boundary: this is a concise No Fries implementation assessment. It does not assess every cumulative Minimum Standard requirement, establish CS-CMM attainment, certify compliance, provide an official NCSC score, or predict a breach. The customer chooses the answer. Examples are illustrative and must not pre-fill the customer’s response. Keep discussion within the agreed systems, services and date. If evidence is unavailable, record the follow-up in the workshop notes. Do not claim an evidence upload or persisted action-plan feature. Do not collect passwords, tokens, recovery codes or unnecessary personal data.</a:t>
            </a:r>
          </a:p>
          <a:p xmlns:a="http://schemas.openxmlformats.org/drawingml/2006/main">
            <a:r>
              <a:t/>
            </a:r>
          </a:p>
          <a:p xmlns:a="http://schemas.openxmlformats.org/drawingml/2006/main">
            <a:r>
              <a:t>SOURCE</a:t>
            </a:r>
          </a:p>
          <a:p xmlns:a="http://schemas.openxmlformats.org/drawingml/2006/main">
            <a:r>
              <a:t>Exact question, intent, evidence examples and starting action: https://github.com/Discla1mer/NoFries/blob/813c7eea0176ed388d1a1944ce7e7b90278be50f/api/shared/securityGap/ncscProfile.js</a:t>
            </a:r>
          </a:p>
          <a:p xmlns:a="http://schemas.openxmlformats.org/drawingml/2006/main">
            <a:r>
              <a:t>Relevant upstream guidance: https://www.ncsc.govt.nz/protect-your-organisation/data-recovery/</a:t>
            </a:r>
          </a:p>
          <a:p xmlns:a="http://schemas.openxmlformats.org/drawingml/2006/main">
            <a:r>
              <a:t>Question catalogue and exact ordering: https://github.com/Discla1mer/NoFries/blob/813c7eea0176ed388d1a1944ce7e7b90278be50f/api/shared/securityGap/ncscProfile.js</a:t>
            </a:r>
          </a:p>
          <a:p xmlns:a="http://schemas.openxmlformats.org/drawingml/2006/main">
            <a:r>
              <a:t>Accepted profile and limitations: https://github.com/Discla1mer/NoFries/blob/813c7eea0176ed388d1a1944ce7e7b90278be50f/api/shared/assessmentEngine/ncscAcceptedFrameworkProfile.js</a:t>
            </a:r>
          </a:p>
          <a:p xmlns:a="http://schemas.openxmlformats.org/drawingml/2006/main">
            <a:r>
              <a:t>Question metadata projection: https://github.com/Discla1mer/NoFries/blob/813c7eea0176ed388d1a1944ce7e7b90278be50f/api/shared/ncscQuestionnaireMetadata.js</a:t>
            </a:r>
          </a:p>
          <a:p xmlns:a="http://schemas.openxmlformats.org/drawingml/2006/main">
            <a:r>
              <a:t>Current customer colour and type system: https://github.com/Discla1mer/NoFries/blob/813c7eea0176ed388d1a1944ce7e7b90278be50f/style.css</a:t>
            </a:r>
          </a:p>
          <a:p xmlns:a="http://schemas.openxmlformats.org/drawingml/2006/main">
            <a:r>
              <a:t>Original No Fries logo: https://github.com/Discla1mer/NoFries/blob/813c7eea0176ed388d1a1944ce7e7b90278be50f/images/nofrieslogo.png</a:t>
            </a:r>
          </a:p>
          <a:p xmlns:a="http://schemas.openxmlformats.org/drawingml/2006/main">
            <a:r>
              <a:t>Inter font: https://github.com/google/fonts/tree/main/ofl/inter (SIL Open Font License).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QUESTION 10 OF 14</a:t>
            </a:r>
          </a:p>
          <a:p xmlns:a="http://schemas.openxmlformats.org/drawingml/2006/main">
            <a:r>
              <a:t>ID: NF-NCSC-MCSS-RP-01-Q1</a:t>
            </a:r>
          </a:p>
          <a:p xmlns:a="http://schemas.openxmlformats.org/drawingml/2006/main">
            <a:r>
              <a:t>Function: Respond and Recover</a:t>
            </a:r>
          </a:p>
          <a:p xmlns:a="http://schemas.openxmlformats.org/drawingml/2006/main">
            <a:r>
              <a:t>Exact questionnaire prompt: Is there a risk-based incident response plan with named responsibilities, management support, contact paths and lessons from exercises or incidents?</a:t>
            </a:r>
          </a:p>
          <a:p xmlns:a="http://schemas.openxmlformats.org/drawingml/2006/main">
            <a:r>
              <a:t/>
            </a:r>
          </a:p>
          <a:p xmlns:a="http://schemas.openxmlformats.org/drawingml/2006/main">
            <a:r>
              <a:t>PLAIN-LANGUAGE EXPLANATION</a:t>
            </a:r>
          </a:p>
          <a:p xmlns:a="http://schemas.openxmlformats.org/drawingml/2006/main">
            <a:r>
              <a:t>A usable incident plan names the people, contact paths and first steps. Exercises or real incidents help improve it.</a:t>
            </a:r>
          </a:p>
          <a:p xmlns:a="http://schemas.openxmlformats.org/drawingml/2006/main">
            <a:r>
              <a:t/>
            </a:r>
          </a:p>
          <a:p xmlns:a="http://schemas.openxmlformats.org/drawingml/2006/main">
            <a:r>
              <a:t>WHY IT MATTERS</a:t>
            </a:r>
          </a:p>
          <a:p xmlns:a="http://schemas.openxmlformats.org/drawingml/2006/main">
            <a:r>
              <a:t>Clear responsibilities reduce delay when an incident disrupts normal work.</a:t>
            </a:r>
          </a:p>
          <a:p xmlns:a="http://schemas.openxmlformats.org/drawingml/2006/main">
            <a:r>
              <a:t>Accepted catalogue intent: Reduce confusion and delay by preparing a flexible first response and practising it before a serious event.</a:t>
            </a:r>
          </a:p>
          <a:p xmlns:a="http://schemas.openxmlformats.org/drawingml/2006/main">
            <a:r>
              <a:t/>
            </a:r>
          </a:p>
          <a:p xmlns:a="http://schemas.openxmlformats.org/drawingml/2006/main">
            <a:r>
              <a:t>FACILITATION</a:t>
            </a:r>
          </a:p>
          <a:p xmlns:a="http://schemas.openxmlformats.org/drawingml/2006/main">
            <a:r>
              <a:t>Ask who declares an incident, who coordinates the first hour, and how staff contact support if email is unavailable. Ask about management involvement, suppliers, communications and decision authority. Walk through a realistic account takeover or ransomware scenario.</a:t>
            </a:r>
          </a:p>
          <a:p xmlns:a="http://schemas.openxmlformats.org/drawingml/2006/main">
            <a:r>
              <a:t/>
            </a:r>
          </a:p>
          <a:p xmlns:a="http://schemas.openxmlformats.org/drawingml/2006/main">
            <a:r>
              <a:t>INTERPRETING THE ANSWER</a:t>
            </a:r>
          </a:p>
          <a:p xmlns:a="http://schemas.openxmlformats.org/drawingml/2006/main">
            <a:r>
              <a:t>A document on a shared drive may be hard to reach during disruption. Check accessibility, current contacts, named roles and lessons from practice. Keep legal and regulatory reporting obligations for a qualified, context-specific discussion rather than promising compliance through this screen.</a:t>
            </a:r>
          </a:p>
          <a:p xmlns:a="http://schemas.openxmlformats.org/drawingml/2006/main">
            <a:r>
              <a:t>If the customer lacks enough information, use Unknown and agree who will check. If they claim Not applicable, ask for a scope-specific rationale and make clear that it remains pending review. Avoid choosing Yes simply because a product is installed or a provider is responsible.</a:t>
            </a:r>
          </a:p>
          <a:p xmlns:a="http://schemas.openxmlformats.org/drawingml/2006/main">
            <a:r>
              <a:t/>
            </a:r>
          </a:p>
          <a:p xmlns:a="http://schemas.openxmlformats.org/drawingml/2006/main">
            <a:r>
              <a:t>ILLUSTRATIVE ANSWER</a:t>
            </a:r>
          </a:p>
          <a:p xmlns:a="http://schemas.openxmlformats.org/drawingml/2006/main">
            <a:r>
              <a:t>Example answer: Partial: “We have an incident plan and contact list. We haven’t practised it or captured lessons from an exercise.”</a:t>
            </a:r>
          </a:p>
          <a:p xmlns:a="http://schemas.openxmlformats.org/drawingml/2006/main">
            <a:r>
              <a:t>Ask what differs in this customer’s environment. Do not copy the example as their answer.</a:t>
            </a:r>
          </a:p>
          <a:p xmlns:a="http://schemas.openxmlformats.org/drawingml/2006/main">
            <a:r>
              <a:t/>
            </a:r>
          </a:p>
          <a:p xmlns:a="http://schemas.openxmlformats.org/drawingml/2006/main">
            <a:r>
              <a:t>EVIDENCE EXAMPLES</a:t>
            </a:r>
          </a:p>
          <a:p xmlns:a="http://schemas.openxmlformats.org/drawingml/2006/main">
            <a:r>
              <a:t>- Incident response plan</a:t>
            </a:r>
          </a:p>
          <a:p xmlns:a="http://schemas.openxmlformats.org/drawingml/2006/main">
            <a:r>
              <a:t>- Contact and escalation list</a:t>
            </a:r>
          </a:p>
          <a:p xmlns:a="http://schemas.openxmlformats.org/drawingml/2006/main">
            <a:r>
              <a:t>- Tabletop record</a:t>
            </a:r>
          </a:p>
          <a:p xmlns:a="http://schemas.openxmlformats.org/drawingml/2006/main">
            <a:r>
              <a:t>- Post-incident actions</a:t>
            </a:r>
          </a:p>
          <a:p xmlns:a="http://schemas.openxmlformats.org/drawingml/2006/main">
            <a:r>
              <a:t>Ask what the evidence covers, its date, the responsible owner and any exceptions. A document or screenshot supports the conversation but does not establish complete or independently tested coverage. Review evidence safely using the customer’s agreed process. Evidence examples do not imply an upload function.</a:t>
            </a:r>
          </a:p>
          <a:p xmlns:a="http://schemas.openxmlformats.org/drawingml/2006/main">
            <a:r>
              <a:t/>
            </a:r>
          </a:p>
          <a:p xmlns:a="http://schemas.openxmlformats.org/drawingml/2006/main">
            <a:r>
              <a:t>POSSIBLE NEXT STEP</a:t>
            </a:r>
          </a:p>
          <a:p xmlns:a="http://schemas.openxmlformats.org/drawingml/2006/main">
            <a:r>
              <a:t>Create or update a short first-hour guide and run a tabletop exercise. Record concrete follow-up actions with owners instead of treating attendance as proof of readiness.</a:t>
            </a:r>
          </a:p>
          <a:p xmlns:a="http://schemas.openxmlformats.org/drawingml/2006/main">
            <a:r>
              <a:t>Accepted starting action: Create a one-page first-hour guide and run a short tabletop for a likely email, account or ransomware incident.</a:t>
            </a:r>
          </a:p>
          <a:p xmlns:a="http://schemas.openxmlformats.org/drawingml/2006/main">
            <a:r>
              <a:t>If a gap remains, agree a named owner, due date, evidence of completion and review date in the facilitated workshop record. Suggested actions follow catalogue order and are not a calculated risk ranking.</a:t>
            </a:r>
          </a:p>
          <a:p xmlns:a="http://schemas.openxmlformats.org/drawingml/2006/main">
            <a:r>
              <a:t/>
            </a:r>
          </a:p>
          <a:p xmlns:a="http://schemas.openxmlformats.org/drawingml/2006/main">
            <a:r>
              <a:t>Facilitator boundary: this is a concise No Fries implementation assessment. It does not assess every cumulative Minimum Standard requirement, establish CS-CMM attainment, certify compliance, provide an official NCSC score, or predict a breach. The customer chooses the answer. Examples are illustrative and must not pre-fill the customer’s response. Keep discussion within the agreed systems, services and date. If evidence is unavailable, record the follow-up in the workshop notes. Do not claim an evidence upload or persisted action-plan feature. Do not collect passwords, tokens, recovery codes or unnecessary personal data.</a:t>
            </a:r>
          </a:p>
          <a:p xmlns:a="http://schemas.openxmlformats.org/drawingml/2006/main">
            <a:r>
              <a:t/>
            </a:r>
          </a:p>
          <a:p xmlns:a="http://schemas.openxmlformats.org/drawingml/2006/main">
            <a:r>
              <a:t>SOURCE</a:t>
            </a:r>
          </a:p>
          <a:p xmlns:a="http://schemas.openxmlformats.org/drawingml/2006/main">
            <a:r>
              <a:t>Exact question, intent, evidence examples and starting action: https://github.com/Discla1mer/NoFries/blob/813c7eea0176ed388d1a1944ce7e7b90278be50f/api/shared/securityGap/ncscProfile.js</a:t>
            </a:r>
          </a:p>
          <a:p xmlns:a="http://schemas.openxmlformats.org/drawingml/2006/main">
            <a:r>
              <a:t>Relevant upstream guidance: https://www.ncsc.govt.nz/protect-your-organisation/response-planning/</a:t>
            </a:r>
          </a:p>
          <a:p xmlns:a="http://schemas.openxmlformats.org/drawingml/2006/main">
            <a:r>
              <a:t>Question catalogue and exact ordering: https://github.com/Discla1mer/NoFries/blob/813c7eea0176ed388d1a1944ce7e7b90278be50f/api/shared/securityGap/ncscProfile.js</a:t>
            </a:r>
          </a:p>
          <a:p xmlns:a="http://schemas.openxmlformats.org/drawingml/2006/main">
            <a:r>
              <a:t>Accepted profile and limitations: https://github.com/Discla1mer/NoFries/blob/813c7eea0176ed388d1a1944ce7e7b90278be50f/api/shared/assessmentEngine/ncscAcceptedFrameworkProfile.js</a:t>
            </a:r>
          </a:p>
          <a:p xmlns:a="http://schemas.openxmlformats.org/drawingml/2006/main">
            <a:r>
              <a:t>Question metadata projection: https://github.com/Discla1mer/NoFries/blob/813c7eea0176ed388d1a1944ce7e7b90278be50f/api/shared/ncscQuestionnaireMetadata.js</a:t>
            </a:r>
          </a:p>
          <a:p xmlns:a="http://schemas.openxmlformats.org/drawingml/2006/main">
            <a:r>
              <a:t>Current customer colour and type system: https://github.com/Discla1mer/NoFries/blob/813c7eea0176ed388d1a1944ce7e7b90278be50f/style.css</a:t>
            </a:r>
          </a:p>
          <a:p xmlns:a="http://schemas.openxmlformats.org/drawingml/2006/main">
            <a:r>
              <a:t>Original No Fries logo: https://github.com/Discla1mer/NoFries/blob/813c7eea0176ed388d1a1944ce7e7b90278be50f/images/nofrieslogo.png</a:t>
            </a:r>
          </a:p>
          <a:p xmlns:a="http://schemas.openxmlformats.org/drawingml/2006/main">
            <a:r>
              <a:t>Inter font: https://github.com/google/fonts/tree/main/ofl/inter (SIL Open Font License).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QUESTION 11 OF 14</a:t>
            </a:r>
          </a:p>
          <a:p xmlns:a="http://schemas.openxmlformats.org/drawingml/2006/main">
            <a:r>
              <a:t>ID: NF-NCSC-CC-PM-01-Q1</a:t>
            </a:r>
          </a:p>
          <a:p xmlns:a="http://schemas.openxmlformats.org/drawingml/2006/main">
            <a:r>
              <a:t>Function: Prevent and Protect</a:t>
            </a:r>
          </a:p>
          <a:p xmlns:a="http://schemas.openxmlformats.org/drawingml/2006/main">
            <a:r>
              <a:t>Exact questionnaire prompt: Does the organisation provide and govern a password manager that people actually use for unique passwords and approved sharing?</a:t>
            </a:r>
          </a:p>
          <a:p xmlns:a="http://schemas.openxmlformats.org/drawingml/2006/main">
            <a:r>
              <a:t/>
            </a:r>
          </a:p>
          <a:p xmlns:a="http://schemas.openxmlformats.org/drawingml/2006/main">
            <a:r>
              <a:t>PLAIN-LANGUAGE EXPLANATION</a:t>
            </a:r>
          </a:p>
          <a:p xmlns:a="http://schemas.openxmlformats.org/drawingml/2006/main">
            <a:r>
              <a:t>The organisation provides a password manager and governs its use, including shared access and unique passwords.</a:t>
            </a:r>
          </a:p>
          <a:p xmlns:a="http://schemas.openxmlformats.org/drawingml/2006/main">
            <a:r>
              <a:t/>
            </a:r>
          </a:p>
          <a:p xmlns:a="http://schemas.openxmlformats.org/drawingml/2006/main">
            <a:r>
              <a:t>WHY IT MATTERS</a:t>
            </a:r>
          </a:p>
          <a:p xmlns:a="http://schemas.openxmlformats.org/drawingml/2006/main">
            <a:r>
              <a:t>A managed tool makes strong passwords and controlled sharing easier to use.</a:t>
            </a:r>
          </a:p>
          <a:p xmlns:a="http://schemas.openxmlformats.org/drawingml/2006/main">
            <a:r>
              <a:t>Accepted catalogue intent: Make strong, unique credentials and controlled sharing easier than password reuse or informal storage.</a:t>
            </a:r>
          </a:p>
          <a:p xmlns:a="http://schemas.openxmlformats.org/drawingml/2006/main">
            <a:r>
              <a:t/>
            </a:r>
          </a:p>
          <a:p xmlns:a="http://schemas.openxmlformats.org/drawingml/2006/main">
            <a:r>
              <a:t>FACILITATION</a:t>
            </a:r>
          </a:p>
          <a:p xmlns:a="http://schemas.openxmlformats.org/drawingml/2006/main">
            <a:r>
              <a:t>Ask which password manager the organisation approves, who can use it and how the team knows people use it. Discuss shared vaults, joiner and leaver handling, emergency access and migration of shared credentials. Keep the conversation at process and coverage level.</a:t>
            </a:r>
          </a:p>
          <a:p xmlns:a="http://schemas.openxmlformats.org/drawingml/2006/main">
            <a:r>
              <a:t/>
            </a:r>
          </a:p>
          <a:p xmlns:a="http://schemas.openxmlformats.org/drawingml/2006/main">
            <a:r>
              <a:t>INTERPRETING THE ANSWER</a:t>
            </a:r>
          </a:p>
          <a:p xmlns:a="http://schemas.openxmlformats.org/drawingml/2006/main">
            <a:r>
              <a:t>Buying licences differs from adoption and governance. User coverage, appropriate sharing rules and removal of access matter. Do not open vault entries, collect secrets, ask anyone to read out a password or include credentials in evidence.</a:t>
            </a:r>
          </a:p>
          <a:p xmlns:a="http://schemas.openxmlformats.org/drawingml/2006/main">
            <a:r>
              <a:t>If the customer lacks enough information, use Unknown and agree who will check. If they claim Not applicable, ask for a scope-specific rationale and make clear that it remains pending review. Avoid choosing Yes simply because a product is installed or a provider is responsible.</a:t>
            </a:r>
          </a:p>
          <a:p xmlns:a="http://schemas.openxmlformats.org/drawingml/2006/main">
            <a:r>
              <a:t/>
            </a:r>
          </a:p>
          <a:p xmlns:a="http://schemas.openxmlformats.org/drawingml/2006/main">
            <a:r>
              <a:t>ILLUSTRATIVE ANSWER</a:t>
            </a:r>
          </a:p>
          <a:p xmlns:a="http://schemas.openxmlformats.org/drawingml/2006/main">
            <a:r>
              <a:t>Example answer: Partial: “We provide a password manager. Some teams still share credentials in spreadsheets, and we haven’t checked adoption.”</a:t>
            </a:r>
          </a:p>
          <a:p xmlns:a="http://schemas.openxmlformats.org/drawingml/2006/main">
            <a:r>
              <a:t>Ask what differs in this customer’s environment. Do not copy the example as their answer.</a:t>
            </a:r>
          </a:p>
          <a:p xmlns:a="http://schemas.openxmlformats.org/drawingml/2006/main">
            <a:r>
              <a:t/>
            </a:r>
          </a:p>
          <a:p xmlns:a="http://schemas.openxmlformats.org/drawingml/2006/main">
            <a:r>
              <a:t>EVIDENCE EXAMPLES</a:t>
            </a:r>
          </a:p>
          <a:p xmlns:a="http://schemas.openxmlformats.org/drawingml/2006/main">
            <a:r>
              <a:t>- Approved password manager</a:t>
            </a:r>
          </a:p>
          <a:p xmlns:a="http://schemas.openxmlformats.org/drawingml/2006/main">
            <a:r>
              <a:t>- User coverage</a:t>
            </a:r>
          </a:p>
          <a:p xmlns:a="http://schemas.openxmlformats.org/drawingml/2006/main">
            <a:r>
              <a:t>- Sharing policy</a:t>
            </a:r>
          </a:p>
          <a:p xmlns:a="http://schemas.openxmlformats.org/drawingml/2006/main">
            <a:r>
              <a:t>- Shared credential migration record</a:t>
            </a:r>
          </a:p>
          <a:p xmlns:a="http://schemas.openxmlformats.org/drawingml/2006/main">
            <a:r>
              <a:t>Ask what the evidence covers, its date, the responsible owner and any exceptions. A document or screenshot supports the conversation but does not establish complete or independently tested coverage. Review evidence safely using the customer’s agreed process. Evidence examples do not imply an upload function.</a:t>
            </a:r>
          </a:p>
          <a:p xmlns:a="http://schemas.openxmlformats.org/drawingml/2006/main">
            <a:r>
              <a:t/>
            </a:r>
          </a:p>
          <a:p xmlns:a="http://schemas.openxmlformats.org/drawingml/2006/main">
            <a:r>
              <a:t>POSSIBLE NEXT STEP</a:t>
            </a:r>
          </a:p>
          <a:p xmlns:a="http://schemas.openxmlformats.org/drawingml/2006/main">
            <a:r>
              <a:t>Agree the approved tool, migration owner and coverage target. Begin with shared, privileged and high-value credentials, then review adoption and access handling.</a:t>
            </a:r>
          </a:p>
          <a:p xmlns:a="http://schemas.openxmlformats.org/drawingml/2006/main">
            <a:r>
              <a:t>Accepted starting action: Select an organisation-managed password manager and migrate shared, privileged and high-value credentials first.</a:t>
            </a:r>
          </a:p>
          <a:p xmlns:a="http://schemas.openxmlformats.org/drawingml/2006/main">
            <a:r>
              <a:t>If a gap remains, agree a named owner, due date, evidence of completion and review date in the facilitated workshop record. Suggested actions follow catalogue order and are not a calculated risk ranking.</a:t>
            </a:r>
          </a:p>
          <a:p xmlns:a="http://schemas.openxmlformats.org/drawingml/2006/main">
            <a:r>
              <a:t/>
            </a:r>
          </a:p>
          <a:p xmlns:a="http://schemas.openxmlformats.org/drawingml/2006/main">
            <a:r>
              <a:t>Facilitator boundary: this is a concise No Fries implementation assessment. It does not assess every cumulative Minimum Standard requirement, establish CS-CMM attainment, certify compliance, provide an official NCSC score, or predict a breach. The customer chooses the answer. Examples are illustrative and must not pre-fill the customer’s response. Keep discussion within the agreed systems, services and date. If evidence is unavailable, record the follow-up in the workshop notes. Do not claim an evidence upload or persisted action-plan feature. Do not collect passwords, tokens, recovery codes or unnecessary personal data.</a:t>
            </a:r>
          </a:p>
          <a:p xmlns:a="http://schemas.openxmlformats.org/drawingml/2006/main">
            <a:r>
              <a:t/>
            </a:r>
          </a:p>
          <a:p xmlns:a="http://schemas.openxmlformats.org/drawingml/2006/main">
            <a:r>
              <a:t>SOURCE</a:t>
            </a:r>
          </a:p>
          <a:p xmlns:a="http://schemas.openxmlformats.org/drawingml/2006/main">
            <a:r>
              <a:t>Exact question, intent, evidence examples and starting action: https://github.com/Discla1mer/NoFries/blob/813c7eea0176ed388d1a1944ce7e7b90278be50f/api/shared/securityGap/ncscProfile.js</a:t>
            </a:r>
          </a:p>
          <a:p xmlns:a="http://schemas.openxmlformats.org/drawingml/2006/main">
            <a:r>
              <a:t>Relevant upstream guidance: https://www.ncsc.govt.nz/protect-your-organisation/summary/</a:t>
            </a:r>
          </a:p>
          <a:p xmlns:a="http://schemas.openxmlformats.org/drawingml/2006/main">
            <a:r>
              <a:t>Question catalogue and exact ordering: https://github.com/Discla1mer/NoFries/blob/813c7eea0176ed388d1a1944ce7e7b90278be50f/api/shared/securityGap/ncscProfile.js</a:t>
            </a:r>
          </a:p>
          <a:p xmlns:a="http://schemas.openxmlformats.org/drawingml/2006/main">
            <a:r>
              <a:t>Accepted profile and limitations: https://github.com/Discla1mer/NoFries/blob/813c7eea0176ed388d1a1944ce7e7b90278be50f/api/shared/assessmentEngine/ncscAcceptedFrameworkProfile.js</a:t>
            </a:r>
          </a:p>
          <a:p xmlns:a="http://schemas.openxmlformats.org/drawingml/2006/main">
            <a:r>
              <a:t>Question metadata projection: https://github.com/Discla1mer/NoFries/blob/813c7eea0176ed388d1a1944ce7e7b90278be50f/api/shared/ncscQuestionnaireMetadata.js</a:t>
            </a:r>
          </a:p>
          <a:p xmlns:a="http://schemas.openxmlformats.org/drawingml/2006/main">
            <a:r>
              <a:t>Current customer colour and type system: https://github.com/Discla1mer/NoFries/blob/813c7eea0176ed388d1a1944ce7e7b90278be50f/style.css</a:t>
            </a:r>
          </a:p>
          <a:p xmlns:a="http://schemas.openxmlformats.org/drawingml/2006/main">
            <a:r>
              <a:t>Original No Fries logo: https://github.com/Discla1mer/NoFries/blob/813c7eea0176ed388d1a1944ce7e7b90278be50f/images/nofrieslogo.png</a:t>
            </a:r>
          </a:p>
          <a:p xmlns:a="http://schemas.openxmlformats.org/drawingml/2006/main">
            <a:r>
              <a:t>Inter font: https://github.com/google/fonts/tree/main/ofl/inter (SIL Open Font License).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QUESTION 12 OF 14</a:t>
            </a:r>
          </a:p>
          <a:p xmlns:a="http://schemas.openxmlformats.org/drawingml/2006/main">
            <a:r>
              <a:t>ID: NF-NCSC-CC-SV-01-Q1</a:t>
            </a:r>
          </a:p>
          <a:p xmlns:a="http://schemas.openxmlformats.org/drawingml/2006/main">
            <a:r>
              <a:t>Function: Prevent and Protect</a:t>
            </a:r>
          </a:p>
          <a:p xmlns:a="http://schemas.openxmlformats.org/drawingml/2006/main">
            <a:r>
              <a:t>Exact questionnaire prompt: Do payment, credential, account-recovery and sensitive-data changes require a trusted verification step outside the original request?</a:t>
            </a:r>
          </a:p>
          <a:p xmlns:a="http://schemas.openxmlformats.org/drawingml/2006/main">
            <a:r>
              <a:t/>
            </a:r>
          </a:p>
          <a:p xmlns:a="http://schemas.openxmlformats.org/drawingml/2006/main">
            <a:r>
              <a:t>PLAIN-LANGUAGE EXPLANATION</a:t>
            </a:r>
          </a:p>
          <a:p xmlns:a="http://schemas.openxmlformats.org/drawingml/2006/main">
            <a:r>
              <a:t>High-impact requests need a separate check through a trusted contact path before anyone changes money, access or sensitive data.</a:t>
            </a:r>
          </a:p>
          <a:p xmlns:a="http://schemas.openxmlformats.org/drawingml/2006/main">
            <a:r>
              <a:t/>
            </a:r>
          </a:p>
          <a:p xmlns:a="http://schemas.openxmlformats.org/drawingml/2006/main">
            <a:r>
              <a:t>WHY IT MATTERS</a:t>
            </a:r>
          </a:p>
          <a:p xmlns:a="http://schemas.openxmlformats.org/drawingml/2006/main">
            <a:r>
              <a:t>A convincing email or stolen account can make a fraudulent request look routine.</a:t>
            </a:r>
          </a:p>
          <a:p xmlns:a="http://schemas.openxmlformats.org/drawingml/2006/main">
            <a:r>
              <a:t>Accepted catalogue intent: Stop stolen accounts, impersonation and social engineering from turning a message or helpdesk request into a high-impact change.</a:t>
            </a:r>
          </a:p>
          <a:p xmlns:a="http://schemas.openxmlformats.org/drawingml/2006/main">
            <a:r>
              <a:t/>
            </a:r>
          </a:p>
          <a:p xmlns:a="http://schemas.openxmlformats.org/drawingml/2006/main">
            <a:r>
              <a:t>FACILITATION</a:t>
            </a:r>
          </a:p>
          <a:p xmlns:a="http://schemas.openxmlformats.org/drawingml/2006/main">
            <a:r>
              <a:t>Ask what happens when a supplier asks to change bank details, a user requests an MFA reset, or someone asks for sensitive information. Ask whether the verification path comes from independently held records rather than the original message. Include helpdesk, finance and urgent executive requests.</a:t>
            </a:r>
          </a:p>
          <a:p xmlns:a="http://schemas.openxmlformats.org/drawingml/2006/main">
            <a:r>
              <a:t/>
            </a:r>
          </a:p>
          <a:p xmlns:a="http://schemas.openxmlformats.org/drawingml/2006/main">
            <a:r>
              <a:t>INTERPRETING THE ANSWER</a:t>
            </a:r>
          </a:p>
          <a:p xmlns:a="http://schemas.openxmlformats.org/drawingml/2006/main">
            <a:r>
              <a:t>Replying to the same email or calling a number supplied in it may leave the attacker in control of both steps. Discuss repeatable procedures and exception handling rather than relying on staff judgement alone. This checks the organisation's process and does not perform a payment or credential change.</a:t>
            </a:r>
          </a:p>
          <a:p xmlns:a="http://schemas.openxmlformats.org/drawingml/2006/main">
            <a:r>
              <a:t>If the customer lacks enough information, use Unknown and agree who will check. If they claim Not applicable, ask for a scope-specific rationale and make clear that it remains pending review. Avoid choosing Yes simply because a product is installed or a provider is responsible.</a:t>
            </a:r>
          </a:p>
          <a:p xmlns:a="http://schemas.openxmlformats.org/drawingml/2006/main">
            <a:r>
              <a:t/>
            </a:r>
          </a:p>
          <a:p xmlns:a="http://schemas.openxmlformats.org/drawingml/2006/main">
            <a:r>
              <a:t>ILLUSTRATIVE ANSWER</a:t>
            </a:r>
          </a:p>
          <a:p xmlns:a="http://schemas.openxmlformats.org/drawingml/2006/main">
            <a:r>
              <a:t>Example answer: No: “We change supplier bank details from the reply email. We don’t verify through a number we already hold.”</a:t>
            </a:r>
          </a:p>
          <a:p xmlns:a="http://schemas.openxmlformats.org/drawingml/2006/main">
            <a:r>
              <a:t>Ask what differs in this customer’s environment. Do not copy the example as their answer.</a:t>
            </a:r>
          </a:p>
          <a:p xmlns:a="http://schemas.openxmlformats.org/drawingml/2006/main">
            <a:r>
              <a:t/>
            </a:r>
          </a:p>
          <a:p xmlns:a="http://schemas.openxmlformats.org/drawingml/2006/main">
            <a:r>
              <a:t>EVIDENCE EXAMPLES</a:t>
            </a:r>
          </a:p>
          <a:p xmlns:a="http://schemas.openxmlformats.org/drawingml/2006/main">
            <a:r>
              <a:t>- Payment-change procedure</a:t>
            </a:r>
          </a:p>
          <a:p xmlns:a="http://schemas.openxmlformats.org/drawingml/2006/main">
            <a:r>
              <a:t>- Helpdesk identity check</a:t>
            </a:r>
          </a:p>
          <a:p xmlns:a="http://schemas.openxmlformats.org/drawingml/2006/main">
            <a:r>
              <a:t>- Out-of-band approval record</a:t>
            </a:r>
          </a:p>
          <a:p xmlns:a="http://schemas.openxmlformats.org/drawingml/2006/main">
            <a:r>
              <a:t>- Exception or fraud test</a:t>
            </a:r>
          </a:p>
          <a:p xmlns:a="http://schemas.openxmlformats.org/drawingml/2006/main">
            <a:r>
              <a:t>Ask what the evidence covers, its date, the responsible owner and any exceptions. A document or screenshot supports the conversation but does not establish complete or independently tested coverage. Review evidence safely using the customer’s agreed process. Evidence examples do not imply an upload function.</a:t>
            </a:r>
          </a:p>
          <a:p xmlns:a="http://schemas.openxmlformats.org/drawingml/2006/main">
            <a:r>
              <a:t/>
            </a:r>
          </a:p>
          <a:p xmlns:a="http://schemas.openxmlformats.org/drawingml/2006/main">
            <a:r>
              <a:t>POSSIBLE NEXT STEP</a:t>
            </a:r>
          </a:p>
          <a:p xmlns:a="http://schemas.openxmlformats.org/drawingml/2006/main">
            <a:r>
              <a:t>Agree trusted verification steps for payment, recovery and sensitive-data requests. Rehearse a plausible fraudulent request and document how staff escalate pressure to bypass the process.</a:t>
            </a:r>
          </a:p>
          <a:p xmlns:a="http://schemas.openxmlformats.org/drawingml/2006/main">
            <a:r>
              <a:t>Accepted starting action: Require out-of-band verification for payment-detail, password-reset, MFA-reset and sensitive-data requests.</a:t>
            </a:r>
          </a:p>
          <a:p xmlns:a="http://schemas.openxmlformats.org/drawingml/2006/main">
            <a:r>
              <a:t>If a gap remains, agree a named owner, due date, evidence of completion and review date in the facilitated workshop record. Suggested actions follow catalogue order and are not a calculated risk ranking.</a:t>
            </a:r>
          </a:p>
          <a:p xmlns:a="http://schemas.openxmlformats.org/drawingml/2006/main">
            <a:r>
              <a:t/>
            </a:r>
          </a:p>
          <a:p xmlns:a="http://schemas.openxmlformats.org/drawingml/2006/main">
            <a:r>
              <a:t>Facilitator boundary: this is a concise No Fries implementation assessment. It does not assess every cumulative Minimum Standard requirement, establish CS-CMM attainment, certify compliance, provide an official NCSC score, or predict a breach. The customer chooses the answer. Examples are illustrative and must not pre-fill the customer’s response. Keep discussion within the agreed systems, services and date. If evidence is unavailable, record the follow-up in the workshop notes. Do not claim an evidence upload or persisted action-plan feature. Do not collect passwords, tokens, recovery codes or unnecessary personal data.</a:t>
            </a:r>
          </a:p>
          <a:p xmlns:a="http://schemas.openxmlformats.org/drawingml/2006/main">
            <a:r>
              <a:t/>
            </a:r>
          </a:p>
          <a:p xmlns:a="http://schemas.openxmlformats.org/drawingml/2006/main">
            <a:r>
              <a:t>SOURCE</a:t>
            </a:r>
          </a:p>
          <a:p xmlns:a="http://schemas.openxmlformats.org/drawingml/2006/main">
            <a:r>
              <a:t>Exact question, intent, evidence examples and starting action: https://github.com/Discla1mer/NoFries/blob/813c7eea0176ed388d1a1944ce7e7b90278be50f/api/shared/securityGap/ncscProfile.js</a:t>
            </a:r>
          </a:p>
          <a:p xmlns:a="http://schemas.openxmlformats.org/drawingml/2006/main">
            <a:r>
              <a:t>Relevant upstream guidance: https://www.ncsc.govt.nz/protect-your-organisation/summary/</a:t>
            </a:r>
          </a:p>
          <a:p xmlns:a="http://schemas.openxmlformats.org/drawingml/2006/main">
            <a:r>
              <a:t>Question catalogue and exact ordering: https://github.com/Discla1mer/NoFries/blob/813c7eea0176ed388d1a1944ce7e7b90278be50f/api/shared/securityGap/ncscProfile.js</a:t>
            </a:r>
          </a:p>
          <a:p xmlns:a="http://schemas.openxmlformats.org/drawingml/2006/main">
            <a:r>
              <a:t>Accepted profile and limitations: https://github.com/Discla1mer/NoFries/blob/813c7eea0176ed388d1a1944ce7e7b90278be50f/api/shared/assessmentEngine/ncscAcceptedFrameworkProfile.js</a:t>
            </a:r>
          </a:p>
          <a:p xmlns:a="http://schemas.openxmlformats.org/drawingml/2006/main">
            <a:r>
              <a:t>Question metadata projection: https://github.com/Discla1mer/NoFries/blob/813c7eea0176ed388d1a1944ce7e7b90278be50f/api/shared/ncscQuestionnaireMetadata.js</a:t>
            </a:r>
          </a:p>
          <a:p xmlns:a="http://schemas.openxmlformats.org/drawingml/2006/main">
            <a:r>
              <a:t>Current customer colour and type system: https://github.com/Discla1mer/NoFries/blob/813c7eea0176ed388d1a1944ce7e7b90278be50f/style.css</a:t>
            </a:r>
          </a:p>
          <a:p xmlns:a="http://schemas.openxmlformats.org/drawingml/2006/main">
            <a:r>
              <a:t>Original No Fries logo: https://github.com/Discla1mer/NoFries/blob/813c7eea0176ed388d1a1944ce7e7b90278be50f/images/nofrieslogo.png</a:t>
            </a:r>
          </a:p>
          <a:p xmlns:a="http://schemas.openxmlformats.org/drawingml/2006/main">
            <a:r>
              <a:t>Inter font: https://github.com/google/fonts/tree/main/ofl/inter (SIL Open Font License).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QUESTION 13 OF 14</a:t>
            </a:r>
          </a:p>
          <a:p xmlns:a="http://schemas.openxmlformats.org/drawingml/2006/main">
            <a:r>
              <a:t>ID: NF-NCSC-CC-AC-01-Q1</a:t>
            </a:r>
          </a:p>
          <a:p xmlns:a="http://schemas.openxmlformats.org/drawingml/2006/main">
            <a:r>
              <a:t>Function: Prevent and Protect</a:t>
            </a:r>
          </a:p>
          <a:p xmlns:a="http://schemas.openxmlformats.org/drawingml/2006/main">
            <a:r>
              <a:t>Exact questionnaire prompt: Are unapproved or risky applications, scripts, macros and file types restricted on systems where they could cause material harm?</a:t>
            </a:r>
          </a:p>
          <a:p xmlns:a="http://schemas.openxmlformats.org/drawingml/2006/main">
            <a:r>
              <a:t/>
            </a:r>
          </a:p>
          <a:p xmlns:a="http://schemas.openxmlformats.org/drawingml/2006/main">
            <a:r>
              <a:t>PLAIN-LANGUAGE EXPLANATION</a:t>
            </a:r>
          </a:p>
          <a:p xmlns:a="http://schemas.openxmlformats.org/drawingml/2006/main">
            <a:r>
              <a:t>Systems limit unapproved applications, scripts, macros and risky file types where they could do harm.</a:t>
            </a:r>
          </a:p>
          <a:p xmlns:a="http://schemas.openxmlformats.org/drawingml/2006/main">
            <a:r>
              <a:t/>
            </a:r>
          </a:p>
          <a:p xmlns:a="http://schemas.openxmlformats.org/drawingml/2006/main">
            <a:r>
              <a:t>WHY IT MATTERS</a:t>
            </a:r>
          </a:p>
          <a:p xmlns:a="http://schemas.openxmlformats.org/drawingml/2006/main">
            <a:r>
              <a:t>Controlling what can run can reduce opportunities for malicious software.</a:t>
            </a:r>
          </a:p>
          <a:p xmlns:a="http://schemas.openxmlformats.org/drawingml/2006/main">
            <a:r>
              <a:t>Accepted catalogue intent: Reduce malware and ransomware execution by controlling what can run, starting with high-impact users and systems.</a:t>
            </a:r>
          </a:p>
          <a:p xmlns:a="http://schemas.openxmlformats.org/drawingml/2006/main">
            <a:r>
              <a:t/>
            </a:r>
          </a:p>
          <a:p xmlns:a="http://schemas.openxmlformats.org/drawingml/2006/main">
            <a:r>
              <a:t>FACILITATION</a:t>
            </a:r>
          </a:p>
          <a:p xmlns:a="http://schemas.openxmlformats.org/drawingml/2006/main">
            <a:r>
              <a:t>Explain applications as programs, scripts as automated instructions and macros as small programs inside documents. Ask what can run on finance, administrator and executive devices, how policies restrict it, and how the team approves exceptions. Review a pilot or blocked-event sample.</a:t>
            </a:r>
          </a:p>
          <a:p xmlns:a="http://schemas.openxmlformats.org/drawingml/2006/main">
            <a:r>
              <a:t/>
            </a:r>
          </a:p>
          <a:p xmlns:a="http://schemas.openxmlformats.org/drawingml/2006/main">
            <a:r>
              <a:t>INTERPRETING THE ANSWER</a:t>
            </a:r>
          </a:p>
          <a:p xmlns:a="http://schemas.openxmlformats.org/drawingml/2006/main">
            <a:r>
              <a:t>Antivirus and application control are related safeguards, but a product label does not establish the restrictions this question asks about. Check coverage and enforcement mode. A monitored pilot can identify compatibility issues but does not establish broad enforcement.</a:t>
            </a:r>
          </a:p>
          <a:p xmlns:a="http://schemas.openxmlformats.org/drawingml/2006/main">
            <a:r>
              <a:t>If the customer lacks enough information, use Unknown and agree who will check. If they claim Not applicable, ask for a scope-specific rationale and make clear that it remains pending review. Avoid choosing Yes simply because a product is installed or a provider is responsible.</a:t>
            </a:r>
          </a:p>
          <a:p xmlns:a="http://schemas.openxmlformats.org/drawingml/2006/main">
            <a:r>
              <a:t/>
            </a:r>
          </a:p>
          <a:p xmlns:a="http://schemas.openxmlformats.org/drawingml/2006/main">
            <a:r>
              <a:t>ILLUSTRATIVE ANSWER</a:t>
            </a:r>
          </a:p>
          <a:p xmlns:a="http://schemas.openxmlformats.org/drawingml/2006/main">
            <a:r>
              <a:t>Example answer: Partial: “We restrict some macros and applications. Scripts and exceptions on high-impact devices still need review.”</a:t>
            </a:r>
          </a:p>
          <a:p xmlns:a="http://schemas.openxmlformats.org/drawingml/2006/main">
            <a:r>
              <a:t>Ask what differs in this customer’s environment. Do not copy the example as their answer.</a:t>
            </a:r>
          </a:p>
          <a:p xmlns:a="http://schemas.openxmlformats.org/drawingml/2006/main">
            <a:r>
              <a:t/>
            </a:r>
          </a:p>
          <a:p xmlns:a="http://schemas.openxmlformats.org/drawingml/2006/main">
            <a:r>
              <a:t>EVIDENCE EXAMPLES</a:t>
            </a:r>
          </a:p>
          <a:p xmlns:a="http://schemas.openxmlformats.org/drawingml/2006/main">
            <a:r>
              <a:t>- Application control policy</a:t>
            </a:r>
          </a:p>
          <a:p xmlns:a="http://schemas.openxmlformats.org/drawingml/2006/main">
            <a:r>
              <a:t>- Endpoint policy export</a:t>
            </a:r>
          </a:p>
          <a:p xmlns:a="http://schemas.openxmlformats.org/drawingml/2006/main">
            <a:r>
              <a:t>- Pilot results</a:t>
            </a:r>
          </a:p>
          <a:p xmlns:a="http://schemas.openxmlformats.org/drawingml/2006/main">
            <a:r>
              <a:t>- Blocked application events</a:t>
            </a:r>
          </a:p>
          <a:p xmlns:a="http://schemas.openxmlformats.org/drawingml/2006/main">
            <a:r>
              <a:t>Ask what the evidence covers, its date, the responsible owner and any exceptions. A document or screenshot supports the conversation but does not establish complete or independently tested coverage. Review evidence safely using the customer’s agreed process. Evidence examples do not imply an upload function.</a:t>
            </a:r>
          </a:p>
          <a:p xmlns:a="http://schemas.openxmlformats.org/drawingml/2006/main">
            <a:r>
              <a:t/>
            </a:r>
          </a:p>
          <a:p xmlns:a="http://schemas.openxmlformats.org/drawingml/2006/main">
            <a:r>
              <a:t>POSSIBLE NEXT STEP</a:t>
            </a:r>
          </a:p>
          <a:p xmlns:a="http://schemas.openxmlformats.org/drawingml/2006/main">
            <a:r>
              <a:t>Agree a controlled pilot on appropriate high-impact systems, review legitimate business needs and exceptions, and define how the team will verify safe enforcement before wider use.</a:t>
            </a:r>
          </a:p>
          <a:p xmlns:a="http://schemas.openxmlformats.org/drawingml/2006/main">
            <a:r>
              <a:t>Accepted starting action: Pilot monitored application control on finance, administrator and executive devices before wider enforcement.</a:t>
            </a:r>
          </a:p>
          <a:p xmlns:a="http://schemas.openxmlformats.org/drawingml/2006/main">
            <a:r>
              <a:t>If a gap remains, agree a named owner, due date, evidence of completion and review date in the facilitated workshop record. Suggested actions follow catalogue order and are not a calculated risk ranking.</a:t>
            </a:r>
          </a:p>
          <a:p xmlns:a="http://schemas.openxmlformats.org/drawingml/2006/main">
            <a:r>
              <a:t/>
            </a:r>
          </a:p>
          <a:p xmlns:a="http://schemas.openxmlformats.org/drawingml/2006/main">
            <a:r>
              <a:t>Facilitator boundary: this is a concise No Fries implementation assessment. It does not assess every cumulative Minimum Standard requirement, establish CS-CMM attainment, certify compliance, provide an official NCSC score, or predict a breach. The customer chooses the answer. Examples are illustrative and must not pre-fill the customer’s response. Keep discussion within the agreed systems, services and date. If evidence is unavailable, record the follow-up in the workshop notes. Do not claim an evidence upload or persisted action-plan feature. Do not collect passwords, tokens, recovery codes or unnecessary personal data.</a:t>
            </a:r>
          </a:p>
          <a:p xmlns:a="http://schemas.openxmlformats.org/drawingml/2006/main">
            <a:r>
              <a:t/>
            </a:r>
          </a:p>
          <a:p xmlns:a="http://schemas.openxmlformats.org/drawingml/2006/main">
            <a:r>
              <a:t>SOURCE</a:t>
            </a:r>
          </a:p>
          <a:p xmlns:a="http://schemas.openxmlformats.org/drawingml/2006/main">
            <a:r>
              <a:t>Exact question, intent, evidence examples and starting action: https://github.com/Discla1mer/NoFries/blob/813c7eea0176ed388d1a1944ce7e7b90278be50f/api/shared/securityGap/ncscProfile.js</a:t>
            </a:r>
          </a:p>
          <a:p xmlns:a="http://schemas.openxmlformats.org/drawingml/2006/main">
            <a:r>
              <a:t>Relevant upstream guidance: https://www.ncsc.govt.nz/protect-your-organisation/summary/</a:t>
            </a:r>
          </a:p>
          <a:p xmlns:a="http://schemas.openxmlformats.org/drawingml/2006/main">
            <a:r>
              <a:t>Question catalogue and exact ordering: https://github.com/Discla1mer/NoFries/blob/813c7eea0176ed388d1a1944ce7e7b90278be50f/api/shared/securityGap/ncscProfile.js</a:t>
            </a:r>
          </a:p>
          <a:p xmlns:a="http://schemas.openxmlformats.org/drawingml/2006/main">
            <a:r>
              <a:t>Accepted profile and limitations: https://github.com/Discla1mer/NoFries/blob/813c7eea0176ed388d1a1944ce7e7b90278be50f/api/shared/assessmentEngine/ncscAcceptedFrameworkProfile.js</a:t>
            </a:r>
          </a:p>
          <a:p xmlns:a="http://schemas.openxmlformats.org/drawingml/2006/main">
            <a:r>
              <a:t>Question metadata projection: https://github.com/Discla1mer/NoFries/blob/813c7eea0176ed388d1a1944ce7e7b90278be50f/api/shared/ncscQuestionnaireMetadata.js</a:t>
            </a:r>
          </a:p>
          <a:p xmlns:a="http://schemas.openxmlformats.org/drawingml/2006/main">
            <a:r>
              <a:t>Current customer colour and type system: https://github.com/Discla1mer/NoFries/blob/813c7eea0176ed388d1a1944ce7e7b90278be50f/style.css</a:t>
            </a:r>
          </a:p>
          <a:p xmlns:a="http://schemas.openxmlformats.org/drawingml/2006/main">
            <a:r>
              <a:t>Original No Fries logo: https://github.com/Discla1mer/NoFries/blob/813c7eea0176ed388d1a1944ce7e7b90278be50f/images/nofrieslogo.png</a:t>
            </a:r>
          </a:p>
          <a:p xmlns:a="http://schemas.openxmlformats.org/drawingml/2006/main">
            <a:r>
              <a:t>Inter font: https://github.com/google/fonts/tree/main/ofl/inter (SIL Open Font License).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QUESTION 14 OF 14</a:t>
            </a:r>
          </a:p>
          <a:p xmlns:a="http://schemas.openxmlformats.org/drawingml/2006/main">
            <a:r>
              <a:t>ID: NF-NCSC-CC-NS-01-Q1</a:t>
            </a:r>
          </a:p>
          <a:p xmlns:a="http://schemas.openxmlformats.org/drawingml/2006/main">
            <a:r>
              <a:t>Function: Detect and Contain</a:t>
            </a:r>
          </a:p>
          <a:p xmlns:a="http://schemas.openxmlformats.org/drawingml/2006/main">
            <a:r>
              <a:t>Exact questionnaire prompt: Are users, guests, administration, backups and important services separated so one compromise cannot freely spread?</a:t>
            </a:r>
          </a:p>
          <a:p xmlns:a="http://schemas.openxmlformats.org/drawingml/2006/main">
            <a:r>
              <a:t/>
            </a:r>
          </a:p>
          <a:p xmlns:a="http://schemas.openxmlformats.org/drawingml/2006/main">
            <a:r>
              <a:t>PLAIN-LANGUAGE EXPLANATION</a:t>
            </a:r>
          </a:p>
          <a:p xmlns:a="http://schemas.openxmlformats.org/drawingml/2006/main">
            <a:r>
              <a:t>Guest devices, everyday users, administration, backups and important services have boundaries that limit access between them.</a:t>
            </a:r>
          </a:p>
          <a:p xmlns:a="http://schemas.openxmlformats.org/drawingml/2006/main">
            <a:r>
              <a:t/>
            </a:r>
          </a:p>
          <a:p xmlns:a="http://schemas.openxmlformats.org/drawingml/2006/main">
            <a:r>
              <a:t>WHY IT MATTERS</a:t>
            </a:r>
          </a:p>
          <a:p xmlns:a="http://schemas.openxmlformats.org/drawingml/2006/main">
            <a:r>
              <a:t>A compromised device should have fewer routes to reach other important systems.</a:t>
            </a:r>
          </a:p>
          <a:p xmlns:a="http://schemas.openxmlformats.org/drawingml/2006/main">
            <a:r>
              <a:t>Accepted catalogue intent: Limit attacker movement and make sensitive systems easier to monitor, isolate and protect.</a:t>
            </a:r>
          </a:p>
          <a:p xmlns:a="http://schemas.openxmlformats.org/drawingml/2006/main">
            <a:r>
              <a:t/>
            </a:r>
          </a:p>
          <a:p xmlns:a="http://schemas.openxmlformats.org/drawingml/2006/main">
            <a:r>
              <a:t>FACILITATION</a:t>
            </a:r>
          </a:p>
          <a:p xmlns:a="http://schemas.openxmlformats.org/drawingml/2006/main">
            <a:r>
              <a:t>Ask the team to explain the network and trust boundaries in everyday terms. Include office networks, remote access, cloud administration, backups and critical services. Ask which paths exist between these areas and whether anyone has tested the intended restrictions.</a:t>
            </a:r>
          </a:p>
          <a:p xmlns:a="http://schemas.openxmlformats.org/drawingml/2006/main">
            <a:r>
              <a:t/>
            </a:r>
          </a:p>
          <a:p xmlns:a="http://schemas.openxmlformats.org/drawingml/2006/main">
            <a:r>
              <a:t>INTERPRETING THE ANSWER</a:t>
            </a:r>
          </a:p>
          <a:p xmlns:a="http://schemas.openxmlformats.org/drawingml/2006/main">
            <a:r>
              <a:t>Separate network names or VLANs do not by themselves show that access is restricted. Compare the diagram with firewall or access policy and a test result. In a cloud-first organisation, discuss identity and service access boundaries before assuming this question is not applicable.</a:t>
            </a:r>
          </a:p>
          <a:p xmlns:a="http://schemas.openxmlformats.org/drawingml/2006/main">
            <a:r>
              <a:t>If the customer lacks enough information, use Unknown and agree who will check. If they claim Not applicable, ask for a scope-specific rationale and make clear that it remains pending review. Avoid choosing Yes simply because a product is installed or a provider is responsible.</a:t>
            </a:r>
          </a:p>
          <a:p xmlns:a="http://schemas.openxmlformats.org/drawingml/2006/main">
            <a:r>
              <a:t/>
            </a:r>
          </a:p>
          <a:p xmlns:a="http://schemas.openxmlformats.org/drawingml/2006/main">
            <a:r>
              <a:t>ILLUSTRATIVE ANSWER</a:t>
            </a:r>
          </a:p>
          <a:p xmlns:a="http://schemas.openxmlformats.org/drawingml/2006/main">
            <a:r>
              <a:t>Example answer: Partial: “Guest Wi-Fi is separate. Staff devices can still reach administration and backup services more widely than necessary.”</a:t>
            </a:r>
          </a:p>
          <a:p xmlns:a="http://schemas.openxmlformats.org/drawingml/2006/main">
            <a:r>
              <a:t>Ask what differs in this customer’s environment. Do not copy the example as their answer.</a:t>
            </a:r>
          </a:p>
          <a:p xmlns:a="http://schemas.openxmlformats.org/drawingml/2006/main">
            <a:r>
              <a:t/>
            </a:r>
          </a:p>
          <a:p xmlns:a="http://schemas.openxmlformats.org/drawingml/2006/main">
            <a:r>
              <a:t>EVIDENCE EXAMPLES</a:t>
            </a:r>
          </a:p>
          <a:p xmlns:a="http://schemas.openxmlformats.org/drawingml/2006/main">
            <a:r>
              <a:t>- Network and trust diagram</a:t>
            </a:r>
          </a:p>
          <a:p xmlns:a="http://schemas.openxmlformats.org/drawingml/2006/main">
            <a:r>
              <a:t>- Firewall or access policy</a:t>
            </a:r>
          </a:p>
          <a:p xmlns:a="http://schemas.openxmlformats.org/drawingml/2006/main">
            <a:r>
              <a:t>- Segmentation test</a:t>
            </a:r>
          </a:p>
          <a:p xmlns:a="http://schemas.openxmlformats.org/drawingml/2006/main">
            <a:r>
              <a:t>- Remote administration path</a:t>
            </a:r>
          </a:p>
          <a:p xmlns:a="http://schemas.openxmlformats.org/drawingml/2006/main">
            <a:r>
              <a:t>Ask what the evidence covers, its date, the responsible owner and any exceptions. A document or screenshot supports the conversation but does not establish complete or independently tested coverage. Review evidence safely using the customer’s agreed process. Evidence examples do not imply an upload function.</a:t>
            </a:r>
          </a:p>
          <a:p xmlns:a="http://schemas.openxmlformats.org/drawingml/2006/main">
            <a:r>
              <a:t/>
            </a:r>
          </a:p>
          <a:p xmlns:a="http://schemas.openxmlformats.org/drawingml/2006/main">
            <a:r>
              <a:t>POSSIBLE NEXT STEP</a:t>
            </a:r>
          </a:p>
          <a:p xmlns:a="http://schemas.openxmlformats.org/drawingml/2006/main">
            <a:r>
              <a:t>Name the highest-impact unrestricted paths, assign a technical owner and agree safe boundary tests. Record any proposed exclusion with a scope-based rationale for review rather than treating it as approved.</a:t>
            </a:r>
          </a:p>
          <a:p xmlns:a="http://schemas.openxmlformats.org/drawingml/2006/main">
            <a:r>
              <a:t>Accepted starting action: Separate guest, user, administration, backup and critical-service access and test the intended boundaries.</a:t>
            </a:r>
          </a:p>
          <a:p xmlns:a="http://schemas.openxmlformats.org/drawingml/2006/main">
            <a:r>
              <a:t>If a gap remains, agree a named owner, due date, evidence of completion and review date in the facilitated workshop record. Suggested actions follow catalogue order and are not a calculated risk ranking.</a:t>
            </a:r>
          </a:p>
          <a:p xmlns:a="http://schemas.openxmlformats.org/drawingml/2006/main">
            <a:r>
              <a:t/>
            </a:r>
          </a:p>
          <a:p xmlns:a="http://schemas.openxmlformats.org/drawingml/2006/main">
            <a:r>
              <a:t>Facilitator boundary: this is a concise No Fries implementation assessment. It does not assess every cumulative Minimum Standard requirement, establish CS-CMM attainment, certify compliance, provide an official NCSC score, or predict a breach. The customer chooses the answer. Examples are illustrative and must not pre-fill the customer’s response. Keep discussion within the agreed systems, services and date. If evidence is unavailable, record the follow-up in the workshop notes. Do not claim an evidence upload or persisted action-plan feature. Do not collect passwords, tokens, recovery codes or unnecessary personal data.</a:t>
            </a:r>
          </a:p>
          <a:p xmlns:a="http://schemas.openxmlformats.org/drawingml/2006/main">
            <a:r>
              <a:t/>
            </a:r>
          </a:p>
          <a:p xmlns:a="http://schemas.openxmlformats.org/drawingml/2006/main">
            <a:r>
              <a:t>SOURCE</a:t>
            </a:r>
          </a:p>
          <a:p xmlns:a="http://schemas.openxmlformats.org/drawingml/2006/main">
            <a:r>
              <a:t>Exact question, intent, evidence examples and starting action: https://github.com/Discla1mer/NoFries/blob/813c7eea0176ed388d1a1944ce7e7b90278be50f/api/shared/securityGap/ncscProfile.js</a:t>
            </a:r>
          </a:p>
          <a:p xmlns:a="http://schemas.openxmlformats.org/drawingml/2006/main">
            <a:r>
              <a:t>Relevant upstream guidance: https://www.ncsc.govt.nz/protect-your-organisation/summary/</a:t>
            </a:r>
          </a:p>
          <a:p xmlns:a="http://schemas.openxmlformats.org/drawingml/2006/main">
            <a:r>
              <a:t>Question catalogue and exact ordering: https://github.com/Discla1mer/NoFries/blob/813c7eea0176ed388d1a1944ce7e7b90278be50f/api/shared/securityGap/ncscProfile.js</a:t>
            </a:r>
          </a:p>
          <a:p xmlns:a="http://schemas.openxmlformats.org/drawingml/2006/main">
            <a:r>
              <a:t>Accepted profile and limitations: https://github.com/Discla1mer/NoFries/blob/813c7eea0176ed388d1a1944ce7e7b90278be50f/api/shared/assessmentEngine/ncscAcceptedFrameworkProfile.js</a:t>
            </a:r>
          </a:p>
          <a:p xmlns:a="http://schemas.openxmlformats.org/drawingml/2006/main">
            <a:r>
              <a:t>Question metadata projection: https://github.com/Discla1mer/NoFries/blob/813c7eea0176ed388d1a1944ce7e7b90278be50f/api/shared/ncscQuestionnaireMetadata.js</a:t>
            </a:r>
          </a:p>
          <a:p xmlns:a="http://schemas.openxmlformats.org/drawingml/2006/main">
            <a:r>
              <a:t>Current customer colour and type system: https://github.com/Discla1mer/NoFries/blob/813c7eea0176ed388d1a1944ce7e7b90278be50f/style.css</a:t>
            </a:r>
          </a:p>
          <a:p xmlns:a="http://schemas.openxmlformats.org/drawingml/2006/main">
            <a:r>
              <a:t>Original No Fries logo: https://github.com/Discla1mer/NoFries/blob/813c7eea0176ed388d1a1944ce7e7b90278be50f/images/nofrieslogo.png</a:t>
            </a:r>
          </a:p>
          <a:p xmlns:a="http://schemas.openxmlformats.org/drawingml/2006/main">
            <a:r>
              <a:t>Inter font: https://github.com/google/fonts/tree/main/ofl/inter (SIL Open Font License).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After all questions, review answers and the agreed scope before submission. In the current flow, submission seals the answers. Do not promise post-submission editing. Where the dashboard shows saved results, reopen the acknowledged submission and verify the organisation and scope match the meeting.</a:t>
            </a:r>
          </a:p>
          <a:p xmlns:a="http://schemas.openxmlformats.org/drawingml/2006/main">
            <a:r>
              <a:t/>
            </a:r>
          </a:p>
          <a:p xmlns:a="http://schemas.openxmlformats.org/drawingml/2006/main">
            <a:r>
              <a:t>Keep four measures separate. The server supplies implementation attainment as a lower/upper percentage range. Unknown answers and pending N/A claims remain uncertainty. The range is not a probability of breach. Completion describes answered items and must not be read as implementation. Supporting evidence confidence is not assessed by the current saved-assessment store, which retains not_provided evidence. The evaluator does not currently calculate risk priority and the submitted view has no trend comparison.</a:t>
            </a:r>
          </a:p>
          <a:p xmlns:a="http://schemas.openxmlformats.org/drawingml/2006/main">
            <a:r>
              <a:t/>
            </a:r>
          </a:p>
          <a:p xmlns:a="http://schemas.openxmlformats.org/drawingml/2006/main">
            <a:r>
              <a:t>Use the saved question/domain detail to explain which answers contribute and what is still unresolved. Do not invent percentages, use an illustrative score as a customer result, or replace saved arithmetic with a slide calculation. Evidence examples and suggested actions are guidance rather than a completed audit or automatically created action plan.</a:t>
            </a:r>
          </a:p>
          <a:p xmlns:a="http://schemas.openxmlformats.org/drawingml/2006/main">
            <a:r>
              <a:t/>
            </a:r>
          </a:p>
          <a:p xmlns:a="http://schemas.openxmlformats.org/drawingml/2006/main">
            <a:r>
              <a:t>Facilitator boundary: this is a concise No Fries implementation assessment. It does not assess every cumulative Minimum Standard requirement, establish CS-CMM attainment, certify compliance, provide an official NCSC score, or predict a breach. The customer chooses the answer. Examples are illustrative and must not pre-fill the customer’s response. Keep discussion within the agreed systems, services and date. If evidence is unavailable, record the follow-up in the workshop notes. Do not claim an evidence upload or persisted action-plan feature. Do not collect passwords, tokens, recovery codes or unnecessary personal data.</a:t>
            </a:r>
          </a:p>
          <a:p xmlns:a="http://schemas.openxmlformats.org/drawingml/2006/main">
            <a:r>
              <a:t/>
            </a:r>
          </a:p>
          <a:p xmlns:a="http://schemas.openxmlformats.org/drawingml/2006/main">
            <a:r>
              <a:t>https://github.com/Discla1mer/NoFries/blob/813c7eea0176ed388d1a1944ce7e7b90278be50f/docs/ncsc-results.md</a:t>
            </a:r>
          </a:p>
          <a:p xmlns:a="http://schemas.openxmlformats.org/drawingml/2006/main">
            <a:r>
              <a:t>https://github.com/Discla1mer/NoFries/blob/813c7eea0176ed388d1a1944ce7e7b90278be50f/docs/assessment-explanation.md</a:t>
            </a:r>
          </a:p>
          <a:p xmlns:a="http://schemas.openxmlformats.org/drawingml/2006/main">
            <a:r>
              <a:t>Question catalogue and exact ordering: https://github.com/Discla1mer/NoFries/blob/813c7eea0176ed388d1a1944ce7e7b90278be50f/api/shared/securityGap/ncscProfile.js</a:t>
            </a:r>
          </a:p>
          <a:p xmlns:a="http://schemas.openxmlformats.org/drawingml/2006/main">
            <a:r>
              <a:t>Accepted profile and limitations: https://github.com/Discla1mer/NoFries/blob/813c7eea0176ed388d1a1944ce7e7b90278be50f/api/shared/assessmentEngine/ncscAcceptedFrameworkProfile.js</a:t>
            </a:r>
          </a:p>
          <a:p xmlns:a="http://schemas.openxmlformats.org/drawingml/2006/main">
            <a:r>
              <a:t>Question metadata projection: https://github.com/Discla1mer/NoFries/blob/813c7eea0176ed388d1a1944ce7e7b90278be50f/api/shared/ncscQuestionnaireMetadata.js</a:t>
            </a:r>
          </a:p>
          <a:p xmlns:a="http://schemas.openxmlformats.org/drawingml/2006/main">
            <a:r>
              <a:t>Current customer colour and type system: https://github.com/Discla1mer/NoFries/blob/813c7eea0176ed388d1a1944ce7e7b90278be50f/style.css</a:t>
            </a:r>
          </a:p>
          <a:p xmlns:a="http://schemas.openxmlformats.org/drawingml/2006/main">
            <a:r>
              <a:t>Original No Fries logo: https://github.com/Discla1mer/NoFries/blob/813c7eea0176ed388d1a1944ce7e7b90278be50f/images/nofrieslogo.png</a:t>
            </a:r>
          </a:p>
          <a:p xmlns:a="http://schemas.openxmlformats.org/drawingml/2006/main">
            <a:r>
              <a:t>Inter font: https://github.com/google/fonts/tree/main/ofl/inter (SIL Open Font License).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the meeting with a facilitated plan recorded through the agreed workshop process. The deck does not create or persist dashboard actions. Ask the customer which gaps matter most to their critical services, customers and obligations. Discuss impact, urgency, dependencies and effort with the right owners. Do not treat the questionnaire order as a risk-ranked backlog.</a:t>
            </a:r>
          </a:p>
          <a:p xmlns:a="http://schemas.openxmlformats.org/drawingml/2006/main">
            <a:r>
              <a:t/>
            </a:r>
          </a:p>
          <a:p xmlns:a="http://schemas.openxmlformats.org/drawingml/2006/main">
            <a:r>
              <a:t>For each agreed item, capture the linked question ID, specific gap, action, named owner, due date, evidence needed to show completion and review date. Separate tasks to resolve Unknown from tasks to implement a missing safeguard. Review pending N/A rationales with someone who can assess scope and responsibilities.</a:t>
            </a:r>
          </a:p>
          <a:p xmlns:a="http://schemas.openxmlformats.org/drawingml/2006/main">
            <a:r>
              <a:t/>
            </a:r>
          </a:p>
          <a:p xmlns:a="http://schemas.openxmlformats.org/drawingml/2006/main">
            <a:r>
              <a:t>Example: Question NF-NCSC-MCSS-DR-01-Q1. Gap: no recent restore test. Action: complete a sampled restore of the finance data. Owner: the agreed technical owner. Due date: the date agreed in the meeting. Completion evidence: restore record, elapsed time, result and follow-up. Do not invent a commitment or assign a person without agreement.</a:t>
            </a:r>
          </a:p>
          <a:p xmlns:a="http://schemas.openxmlformats.org/drawingml/2006/main">
            <a:r>
              <a:t/>
            </a:r>
          </a:p>
          <a:p xmlns:a="http://schemas.openxmlformats.org/drawingml/2006/main">
            <a:r>
              <a:t>PRODUCT BOUNDARY</a:t>
            </a:r>
          </a:p>
          <a:p xmlns:a="http://schemas.openxmlformats.org/drawingml/2006/main">
            <a:r>
              <a:t>Evidence uploads, persisted action plans, post-submission editing and general per-question comments are not verified live for this walkthrough. Use the current questionnaire controls only where enabled. Keep evidence references and workshop actions in an agreed separate record. Release work is in progress and must not be described as live without current confirmation. A synchronised slide/question viewer would be a separate product feature.</a:t>
            </a:r>
          </a:p>
          <a:p xmlns:a="http://schemas.openxmlformats.org/drawingml/2006/main">
            <a:r>
              <a:t/>
            </a:r>
          </a:p>
          <a:p xmlns:a="http://schemas.openxmlformats.org/drawingml/2006/main">
            <a:r>
              <a:t>Facilitator boundary: this is a concise No Fries implementation assessment. It does not assess every cumulative Minimum Standard requirement, establish CS-CMM attainment, certify compliance, provide an official NCSC score, or predict a breach. The customer chooses the answer. Examples are illustrative and must not pre-fill the customer’s response. Keep discussion within the agreed systems, services and date. If evidence is unavailable, record the follow-up in the workshop notes. Do not claim an evidence upload or persisted action-plan feature. Do not collect passwords, tokens, recovery codes or unnecessary personal data.</a:t>
            </a:r>
          </a:p>
          <a:p xmlns:a="http://schemas.openxmlformats.org/drawingml/2006/main">
            <a:r>
              <a:t/>
            </a:r>
          </a:p>
          <a:p xmlns:a="http://schemas.openxmlformats.org/drawingml/2006/main">
            <a:r>
              <a:t>Question catalogue and exact ordering: https://github.com/Discla1mer/NoFries/blob/813c7eea0176ed388d1a1944ce7e7b90278be50f/api/shared/securityGap/ncscProfile.js</a:t>
            </a:r>
          </a:p>
          <a:p xmlns:a="http://schemas.openxmlformats.org/drawingml/2006/main">
            <a:r>
              <a:t>Accepted profile and limitations: https://github.com/Discla1mer/NoFries/blob/813c7eea0176ed388d1a1944ce7e7b90278be50f/api/shared/assessmentEngine/ncscAcceptedFrameworkProfile.js</a:t>
            </a:r>
          </a:p>
          <a:p xmlns:a="http://schemas.openxmlformats.org/drawingml/2006/main">
            <a:r>
              <a:t>Question metadata projection: https://github.com/Discla1mer/NoFries/blob/813c7eea0176ed388d1a1944ce7e7b90278be50f/api/shared/ncscQuestionnaireMetadata.js</a:t>
            </a:r>
          </a:p>
          <a:p xmlns:a="http://schemas.openxmlformats.org/drawingml/2006/main">
            <a:r>
              <a:t>Current customer colour and type system: https://github.com/Discla1mer/NoFries/blob/813c7eea0176ed388d1a1944ce7e7b90278be50f/style.css</a:t>
            </a:r>
          </a:p>
          <a:p xmlns:a="http://schemas.openxmlformats.org/drawingml/2006/main">
            <a:r>
              <a:t>Original No Fries logo: https://github.com/Discla1mer/NoFries/blob/813c7eea0176ed388d1a1944ce7e7b90278be50f/images/nofrieslogo.png</a:t>
            </a:r>
          </a:p>
          <a:p xmlns:a="http://schemas.openxmlformats.org/drawingml/2006/main">
            <a:r>
              <a:t>Inter font: https://github.com/google/fonts/tree/main/ofl/inter (SIL Open Font License).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Accepted profile: 2026-09-02.1. Deck question source snapshot: 813c7eea0176ed388d1a1944ce7e7b90278be50f. These questions and NF-NCSC identifiers are No Fries adaptations and interpretations, not official NCSC questions or identifiers. Recorded source verification dates belong to the accepted catalogue. Linked pages can change. This deck does not claim that live pages were reverified for this edition.</a:t>
            </a:r>
          </a:p>
          <a:p xmlns:a="http://schemas.openxmlformats.org/drawingml/2006/main">
            <a:r>
              <a:t/>
            </a:r>
          </a:p>
          <a:p xmlns:a="http://schemas.openxmlformats.org/drawingml/2006/main">
            <a:r>
              <a:t>The accepted source includes a Critical Controls snapshot verified 2026-08-31, with additional guidance verified 2026-09-02. The Minimum Cyber Security Standards 2025 v3 publication-date pin is 2025-10-30. That date is not an NCSC-asserted effective date. No NCSC logos, emblems or imagery are used. The No Fries logo remains the original supplied repository asset.</a:t>
            </a:r>
          </a:p>
          <a:p xmlns:a="http://schemas.openxmlformats.org/drawingml/2006/main">
            <a:r>
              <a:t/>
            </a:r>
          </a:p>
          <a:p xmlns:a="http://schemas.openxmlformats.org/drawingml/2006/main">
            <a:r>
              <a:t>Facilitator boundary: this is a concise No Fries implementation assessment. It does not assess every cumulative Minimum Standard requirement, establish CS-CMM attainment, certify compliance, provide an official NCSC score, or predict a breach. The customer chooses the answer. Examples are illustrative and must not pre-fill the customer’s response. Keep discussion within the agreed systems, services and date. If evidence is unavailable, record the follow-up in the workshop notes. Do not claim an evidence upload or persisted action-plan feature. Do not collect passwords, tokens, recovery codes or unnecessary personal data.</a:t>
            </a:r>
          </a:p>
          <a:p xmlns:a="http://schemas.openxmlformats.org/drawingml/2006/main">
            <a:r>
              <a:t/>
            </a:r>
          </a:p>
          <a:p xmlns:a="http://schemas.openxmlformats.org/drawingml/2006/main">
            <a:r>
              <a:t>Question catalogue and exact ordering: https://github.com/Discla1mer/NoFries/blob/813c7eea0176ed388d1a1944ce7e7b90278be50f/api/shared/securityGap/ncscProfile.js</a:t>
            </a:r>
          </a:p>
          <a:p xmlns:a="http://schemas.openxmlformats.org/drawingml/2006/main">
            <a:r>
              <a:t>Accepted profile and limitations: https://github.com/Discla1mer/NoFries/blob/813c7eea0176ed388d1a1944ce7e7b90278be50f/api/shared/assessmentEngine/ncscAcceptedFrameworkProfile.js</a:t>
            </a:r>
          </a:p>
          <a:p xmlns:a="http://schemas.openxmlformats.org/drawingml/2006/main">
            <a:r>
              <a:t>Question metadata projection: https://github.com/Discla1mer/NoFries/blob/813c7eea0176ed388d1a1944ce7e7b90278be50f/api/shared/ncscQuestionnaireMetadata.js</a:t>
            </a:r>
          </a:p>
          <a:p xmlns:a="http://schemas.openxmlformats.org/drawingml/2006/main">
            <a:r>
              <a:t>Current customer colour and type system: https://github.com/Discla1mer/NoFries/blob/813c7eea0176ed388d1a1944ce7e7b90278be50f/style.css</a:t>
            </a:r>
          </a:p>
          <a:p xmlns:a="http://schemas.openxmlformats.org/drawingml/2006/main">
            <a:r>
              <a:t>Original No Fries logo: https://github.com/Discla1mer/NoFries/blob/813c7eea0176ed388d1a1944ce7e7b90278be50f/images/nofrieslogo.png</a:t>
            </a:r>
          </a:p>
          <a:p xmlns:a="http://schemas.openxmlformats.org/drawingml/2006/main">
            <a:r>
              <a:t>Inter font: https://github.com/google/fonts/tree/main/ofl/inter (SIL Open Font License).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optional section gives customers a starting point for discussing how questionnaire topics relate to selected NZISM references. It does not add a new assessment framework, scoring method or product capability.</a:t>
            </a:r>
          </a:p>
          <a:p xmlns:a="http://schemas.openxmlformats.org/drawingml/2006/main">
            <a:r>
              <a:t/>
            </a:r>
          </a:p>
          <a:p xmlns:a="http://schemas.openxmlformats.org/drawingml/2006/main">
            <a:r>
              <a:t>Selected topic references only. Each link from a No Fries question to an NZISM control is a No Fries interpretation, not exhaustive equivalence or evidence that a control is satisfied. Confirm the actual customer, contractual, system and information-classification requirements. Preserve each control’s classification and MUST/SHOULD wording in a separate detailed assessment. The NCSC-based questionnaire result and scoring remain unchanged and separate. No NZISM compliance percentage, compliance conclusion, accreditation or certification is provided.</a:t>
            </a:r>
          </a:p>
          <a:p xmlns:a="http://schemas.openxmlformats.org/drawingml/2006/main">
            <a:r>
              <a:t/>
            </a:r>
          </a:p>
          <a:p xmlns:a="http://schemas.openxmlformats.org/drawingml/2006/main">
            <a:r>
              <a:t>APPLICABILITY</a:t>
            </a:r>
          </a:p>
          <a:p xmlns:a="http://schemas.openxmlformats.org/drawingml/2006/main">
            <a:r>
              <a:t>NZISM is the government information-assurance and systems-security manual. Its audience includes agencies and their vendors, contractors and consultants. Private organisations may use it as a benchmark, but do not call it a universal legal requirement for New Zealand businesses. Determine applicability from the customer, systems, information and engagement. In government supplier work, obtain the actual contractual and assurance requirements. A supplier relationship alone does not mean that the supplier is NZISM-certified.</a:t>
            </a:r>
          </a:p>
          <a:p xmlns:a="http://schemas.openxmlformats.org/drawingml/2006/main">
            <a:r>
              <a:t/>
            </a:r>
          </a:p>
          <a:p xmlns:a="http://schemas.openxmlformats.org/drawingml/2006/main">
            <a:r>
              <a:t>FACILITATION</a:t>
            </a:r>
          </a:p>
          <a:p xmlns:a="http://schemas.openxmlformats.org/drawingml/2006/main">
            <a:r>
              <a:t>For each relevant topic, record the evidence available and still required, responsible owner, next action and review date. Use statuses such as topic discussed, evidence pending, partially examined or not assessed. A high-level Yes does not establish control satisfaction.</a:t>
            </a:r>
          </a:p>
          <a:p xmlns:a="http://schemas.openxmlformats.org/drawingml/2006/main">
            <a:r>
              <a:t/>
            </a:r>
          </a:p>
          <a:p xmlns:a="http://schemas.openxmlformats.org/drawingml/2006/main">
            <a:r>
              <a:t>IMPORTANT GAPS</a:t>
            </a:r>
          </a:p>
          <a:p xmlns:a="http://schemas.openxmlformats.org/drawingml/2006/main">
            <a:r>
              <a:t>Areas not assessed may include accreditation and formal assurance, security documentation, supplier and cloud assurance, physical and personnel security, cryptography, information classification and specialised technologies. Agree a separate scoped control-level assessment where required.</a:t>
            </a:r>
          </a:p>
          <a:p xmlns:a="http://schemas.openxmlformats.org/drawingml/2006/main">
            <a:r>
              <a:t/>
            </a:r>
          </a:p>
          <a:p xmlns:a="http://schemas.openxmlformats.org/drawingml/2006/main">
            <a:r>
              <a:t>VERSION</a:t>
            </a:r>
          </a:p>
          <a:p xmlns:a="http://schemas.openxmlformats.org/drawingml/2006/main">
            <a:r>
              <a:t>NZISM v3.9, current online edition, updated November 2025. Checked 19 October 2026. The official archive identifies version 3.9 as current and originally published in April 2025. The current online manual is marked November 2025. Do not conflate the original publication date with the current online edition date.</a:t>
            </a:r>
          </a:p>
          <a:p xmlns:a="http://schemas.openxmlformats.org/drawingml/2006/main">
            <a:r>
              <a:t/>
            </a:r>
          </a:p>
          <a:p xmlns:a="http://schemas.openxmlformats.org/drawingml/2006/main">
            <a:r>
              <a:t>SOURCES</a:t>
            </a:r>
          </a:p>
          <a:p xmlns:a="http://schemas.openxmlformats.org/drawingml/2006/main">
            <a:r>
              <a:t>https://nzism.gcsb.govt.nz/about-the-nzism/archive</a:t>
            </a:r>
          </a:p>
          <a:p xmlns:a="http://schemas.openxmlformats.org/drawingml/2006/main">
            <a:r>
              <a:t>https://nzism.gcsb.govt.nz/ism-document/pdf</a:t>
            </a:r>
          </a:p>
          <a:p xmlns:a="http://schemas.openxmlformats.org/drawingml/2006/main">
            <a:r>
              <a:t>https://nzism.gcsb.govt.nz/ism-document/pdf/Section/12091</a:t>
            </a:r>
          </a:p>
          <a:p xmlns:a="http://schemas.openxmlformats.org/drawingml/2006/main">
            <a:r>
              <a:t>https://www.ncsc.govt.nz/what-we-do/regulations-and-standards/nzism/</a:t>
            </a:r>
          </a:p>
          <a:p xmlns:a="http://schemas.openxmlformats.org/drawingml/2006/main">
            <a:r>
              <a:t>https://nzism.gcsb.govt.nz/ism-document/pdf#page=18</a:t>
            </a:r>
          </a:p>
          <a:p xmlns:a="http://schemas.openxmlformats.org/drawingml/2006/main">
            <a:r>
              <a:t>https://nzism.gcsb.govt.nz/ism-document/pdf#page=51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Selected topic references only. Each link from a No Fries question to an NZISM control is a No Fries interpretation, not exhaustive equivalence or evidence that a control is satisfied. Confirm the actual customer, contractual, system and information-classification requirements. Preserve each control’s classification and MUST/SHOULD wording in a separate detailed assessment. The NCSC-based questionnaire result and scoring remain unchanged and separate. No NZISM compliance percentage, compliance conclusion, accreditation or certification is provided.</a:t>
            </a:r>
          </a:p>
          <a:p xmlns:a="http://schemas.openxmlformats.org/drawingml/2006/main">
            <a:r>
              <a:t/>
            </a:r>
          </a:p>
          <a:p xmlns:a="http://schemas.openxmlformats.org/drawingml/2006/main">
            <a:r>
              <a:t>NZISM v3.9, current online edition, updated November 2025. Checked 19 October 2026.</a:t>
            </a:r>
          </a:p>
          <a:p xmlns:a="http://schemas.openxmlformats.org/drawingml/2006/main">
            <a:r>
              <a:t/>
            </a:r>
          </a:p>
          <a:p xmlns:a="http://schemas.openxmlformats.org/drawingml/2006/main">
            <a:r>
              <a:t>READING THIS CROSSWALK</a:t>
            </a:r>
          </a:p>
          <a:p xmlns:a="http://schemas.openxmlformats.org/drawingml/2006/main">
            <a:r>
              <a:t>Q1–10 use NZISM references supplied by official NCSC Minimum Standards guidance, checked against current NZISM where used. The link from each particular No Fries question to a reference remains a No Fries interpretation. Q11–14 add No Fries interpretations based on current NZISM. This appendix supplies selected references rather than an exhaustive equivalence. The question and full NF-NCSC ID remain on the original question slide.</a:t>
            </a:r>
          </a:p>
          <a:p xmlns:a="http://schemas.openxmlformats.org/drawingml/2006/main">
            <a:r>
              <a:t/>
            </a:r>
          </a:p>
          <a:p xmlns:a="http://schemas.openxmlformats.org/drawingml/2006/main">
            <a:r>
              <a:t>Q1 Risk management</a:t>
            </a:r>
          </a:p>
          <a:p xmlns:a="http://schemas.openxmlformats.org/drawingml/2006/main">
            <a:r>
              <a:t>No Fries question ID: NF-NCSC-MCSS-RM-01-Q1</a:t>
            </a:r>
          </a:p>
          <a:p xmlns:a="http://schemas.openxmlformats.org/drawingml/2006/main">
            <a:r>
              <a:t>Exact prompt: Are cyber risks managed through a documented business risk process with tolerance, owners and regular review?</a:t>
            </a:r>
          </a:p>
          <a:p xmlns:a="http://schemas.openxmlformats.org/drawingml/2006/main">
            <a:r>
              <a:t>Selected NZISM references: 5.3.7.C.01; 5.3.8.C.01 CIDs 805, 808</a:t>
            </a:r>
          </a:p>
          <a:p xmlns:a="http://schemas.openxmlformats.org/drawingml/2006/main">
            <a:r>
              <a:t>Evidence to explore: Risk register, treatment owners, tolerance/acceptance records and review minutes.</a:t>
            </a:r>
          </a:p>
          <a:p xmlns:a="http://schemas.openxmlformats.org/drawingml/2006/main">
            <a:r>
              <a:t>Important coverage limit: System-specific risk, treatment decisions and residual-risk approval still need review.</a:t>
            </a:r>
          </a:p>
          <a:p xmlns:a="http://schemas.openxmlformats.org/drawingml/2006/main">
            <a:r>
              <a:t>Source: https://www.ncsc.govt.nz/protect-your-organisation/risk-management/</a:t>
            </a:r>
          </a:p>
          <a:p xmlns:a="http://schemas.openxmlformats.org/drawingml/2006/main">
            <a:r>
              <a:t/>
            </a:r>
          </a:p>
          <a:p xmlns:a="http://schemas.openxmlformats.org/drawingml/2006/main">
            <a:r>
              <a:t>Q2 Security awareness</a:t>
            </a:r>
          </a:p>
          <a:p xmlns:a="http://schemas.openxmlformats.org/drawingml/2006/main">
            <a:r>
              <a:t>No Fries question ID: NF-NCSC-MCSS-SA-01-Q1</a:t>
            </a:r>
          </a:p>
          <a:p xmlns:a="http://schemas.openxmlformats.org/drawingml/2006/main">
            <a:r>
              <a:t>Exact prompt: Do people receive current, role-appropriate security guidance from onboarding onward, with results reported to leadership?</a:t>
            </a:r>
          </a:p>
          <a:p xmlns:a="http://schemas.openxmlformats.org/drawingml/2006/main">
            <a:r>
              <a:t>Selected NZISM references: 9.1.5.C.01–02; 9.1.6.C.01 CIDs 1452, 1453, 1457</a:t>
            </a:r>
          </a:p>
          <a:p xmlns:a="http://schemas.openxmlformats.org/drawingml/2006/main">
            <a:r>
              <a:t>Evidence to explore: Current programme, induction material, completion coverage, role-specific modules and exercise outcomes.</a:t>
            </a:r>
          </a:p>
          <a:p xmlns:a="http://schemas.openxmlformats.org/drawingml/2006/main">
            <a:r>
              <a:t>Important coverage limit: Check required subjects, role coverage and effective behaviour beyond course completion.</a:t>
            </a:r>
          </a:p>
          <a:p xmlns:a="http://schemas.openxmlformats.org/drawingml/2006/main">
            <a:r>
              <a:t>Source: https://www.ncsc.govt.nz/protect-your-organisation/security-awareness/</a:t>
            </a:r>
          </a:p>
          <a:p xmlns:a="http://schemas.openxmlformats.org/drawingml/2006/main">
            <a:r>
              <a:t/>
            </a:r>
          </a:p>
          <a:p xmlns:a="http://schemas.openxmlformats.org/drawingml/2006/main">
            <a:r>
              <a:t>Q3 Assets and importance</a:t>
            </a:r>
          </a:p>
          <a:p xmlns:a="http://schemas.openxmlformats.org/drawingml/2006/main">
            <a:r>
              <a:t>No Fries question ID: NF-NCSC-MCSS-AI-01-Q1</a:t>
            </a:r>
          </a:p>
          <a:p xmlns:a="http://schemas.openxmlformats.org/drawingml/2006/main">
            <a:r>
              <a:t>Exact prompt: Is there a current inventory of important hardware, software, cloud services and data with owners and lifecycle status?</a:t>
            </a:r>
          </a:p>
          <a:p xmlns:a="http://schemas.openxmlformats.org/drawingml/2006/main">
            <a:r>
              <a:t>Selected NZISM references: 3.4.10.C.01; 13.1.9.C.01 CIDs 442, 3829</a:t>
            </a:r>
          </a:p>
          <a:p xmlns:a="http://schemas.openxmlformats.org/drawingml/2006/main">
            <a:r>
              <a:t>Evidence to explore: Hardware, software, cloud and data registers, owners, dependencies, support dates and retirement records.</a:t>
            </a:r>
          </a:p>
          <a:p xmlns:a="http://schemas.openxmlformats.org/drawingml/2006/main">
            <a:r>
              <a:t>Important coverage limit: An inventory does not establish secure procurement, classification, handling or disposal.</a:t>
            </a:r>
          </a:p>
          <a:p xmlns:a="http://schemas.openxmlformats.org/drawingml/2006/main">
            <a:r>
              <a:t>Source: https://www.ncsc.govt.nz/protect-your-organisation/assets-and-their-importance/</a:t>
            </a:r>
          </a:p>
          <a:p xmlns:a="http://schemas.openxmlformats.org/drawingml/2006/main">
            <a:r>
              <a:t/>
            </a:r>
          </a:p>
          <a:p xmlns:a="http://schemas.openxmlformats.org/drawingml/2006/main">
            <a:r>
              <a:t>Q4 Secure configuration</a:t>
            </a:r>
          </a:p>
          <a:p xmlns:a="http://schemas.openxmlformats.org/drawingml/2006/main">
            <a:r>
              <a:t>No Fries question ID: NF-NCSC-MCSS-SC-01-Q1</a:t>
            </a:r>
          </a:p>
          <a:p xmlns:a="http://schemas.openxmlformats.org/drawingml/2006/main">
            <a:r>
              <a:t>Exact prompt: Are secure configuration baselines applied to new and existing systems, with exceptions reviewed when software changes?</a:t>
            </a:r>
          </a:p>
          <a:p xmlns:a="http://schemas.openxmlformats.org/drawingml/2006/main">
            <a:r>
              <a:t>Selected NZISM references: 14.1.9.C.01 CID 1158</a:t>
            </a:r>
          </a:p>
          <a:p xmlns:a="http://schemas.openxmlformats.org/drawingml/2006/main">
            <a:r>
              <a:t>Evidence to explore: Approved baselines, policy exports, actual coverage, exceptions and configuration-review records.</a:t>
            </a:r>
          </a:p>
          <a:p xmlns:a="http://schemas.openxmlformats.org/drawingml/2006/main">
            <a:r>
              <a:t>Important coverage limit: Detailed platform, application, cloud, network and cryptographic settings need checking.</a:t>
            </a:r>
          </a:p>
          <a:p xmlns:a="http://schemas.openxmlformats.org/drawingml/2006/main">
            <a:r>
              <a:t>Source: https://www.ncsc.govt.nz/protect-your-organisation/secure-configuration-of-software/</a:t>
            </a:r>
          </a:p>
          <a:p xmlns:a="http://schemas.openxmlformats.org/drawingml/2006/main">
            <a:r>
              <a:t/>
            </a:r>
          </a:p>
          <a:p xmlns:a="http://schemas.openxmlformats.org/drawingml/2006/main">
            <a:r>
              <a:t>WORKSHOP RECORD</a:t>
            </a:r>
          </a:p>
          <a:p xmlns:a="http://schemas.openxmlformats.org/drawingml/2006/main">
            <a:r>
              <a:t>For relevant references, agree evidence, owner, due date and review. Keep an honest examined/not-assessed status and commission a separate control-level assessment if the customer requires NZISM assurance. Do not count the 14 questions as 14 compliant controls. Do not add an NZISM score to the foundational result.</a:t>
            </a:r>
          </a:p>
          <a:p xmlns:a="http://schemas.openxmlformats.org/drawingml/2006/main">
            <a:r>
              <a:t/>
            </a:r>
          </a:p>
          <a:p xmlns:a="http://schemas.openxmlformats.org/drawingml/2006/main">
            <a:r>
              <a:t>Source question catalogue: https://github.com/Discla1mer/NoFries/blob/813c7eea0176ed388d1a1944ce7e7b90278be50f/api/shared/securityGap/ncscProfile.js</a:t>
            </a:r>
          </a:p>
          <a:p xmlns:a="http://schemas.openxmlformats.org/drawingml/2006/main">
            <a:r>
              <a:t>Accepted-profile limits: https://github.com/Discla1mer/NoFries/blob/813c7eea0176ed388d1a1944ce7e7b90278be50f/api/shared/assessmentEngine/ncscAcceptedFrameworkProfile.js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Selected topic references only. Each link from a No Fries question to an NZISM control is a No Fries interpretation, not exhaustive equivalence or evidence that a control is satisfied. Confirm the actual customer, contractual, system and information-classification requirements. Preserve each control’s classification and MUST/SHOULD wording in a separate detailed assessment. The NCSC-based questionnaire result and scoring remain unchanged and separate. No NZISM compliance percentage, compliance conclusion, accreditation or certification is provided.</a:t>
            </a:r>
          </a:p>
          <a:p xmlns:a="http://schemas.openxmlformats.org/drawingml/2006/main">
            <a:r>
              <a:t/>
            </a:r>
          </a:p>
          <a:p xmlns:a="http://schemas.openxmlformats.org/drawingml/2006/main">
            <a:r>
              <a:t>NZISM v3.9, current online edition, updated November 2025. Checked 19 October 2026.</a:t>
            </a:r>
          </a:p>
          <a:p xmlns:a="http://schemas.openxmlformats.org/drawingml/2006/main">
            <a:r>
              <a:t/>
            </a:r>
          </a:p>
          <a:p xmlns:a="http://schemas.openxmlformats.org/drawingml/2006/main">
            <a:r>
              <a:t>READING THIS CROSSWALK</a:t>
            </a:r>
          </a:p>
          <a:p xmlns:a="http://schemas.openxmlformats.org/drawingml/2006/main">
            <a:r>
              <a:t>Q1–10 use NZISM references supplied by official NCSC Minimum Standards guidance, checked against current NZISM where used. The link from each particular No Fries question to a reference remains a No Fries interpretation. Q11–14 add No Fries interpretations based on current NZISM. This appendix supplies selected references rather than an exhaustive equivalence. The question and full NF-NCSC ID remain on the original question slide.</a:t>
            </a:r>
          </a:p>
          <a:p xmlns:a="http://schemas.openxmlformats.org/drawingml/2006/main">
            <a:r>
              <a:t/>
            </a:r>
          </a:p>
          <a:p xmlns:a="http://schemas.openxmlformats.org/drawingml/2006/main">
            <a:r>
              <a:t>Q5 Patching</a:t>
            </a:r>
          </a:p>
          <a:p xmlns:a="http://schemas.openxmlformats.org/drawingml/2006/main">
            <a:r>
              <a:t>No Fries question ID: NF-NCSC-MCSS-PA-01-Q1</a:t>
            </a:r>
          </a:p>
          <a:p xmlns:a="http://schemas.openxmlformats.org/drawingml/2006/main">
            <a:r>
              <a:t>Exact prompt: Are patches prioritised, sourced, tested, deployed and verified through a repeatable process that includes rollback and retirement?</a:t>
            </a:r>
          </a:p>
          <a:p xmlns:a="http://schemas.openxmlformats.org/drawingml/2006/main">
            <a:r>
              <a:t>Selected NZISM references: 12.4.4.C.02; 12.4.4.C.06 CIDs 3449, 3453</a:t>
            </a:r>
          </a:p>
          <a:p xmlns:a="http://schemas.openxmlformats.org/drawingml/2006/main">
            <a:r>
              <a:t>Evidence to explore: Patch inventory/report, severity targets, deployed-version evidence, exceptions, rollback and retirement plan.</a:t>
            </a:r>
          </a:p>
          <a:p xmlns:a="http://schemas.openxmlformats.org/drawingml/2006/main">
            <a:r>
              <a:t>Important coverage limit: Check actual patch deadlines, coverage and mitigations against current NZISM obligations.</a:t>
            </a:r>
          </a:p>
          <a:p xmlns:a="http://schemas.openxmlformats.org/drawingml/2006/main">
            <a:r>
              <a:t>Source: https://www.ncsc.govt.nz/protect-your-organisation/patching-minimum-standards/</a:t>
            </a:r>
          </a:p>
          <a:p xmlns:a="http://schemas.openxmlformats.org/drawingml/2006/main">
            <a:r>
              <a:t>Additional current manual source: https://nzism.gcsb.govt.nz/ism-document/pdf#page=205</a:t>
            </a:r>
          </a:p>
          <a:p xmlns:a="http://schemas.openxmlformats.org/drawingml/2006/main">
            <a:r>
              <a:t/>
            </a:r>
          </a:p>
          <a:p xmlns:a="http://schemas.openxmlformats.org/drawingml/2006/main">
            <a:r>
              <a:t>Q6 MFA</a:t>
            </a:r>
          </a:p>
          <a:p xmlns:a="http://schemas.openxmlformats.org/drawingml/2006/main">
            <a:r>
              <a:t>No Fries question ID: NF-NCSC-MCSS-MF-01-Q1</a:t>
            </a:r>
          </a:p>
          <a:p xmlns:a="http://schemas.openxmlformats.org/drawingml/2006/main">
            <a:r>
              <a:t>Exact prompt: Is MFA enforced for critical, internet-accessible, privileged and relevant third-party access, with failures reviewed?</a:t>
            </a:r>
          </a:p>
          <a:p xmlns:a="http://schemas.openxmlformats.org/drawingml/2006/main">
            <a:r>
              <a:t>Selected NZISM references: 16.7.42.C.01–03 CIDs 7563, 6953, 7564</a:t>
            </a:r>
          </a:p>
          <a:p xmlns:a="http://schemas.openxmlformats.org/drawingml/2006/main">
            <a:r>
              <a:t>Evidence to explore: Enforcement policy, account/application coverage, exceptions, authentication logs and reset tests.</a:t>
            </a:r>
          </a:p>
          <a:p xmlns:a="http://schemas.openxmlformats.org/drawingml/2006/main">
            <a:r>
              <a:t>Important coverage limit: Check enforcement, secure recovery, exclusions and phishing-resistant MFA guidance.</a:t>
            </a:r>
          </a:p>
          <a:p xmlns:a="http://schemas.openxmlformats.org/drawingml/2006/main">
            <a:r>
              <a:t>Source: https://nzism.gcsb.govt.nz/ism-document/pdf/Section/15681</a:t>
            </a:r>
          </a:p>
          <a:p xmlns:a="http://schemas.openxmlformats.org/drawingml/2006/main">
            <a:r>
              <a:t/>
            </a:r>
          </a:p>
          <a:p xmlns:a="http://schemas.openxmlformats.org/drawingml/2006/main">
            <a:r>
              <a:t>Q7 Unusual behaviour</a:t>
            </a:r>
          </a:p>
          <a:p xmlns:a="http://schemas.openxmlformats.org/drawingml/2006/main">
            <a:r>
              <a:t>No Fries question ID: NF-NCSC-MCSS-DU-01-Q1</a:t>
            </a:r>
          </a:p>
          <a:p xmlns:a="http://schemas.openxmlformats.org/drawingml/2006/main">
            <a:r>
              <a:t>Exact prompt: Are useful logs from critical and externally facing systems brought together, reviewed and turned into actionable alerts?</a:t>
            </a:r>
          </a:p>
          <a:p xmlns:a="http://schemas.openxmlformats.org/drawingml/2006/main">
            <a:r>
              <a:t>Selected NZISM references: 16.6.10.C.02; 23.5.12.C.01 CIDs 2013, 7498</a:t>
            </a:r>
          </a:p>
          <a:p xmlns:a="http://schemas.openxmlformats.org/drawingml/2006/main">
            <a:r>
              <a:t>Evidence to explore: Log-source/coverage inventory, alert rules, alert-to-ticket samples and a named response owner.</a:t>
            </a:r>
          </a:p>
          <a:p xmlns:a="http://schemas.openxmlformats.org/drawingml/2006/main">
            <a:r>
              <a:t>Important coverage limit: Check retention, protected logs, time alignment, detection quality and response coverage.</a:t>
            </a:r>
          </a:p>
          <a:p xmlns:a="http://schemas.openxmlformats.org/drawingml/2006/main">
            <a:r>
              <a:t>Source: https://www.ncsc.govt.nz/protect-your-organisation/detect-unusual-behaviour/</a:t>
            </a:r>
          </a:p>
          <a:p xmlns:a="http://schemas.openxmlformats.org/drawingml/2006/main">
            <a:r>
              <a:t/>
            </a:r>
          </a:p>
          <a:p xmlns:a="http://schemas.openxmlformats.org/drawingml/2006/main">
            <a:r>
              <a:t>Q8 Least privilege</a:t>
            </a:r>
          </a:p>
          <a:p xmlns:a="http://schemas.openxmlformats.org/drawingml/2006/main">
            <a:r>
              <a:t>No Fries question ID: NF-NCSC-MCSS-LP-01-Q1</a:t>
            </a:r>
          </a:p>
          <a:p xmlns:a="http://schemas.openxmlformats.org/drawingml/2006/main">
            <a:r>
              <a:t>Exact prompt: Is access limited to what each person needs, with separate privileged accounts and repeatable joiner, mover, leaver and review processes?</a:t>
            </a:r>
          </a:p>
          <a:p xmlns:a="http://schemas.openxmlformats.org/drawingml/2006/main">
            <a:r>
              <a:t>Selected NZISM references: 16.4.37.C.01 16.4.38.C.01–02 CIDs 6842, 6846, 6847</a:t>
            </a:r>
          </a:p>
          <a:p xmlns:a="http://schemas.openxmlformats.org/drawingml/2006/main">
            <a:r>
              <a:t>Evidence to explore: Account/role inventory, separate admin identities, access reviews, joiner/mover/leaver samples and privileged logs.</a:t>
            </a:r>
          </a:p>
          <a:p xmlns:a="http://schemas.openxmlformats.org/drawingml/2006/main">
            <a:r>
              <a:t>Important coverage limit: Test service accounts, emergency access, revocation, monitoring and approvals.</a:t>
            </a:r>
          </a:p>
          <a:p xmlns:a="http://schemas.openxmlformats.org/drawingml/2006/main">
            <a:r>
              <a:t>Source: https://nzism.gcsb.govt.nz/ism-document/pdf/Section/15526</a:t>
            </a:r>
          </a:p>
          <a:p xmlns:a="http://schemas.openxmlformats.org/drawingml/2006/main">
            <a:r>
              <a:t>Additional current manual source: https://www.ncsc.govt.nz/protect-your-organisation/least-privilege/</a:t>
            </a:r>
          </a:p>
          <a:p xmlns:a="http://schemas.openxmlformats.org/drawingml/2006/main">
            <a:r>
              <a:t/>
            </a:r>
          </a:p>
          <a:p xmlns:a="http://schemas.openxmlformats.org/drawingml/2006/main">
            <a:r>
              <a:t>PATCHING REFERENCE DISCREPANCY</a:t>
            </a:r>
          </a:p>
          <a:p xmlns:a="http://schemas.openxmlformats.org/drawingml/2006/main">
            <a:r>
              <a:t>The official NCSC Patching page currently pairs general SHOULD/two-day wording with 12.4.4.C.01 / CID 3448. The current NZISM v3.9 manual instead assigns the general SHOULD wording to 12.4.4.C.04 / CID 3451. C.01 / CID 3448 has a MUST obligation for Confidential, Secret and Top Secret systems. This appendix therefore uses C.02 / CID 3449 and C.06 / CID 3453 for the selected process references. Use the current manual as final authority and check the classification and obligation for the actual system. Do not use the NCSC page’s mismatched citation to impose one patch deadline on every system.</a:t>
            </a:r>
          </a:p>
          <a:p xmlns:a="http://schemas.openxmlformats.org/drawingml/2006/main">
            <a:r>
              <a:t/>
            </a:r>
          </a:p>
          <a:p xmlns:a="http://schemas.openxmlformats.org/drawingml/2006/main">
            <a:r>
              <a:t>WORKSHOP RECORD</a:t>
            </a:r>
          </a:p>
          <a:p xmlns:a="http://schemas.openxmlformats.org/drawingml/2006/main">
            <a:r>
              <a:t>For relevant references, agree evidence, owner, due date and review. Keep an honest examined/not-assessed status and commission a separate control-level assessment if the customer requires NZISM assurance. Do not count the 14 questions as 14 compliant controls. Do not add an NZISM score to the foundational result.</a:t>
            </a:r>
          </a:p>
          <a:p xmlns:a="http://schemas.openxmlformats.org/drawingml/2006/main">
            <a:r>
              <a:t/>
            </a:r>
          </a:p>
          <a:p xmlns:a="http://schemas.openxmlformats.org/drawingml/2006/main">
            <a:r>
              <a:t>Source question catalogue: https://github.com/Discla1mer/NoFries/blob/813c7eea0176ed388d1a1944ce7e7b90278be50f/api/shared/securityGap/ncscProfile.js</a:t>
            </a:r>
          </a:p>
          <a:p xmlns:a="http://schemas.openxmlformats.org/drawingml/2006/main">
            <a:r>
              <a:t>Accepted-profile limits: https://github.com/Discla1mer/NoFries/blob/813c7eea0176ed388d1a1944ce7e7b90278be50f/api/shared/assessmentEngine/ncscAcceptedFrameworkProfile.js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Selected topic references only. Each link from a No Fries question to an NZISM control is a No Fries interpretation, not exhaustive equivalence or evidence that a control is satisfied. Confirm the actual customer, contractual, system and information-classification requirements. Preserve each control’s classification and MUST/SHOULD wording in a separate detailed assessment. The NCSC-based questionnaire result and scoring remain unchanged and separate. No NZISM compliance percentage, compliance conclusion, accreditation or certification is provided.</a:t>
            </a:r>
          </a:p>
          <a:p xmlns:a="http://schemas.openxmlformats.org/drawingml/2006/main">
            <a:r>
              <a:t/>
            </a:r>
          </a:p>
          <a:p xmlns:a="http://schemas.openxmlformats.org/drawingml/2006/main">
            <a:r>
              <a:t>NZISM v3.9, current online edition, updated November 2025. Checked 19 October 2026.</a:t>
            </a:r>
          </a:p>
          <a:p xmlns:a="http://schemas.openxmlformats.org/drawingml/2006/main">
            <a:r>
              <a:t/>
            </a:r>
          </a:p>
          <a:p xmlns:a="http://schemas.openxmlformats.org/drawingml/2006/main">
            <a:r>
              <a:t>READING THIS CROSSWALK</a:t>
            </a:r>
          </a:p>
          <a:p xmlns:a="http://schemas.openxmlformats.org/drawingml/2006/main">
            <a:r>
              <a:t>Q1–10 use NZISM references supplied by official NCSC Minimum Standards guidance, checked against current NZISM where used. The link from each particular No Fries question to a reference remains a No Fries interpretation. Q11–14 add No Fries interpretations based on current NZISM. This appendix supplies selected references rather than an exhaustive equivalence. The question and full NF-NCSC ID remain on the original question slide.</a:t>
            </a:r>
          </a:p>
          <a:p xmlns:a="http://schemas.openxmlformats.org/drawingml/2006/main">
            <a:r>
              <a:t/>
            </a:r>
          </a:p>
          <a:p xmlns:a="http://schemas.openxmlformats.org/drawingml/2006/main">
            <a:r>
              <a:t>Q9 Data recovery</a:t>
            </a:r>
          </a:p>
          <a:p xmlns:a="http://schemas.openxmlformats.org/drawingml/2006/main">
            <a:r>
              <a:t>No Fries question ID: NF-NCSC-MCSS-DR-01-Q1</a:t>
            </a:r>
          </a:p>
          <a:p xmlns:a="http://schemas.openxmlformats.org/drawingml/2006/main">
            <a:r>
              <a:t>Exact prompt: Are critical systems and data backed up to defined recovery requirements, with protected copies and sampled restore tests?</a:t>
            </a:r>
          </a:p>
          <a:p xmlns:a="http://schemas.openxmlformats.org/drawingml/2006/main">
            <a:r>
              <a:t>Selected NZISM references: 6.4.5.C.01; 6.4.6.C.01 CIDs 1120, 1123</a:t>
            </a:r>
          </a:p>
          <a:p xmlns:a="http://schemas.openxmlformats.org/drawingml/2006/main">
            <a:r>
              <a:t>Evidence to explore: Agreed recovery time and recovery point objectives, backup scope and protection, successful restore evidence, elapsed time and follow-up.</a:t>
            </a:r>
          </a:p>
          <a:p xmlns:a="http://schemas.openxmlformats.org/drawingml/2006/main">
            <a:r>
              <a:t>Important coverage limit: A sampled restore leaves whole-service recovery, dependencies and continuity untested.</a:t>
            </a:r>
          </a:p>
          <a:p xmlns:a="http://schemas.openxmlformats.org/drawingml/2006/main">
            <a:r>
              <a:t>Source: https://www.ncsc.govt.nz/protect-your-organisation/data-recovery/</a:t>
            </a:r>
          </a:p>
          <a:p xmlns:a="http://schemas.openxmlformats.org/drawingml/2006/main">
            <a:r>
              <a:t/>
            </a:r>
          </a:p>
          <a:p xmlns:a="http://schemas.openxmlformats.org/drawingml/2006/main">
            <a:r>
              <a:t>Q10 Response planning</a:t>
            </a:r>
          </a:p>
          <a:p xmlns:a="http://schemas.openxmlformats.org/drawingml/2006/main">
            <a:r>
              <a:t>No Fries question ID: NF-NCSC-MCSS-RP-01-Q1</a:t>
            </a:r>
          </a:p>
          <a:p xmlns:a="http://schemas.openxmlformats.org/drawingml/2006/main">
            <a:r>
              <a:t>Exact prompt: Is there a risk-based incident response plan with named responsibilities, management support, contact paths and lessons from exercises or incidents?</a:t>
            </a:r>
          </a:p>
          <a:p xmlns:a="http://schemas.openxmlformats.org/drawingml/2006/main">
            <a:r>
              <a:t>Selected NZISM references: 5.1.12.C.01–02 CIDs 708, 709</a:t>
            </a:r>
          </a:p>
          <a:p xmlns:a="http://schemas.openxmlformats.org/drawingml/2006/main">
            <a:r>
              <a:t>Evidence to explore: Plan, contact/escalation paths, scenario exercise record, lessons and action owners.</a:t>
            </a:r>
          </a:p>
          <a:p xmlns:a="http://schemas.openxmlformats.org/drawingml/2006/main">
            <a:r>
              <a:t>Important coverage limit: Reporting duties, evidence preservation, supplier coordination and response need deeper review.</a:t>
            </a:r>
          </a:p>
          <a:p xmlns:a="http://schemas.openxmlformats.org/drawingml/2006/main">
            <a:r>
              <a:t>Source: https://www.ncsc.govt.nz/protect-your-organisation/response-planning/</a:t>
            </a:r>
          </a:p>
          <a:p xmlns:a="http://schemas.openxmlformats.org/drawingml/2006/main">
            <a:r>
              <a:t/>
            </a:r>
          </a:p>
          <a:p xmlns:a="http://schemas.openxmlformats.org/drawingml/2006/main">
            <a:r>
              <a:t>Q11 Password manager</a:t>
            </a:r>
          </a:p>
          <a:p xmlns:a="http://schemas.openxmlformats.org/drawingml/2006/main">
            <a:r>
              <a:t>No Fries question ID: NF-NCSC-CC-PM-01-Q1</a:t>
            </a:r>
          </a:p>
          <a:p xmlns:a="http://schemas.openxmlformats.org/drawingml/2006/main">
            <a:r>
              <a:t>Exact prompt: Does the organisation provide and govern a password manager that people actually use for unique passwords and approved sharing?</a:t>
            </a:r>
          </a:p>
          <a:p xmlns:a="http://schemas.openxmlformats.org/drawingml/2006/main">
            <a:r>
              <a:t>Selected NZISM references: 16.1.37.C.01–02 16.1.27.C.02 CIDs 7558, 7559, 7542</a:t>
            </a:r>
          </a:p>
          <a:p xmlns:a="http://schemas.openxmlformats.org/drawingml/2006/main">
            <a:r>
              <a:t>Evidence to explore: Approved vault, adoption, access controls, MFA, emergency recovery and credential-sharing review.</a:t>
            </a:r>
          </a:p>
          <a:p xmlns:a="http://schemas.openxmlformats.org/drawingml/2006/main">
            <a:r>
              <a:t>Important coverage limit: NZISM prohibits shared privileged credentials, with a break-glass exception. Vault use alone is insufficient.</a:t>
            </a:r>
          </a:p>
          <a:p xmlns:a="http://schemas.openxmlformats.org/drawingml/2006/main">
            <a:r>
              <a:t>Source: https://nzism.gcsb.govt.nz/ism-document/pdf/Section/15349</a:t>
            </a:r>
          </a:p>
          <a:p xmlns:a="http://schemas.openxmlformats.org/drawingml/2006/main">
            <a:r>
              <a:t/>
            </a:r>
          </a:p>
          <a:p xmlns:a="http://schemas.openxmlformats.org/drawingml/2006/main">
            <a:r>
              <a:t>PASSWORD-MANAGER LIMIT</a:t>
            </a:r>
          </a:p>
          <a:p xmlns:a="http://schemas.openxmlformats.org/drawingml/2006/main">
            <a:r>
              <a:t>Q11’s phrase approved sharing is not permission to share administrator or privileged credentials. Current NZISM 16.1.27.C.02 / CID 7542 prohibits shared credentials for administrator or privileged access, with a break-glass exception. Other shared-account restrictions and accountability requirements may also apply. Current 16.1.37.C.01 / CID 7558 addresses sign-in password policy and C.02 / CID 7559 addresses consideration of vault MFA. Vault procurement, due diligence, access, recovery and use need deeper review.</a:t>
            </a:r>
          </a:p>
          <a:p xmlns:a="http://schemas.openxmlformats.org/drawingml/2006/main">
            <a:r>
              <a:t/>
            </a:r>
          </a:p>
          <a:p xmlns:a="http://schemas.openxmlformats.org/drawingml/2006/main">
            <a:r>
              <a:t>WORKSHOP RECORD</a:t>
            </a:r>
          </a:p>
          <a:p xmlns:a="http://schemas.openxmlformats.org/drawingml/2006/main">
            <a:r>
              <a:t>For relevant references, agree evidence, owner, due date and review. Keep an honest examined/not-assessed status and commission a separate control-level assessment if the customer requires NZISM assurance. Do not count the 14 questions as 14 compliant controls. Do not add an NZISM score to the foundational result.</a:t>
            </a:r>
          </a:p>
          <a:p xmlns:a="http://schemas.openxmlformats.org/drawingml/2006/main">
            <a:r>
              <a:t/>
            </a:r>
          </a:p>
          <a:p xmlns:a="http://schemas.openxmlformats.org/drawingml/2006/main">
            <a:r>
              <a:t>Source question catalogue: https://github.com/Discla1mer/NoFries/blob/813c7eea0176ed388d1a1944ce7e7b90278be50f/api/shared/securityGap/ncscProfile.js</a:t>
            </a:r>
          </a:p>
          <a:p xmlns:a="http://schemas.openxmlformats.org/drawingml/2006/main">
            <a:r>
              <a:t>Accepted-profile limits: https://github.com/Discla1mer/NoFries/blob/813c7eea0176ed388d1a1944ce7e7b90278be50f/api/shared/assessmentEngine/ncscAcceptedFrameworkProfile.js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Selected topic references only. Each link from a No Fries question to an NZISM control is a No Fries interpretation, not exhaustive equivalence or evidence that a control is satisfied. Confirm the actual customer, contractual, system and information-classification requirements. Preserve each control’s classification and MUST/SHOULD wording in a separate detailed assessment. The NCSC-based questionnaire result and scoring remain unchanged and separate. No NZISM compliance percentage, compliance conclusion, accreditation or certification is provided.</a:t>
            </a:r>
          </a:p>
          <a:p xmlns:a="http://schemas.openxmlformats.org/drawingml/2006/main">
            <a:r>
              <a:t/>
            </a:r>
          </a:p>
          <a:p xmlns:a="http://schemas.openxmlformats.org/drawingml/2006/main">
            <a:r>
              <a:t>NZISM v3.9, current online edition, updated November 2025. Checked 19 October 2026.</a:t>
            </a:r>
          </a:p>
          <a:p xmlns:a="http://schemas.openxmlformats.org/drawingml/2006/main">
            <a:r>
              <a:t/>
            </a:r>
          </a:p>
          <a:p xmlns:a="http://schemas.openxmlformats.org/drawingml/2006/main">
            <a:r>
              <a:t>READING THIS CROSSWALK</a:t>
            </a:r>
          </a:p>
          <a:p xmlns:a="http://schemas.openxmlformats.org/drawingml/2006/main">
            <a:r>
              <a:t>Q1–10 use NZISM references supplied by official NCSC Minimum Standards guidance, checked against current NZISM where used. The link from each particular No Fries question to a reference remains a No Fries interpretation. Q11–14 add No Fries interpretations based on current NZISM. This appendix supplies selected references rather than an exhaustive equivalence. The question and full NF-NCSC ID remain on the original question slide.</a:t>
            </a:r>
          </a:p>
          <a:p xmlns:a="http://schemas.openxmlformats.org/drawingml/2006/main">
            <a:r>
              <a:t/>
            </a:r>
          </a:p>
          <a:p xmlns:a="http://schemas.openxmlformats.org/drawingml/2006/main">
            <a:r>
              <a:t>Q12 Request verification</a:t>
            </a:r>
          </a:p>
          <a:p xmlns:a="http://schemas.openxmlformats.org/drawingml/2006/main">
            <a:r>
              <a:t>No Fries question ID: NF-NCSC-CC-SV-01-Q1</a:t>
            </a:r>
          </a:p>
          <a:p xmlns:a="http://schemas.openxmlformats.org/drawingml/2006/main">
            <a:r>
              <a:t>Exact prompt: Do payment, credential, account-recovery and sensitive-data changes require a trusted verification step outside the original request?</a:t>
            </a:r>
          </a:p>
          <a:p xmlns:a="http://schemas.openxmlformats.org/drawingml/2006/main">
            <a:r>
              <a:t>Selected NZISM references: 16.1.36.C.01 16.7.42.C.01–02 CIDs 1875, 7563, 6953</a:t>
            </a:r>
          </a:p>
          <a:p xmlns:a="http://schemas.openxmlformats.org/drawingml/2006/main">
            <a:r>
              <a:t>Evidence to explore: Helpdesk recovery procedure, identity-verification test, out-of-band verification records and exceptions.</a:t>
            </a:r>
          </a:p>
          <a:p xmlns:a="http://schemas.openxmlformats.org/drawingml/2006/main">
            <a:r>
              <a:t>Important coverage limit: Identity and account recovery overlap only. These references do not cover payment changes.</a:t>
            </a:r>
          </a:p>
          <a:p xmlns:a="http://schemas.openxmlformats.org/drawingml/2006/main">
            <a:r>
              <a:t>Source: https://nzism.gcsb.govt.nz/ism-document/pdf/Section/15349</a:t>
            </a:r>
          </a:p>
          <a:p xmlns:a="http://schemas.openxmlformats.org/drawingml/2006/main">
            <a:r>
              <a:t>Additional current manual source: https://nzism.gcsb.govt.nz/ism-document/pdf/Section/15681</a:t>
            </a:r>
          </a:p>
          <a:p xmlns:a="http://schemas.openxmlformats.org/drawingml/2006/main">
            <a:r>
              <a:t/>
            </a:r>
          </a:p>
          <a:p xmlns:a="http://schemas.openxmlformats.org/drawingml/2006/main">
            <a:r>
              <a:t>Q13 Application control</a:t>
            </a:r>
          </a:p>
          <a:p xmlns:a="http://schemas.openxmlformats.org/drawingml/2006/main">
            <a:r>
              <a:t>No Fries question ID: NF-NCSC-CC-AC-01-Q1</a:t>
            </a:r>
          </a:p>
          <a:p xmlns:a="http://schemas.openxmlformats.org/drawingml/2006/main">
            <a:r>
              <a:t>Exact prompt: Are unapproved or risky applications, scripts, macros and file types restricted on systems where they could cause material harm?</a:t>
            </a:r>
          </a:p>
          <a:p xmlns:a="http://schemas.openxmlformats.org/drawingml/2006/main">
            <a:r>
              <a:t>Selected NZISM references: 14.2.4.C.01; 14.2.5.C.01 14.2.7.C.01 CIDs 1234, 1242, 934</a:t>
            </a:r>
          </a:p>
          <a:p xmlns:a="http://schemas.openxmlformats.org/drawingml/2006/main">
            <a:r>
              <a:t>Evidence to explore: Enforced policy/coverage, allow-list exceptions, blocked events and bypass tests.</a:t>
            </a:r>
          </a:p>
          <a:p xmlns:a="http://schemas.openxmlformats.org/drawingml/2006/main">
            <a:r>
              <a:t>Important coverage limit: Check default-deny, anti-tamper, administrator coverage and script or macro bypasses.</a:t>
            </a:r>
          </a:p>
          <a:p xmlns:a="http://schemas.openxmlformats.org/drawingml/2006/main">
            <a:r>
              <a:t>Source: https://nzism.gcsb.govt.nz/ism-document/pdf/Section/15052</a:t>
            </a:r>
          </a:p>
          <a:p xmlns:a="http://schemas.openxmlformats.org/drawingml/2006/main">
            <a:r>
              <a:t/>
            </a:r>
          </a:p>
          <a:p xmlns:a="http://schemas.openxmlformats.org/drawingml/2006/main">
            <a:r>
              <a:t>Q14 Network separation</a:t>
            </a:r>
          </a:p>
          <a:p xmlns:a="http://schemas.openxmlformats.org/drawingml/2006/main">
            <a:r>
              <a:t>No Fries question ID: NF-NCSC-CC-NS-01-Q1</a:t>
            </a:r>
          </a:p>
          <a:p xmlns:a="http://schemas.openxmlformats.org/drawingml/2006/main">
            <a:r>
              <a:t>Exact prompt: Are users, guests, administration, backups and important services separated so one compromise cannot freely spread?</a:t>
            </a:r>
          </a:p>
          <a:p xmlns:a="http://schemas.openxmlformats.org/drawingml/2006/main">
            <a:r>
              <a:t>Selected NZISM references: 10.8.34.C.01–02 10.8.35.C.01 CIDs 5815, 5816, 5820</a:t>
            </a:r>
          </a:p>
          <a:p xmlns:a="http://schemas.openxmlformats.org/drawingml/2006/main">
            <a:r>
              <a:t>Evidence to explore: Trust/traffic diagram, firewall/access policies, management and backup boundaries, boundary tests.</a:t>
            </a:r>
          </a:p>
          <a:p xmlns:a="http://schemas.openxmlformats.org/drawingml/2006/main">
            <a:r>
              <a:t>Important coverage limit: Test enforced isolation, routes, identity paths, gateways and permitted traffic.</a:t>
            </a:r>
          </a:p>
          <a:p xmlns:a="http://schemas.openxmlformats.org/drawingml/2006/main">
            <a:r>
              <a:t>Source: https://nzism.gcsb.govt.nz/ism-document/pdf#page=152</a:t>
            </a:r>
          </a:p>
          <a:p xmlns:a="http://schemas.openxmlformats.org/drawingml/2006/main">
            <a:r>
              <a:t/>
            </a:r>
          </a:p>
          <a:p xmlns:a="http://schemas.openxmlformats.org/drawingml/2006/main">
            <a:r>
              <a:t>SENSITIVE-REQUEST LIMIT</a:t>
            </a:r>
          </a:p>
          <a:p xmlns:a="http://schemas.openxmlformats.org/drawingml/2006/main">
            <a:r>
              <a:t>The selected Q12 references address proving account ownership and secure credential/MFA recovery. They do not establish NZISM coverage of supplier bank-detail changes, payment instructions or all sensitive-data requests. Retain those parts of the No Fries question as separate fraud-prevention checks. Do not present the entire compound question as equivalent to the cited controls.</a:t>
            </a:r>
          </a:p>
          <a:p xmlns:a="http://schemas.openxmlformats.org/drawingml/2006/main">
            <a:r>
              <a:t/>
            </a:r>
          </a:p>
          <a:p xmlns:a="http://schemas.openxmlformats.org/drawingml/2006/main">
            <a:r>
              <a:t>WORKSHOP RECORD</a:t>
            </a:r>
          </a:p>
          <a:p xmlns:a="http://schemas.openxmlformats.org/drawingml/2006/main">
            <a:r>
              <a:t>For relevant references, agree evidence, owner, due date and review. Keep an honest examined/not-assessed status and commission a separate control-level assessment if the customer requires NZISM assurance. Do not count the 14 questions as 14 compliant controls. Do not add an NZISM score to the foundational result.</a:t>
            </a:r>
          </a:p>
          <a:p xmlns:a="http://schemas.openxmlformats.org/drawingml/2006/main">
            <a:r>
              <a:t/>
            </a:r>
          </a:p>
          <a:p xmlns:a="http://schemas.openxmlformats.org/drawingml/2006/main">
            <a:r>
              <a:t>Source question catalogue: https://github.com/Discla1mer/NoFries/blob/813c7eea0176ed388d1a1944ce7e7b90278be50f/api/shared/securityGap/ncscProfile.js</a:t>
            </a:r>
          </a:p>
          <a:p xmlns:a="http://schemas.openxmlformats.org/drawingml/2006/main">
            <a:r>
              <a:t>Accepted-profile limits: https://github.com/Discla1mer/NoFries/blob/813c7eea0176ed388d1a1944ce7e7b90278be50f/api/shared/assessmentEngine/ncscAcceptedFrameworkProfile.js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fb5ac8aacf647ce"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8c346e987ce0447c"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0b54bb2522dd444d"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f6348ae8e20a4f0f"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37971a641301419c"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e53d35624171402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5AE3D46-9121-465F-A741-53949850D209}"/>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1BC6A628-C43E-4A6A-AE7E-B6F898B73631}"/>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EEE939C6-E7E6-4A2C-B932-C8144F1DBC1B}"/>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FAC4C5D-B349-4E51-A995-4A80935F427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2373015A-C40C-485B-AB57-FB2891C3C058}"/>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FB832157-CDC5-4E4A-8542-156191E7DA4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C3D8737-7C13-417B-9AF5-7F5EC4ECB31E}"/>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76E68856-2772-4E3C-8AE6-0AA5F511F73E}"/>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355DAD8-53E5-4598-84BB-CD7B1FC6D37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2F60591-E2DF-4A9B-864B-1592E079C1D2}"/>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61134f8ef544b13" /><Relationship Type="http://schemas.openxmlformats.org/officeDocument/2006/relationships/slideLayout" Target="/ppt/slideLayouts/slideLayout1.xml" Id="R229f97e06d234ca1" /><Relationship Type="http://schemas.openxmlformats.org/officeDocument/2006/relationships/slideLayout" Target="/ppt/slideLayouts/slideLayout2.xml" Id="Rd66c1e373afe43ab" /><Relationship Type="http://schemas.openxmlformats.org/officeDocument/2006/relationships/slideLayout" Target="/ppt/slideLayouts/slideLayout3.xml" Id="R50ba41a813894e26" /><Relationship Type="http://schemas.openxmlformats.org/officeDocument/2006/relationships/slideLayout" Target="/ppt/slideLayouts/slideLayout4.xml" Id="R2b2ca1e1367541ec" /><Relationship Type="http://schemas.openxmlformats.org/officeDocument/2006/relationships/slideLayout" Target="/ppt/slideLayouts/slideLayout5.xml" Id="R2985a988ab374a3b" /><Relationship Type="http://schemas.openxmlformats.org/officeDocument/2006/relationships/slideLayout" Target="/ppt/slideLayouts/slideLayout6.xml" Id="Rfcd8c321ad05448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29f97e06d234ca1"/>
    <p:sldLayoutId xmlns:r="http://schemas.openxmlformats.org/officeDocument/2006/relationships" id="2147483650" r:id="Rd66c1e373afe43ab"/>
    <p:sldLayoutId xmlns:r="http://schemas.openxmlformats.org/officeDocument/2006/relationships" id="2147483651" r:id="R50ba41a813894e26"/>
    <p:sldLayoutId xmlns:r="http://schemas.openxmlformats.org/officeDocument/2006/relationships" id="2147483652" r:id="R2b2ca1e1367541ec"/>
    <p:sldLayoutId xmlns:r="http://schemas.openxmlformats.org/officeDocument/2006/relationships" id="2147483653" r:id="R2985a988ab374a3b"/>
    <p:sldLayoutId xmlns:r="http://schemas.openxmlformats.org/officeDocument/2006/relationships" id="2147483654" r:id="Rfcd8c321ad05448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b4207acf8c5e425d" /><Relationship Type="http://schemas.openxmlformats.org/officeDocument/2006/relationships/image" Target="/ppt/media/image.png" Id="Rc983d2ccdef24ccf" /><Relationship Type="http://schemas.openxmlformats.org/officeDocument/2006/relationships/notesSlide" Target="/ppt/notesSlides/notesSlide1.xml" Id="R84cf2282c59d4ef0"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694352b8c06a4940" /><Relationship Type="http://schemas.openxmlformats.org/officeDocument/2006/relationships/notesSlide" Target="/ppt/notesSlides/notesSlide2.xml" Id="R53655e8e02654eeb"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60b8494541a24725" /><Relationship Type="http://schemas.openxmlformats.org/officeDocument/2006/relationships/notesSlide" Target="/ppt/notesSlides/notesSlide3.xml" Id="R7df439be29714836"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c49a856d50714af4" /><Relationship Type="http://schemas.openxmlformats.org/officeDocument/2006/relationships/notesSlide" Target="/ppt/notesSlides/notesSlide4.xml" Id="Rac3c31bb84304d16"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a22e98e187b247d9" /><Relationship Type="http://schemas.openxmlformats.org/officeDocument/2006/relationships/notesSlide" Target="/ppt/notesSlides/notesSlide5.xml" Id="R7a598bd1b12046af"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028a4f28ea264463" /><Relationship Type="http://schemas.openxmlformats.org/officeDocument/2006/relationships/notesSlide" Target="/ppt/notesSlides/notesSlide6.xml" Id="R8a519400f16c4cda"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36c7aadc464a47d1" /><Relationship Type="http://schemas.openxmlformats.org/officeDocument/2006/relationships/notesSlide" Target="/ppt/notesSlides/notesSlide7.xml" Id="Rd08af161b1d8485c"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bc8a141c9e5745e0" /><Relationship Type="http://schemas.openxmlformats.org/officeDocument/2006/relationships/notesSlide" Target="/ppt/notesSlides/notesSlide8.xml" Id="R2a1ee8cc25364c30"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44ea92157be945b0" /><Relationship Type="http://schemas.openxmlformats.org/officeDocument/2006/relationships/notesSlide" Target="/ppt/notesSlides/notesSlide9.xml" Id="Rc0e8d279b26e41d3"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1ac26b0272f64cdb" /><Relationship Type="http://schemas.openxmlformats.org/officeDocument/2006/relationships/notesSlide" Target="/ppt/notesSlides/notesSlide10.xml" Id="R8690fb8d66174109"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208cf160236e4c9d" /><Relationship Type="http://schemas.openxmlformats.org/officeDocument/2006/relationships/notesSlide" Target="/ppt/notesSlides/notesSlide11.xml" Id="Ra25bb4f52f6e41d6"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c18053d7b2f04214" /><Relationship Type="http://schemas.openxmlformats.org/officeDocument/2006/relationships/notesSlide" Target="/ppt/notesSlides/notesSlide12.xml" Id="R7c943495dcbe4c25"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3ee4e97258e640f7" /><Relationship Type="http://schemas.openxmlformats.org/officeDocument/2006/relationships/notesSlide" Target="/ppt/notesSlides/notesSlide13.xml" Id="R7b43e092a3344beb"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b9f8a3f7cfde4f5b" /><Relationship Type="http://schemas.openxmlformats.org/officeDocument/2006/relationships/notesSlide" Target="/ppt/notesSlides/notesSlide14.xml" Id="R50fc45e75e5e4c6f"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2cbc4a72fbb54469" /><Relationship Type="http://schemas.openxmlformats.org/officeDocument/2006/relationships/notesSlide" Target="/ppt/notesSlides/notesSlide15.xml" Id="Rc2d52d2b6c324bb7"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0c9f88f7da294554" /><Relationship Type="http://schemas.openxmlformats.org/officeDocument/2006/relationships/notesSlide" Target="/ppt/notesSlides/notesSlide16.xml" Id="R4523e0ee70694398"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1f2f21dfafdf47f3" /><Relationship Type="http://schemas.openxmlformats.org/officeDocument/2006/relationships/notesSlide" Target="/ppt/notesSlides/notesSlide17.xml" Id="Re0d89d5e98274871"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535b79712bbd4608" /><Relationship Type="http://schemas.openxmlformats.org/officeDocument/2006/relationships/notesSlide" Target="/ppt/notesSlides/notesSlide18.xml" Id="R9378a8811c1d4e79"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dea813d4756a4652" /><Relationship Type="http://schemas.openxmlformats.org/officeDocument/2006/relationships/notesSlide" Target="/ppt/notesSlides/notesSlide19.xml" Id="R0421aa0fc5174a0d"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fbf3b04f39c64572" /><Relationship Type="http://schemas.openxmlformats.org/officeDocument/2006/relationships/notesSlide" Target="/ppt/notesSlides/notesSlide20.xml" Id="R856c7d5ed9ab49ad"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ec5a9e2580094183" /><Relationship Type="http://schemas.openxmlformats.org/officeDocument/2006/relationships/notesSlide" Target="/ppt/notesSlides/notesSlide21.xml" Id="R2881f97a4e8140cd"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f4d8531d0a34425e" /><Relationship Type="http://schemas.openxmlformats.org/officeDocument/2006/relationships/notesSlide" Target="/ppt/notesSlides/notesSlide22.xml" Id="Ra12fdd16534e443c"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61f254b2b2754ec9" /><Relationship Type="http://schemas.openxmlformats.org/officeDocument/2006/relationships/notesSlide" Target="/ppt/notesSlides/notesSlide23.xml" Id="Rfb09ed28a5d34e8a"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73193e2c96c549ef" /><Relationship Type="http://schemas.openxmlformats.org/officeDocument/2006/relationships/notesSlide" Target="/ppt/notesSlides/notesSlide24.xml" Id="Rc52e5268098247e1"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8d6609a43dd5490b" /><Relationship Type="http://schemas.openxmlformats.org/officeDocument/2006/relationships/notesSlide" Target="/ppt/notesSlides/notesSlide25.xml" Id="Re17275653efe418b" /></Relationships>
</file>

<file path=ppt/slides/slide1.xml><?xml version="1.0" encoding="utf-8"?>
<p:sld xmlns:p="http://schemas.openxmlformats.org/presentationml/2006/main">
  <p:cSld>
    <p:bg>
      <p:bgPr>
        <a:solidFill xmlns:a="http://schemas.openxmlformats.org/drawingml/2006/main">
          <a:srgbClr val="08100F"/>
        </a:solidFill>
      </p:bgPr>
    </p:bg>
    <p:spTree>
      <p:nvGrpSpPr>
        <p:cNvPr id="1" name=""/>
        <p:cNvGrpSpPr/>
        <p:nvPr/>
      </p:nvGrpSpPr>
      <p:grpSpPr>
        <a:xfrm xmlns:a="http://schemas.openxmlformats.org/drawingml/2006/main"/>
      </p:grpSpPr>
      <p:sp>
        <p:nvSpPr>
          <p:cNvPr id="8" name="brand">
            <a:extLst xmlns:a="http://schemas.openxmlformats.org/drawingml/2006/main">
              <a:ext uri="{FF2B5EF4-FFF2-40B4-BE49-F238E27FC236}">
                <a16:creationId xmlns:a16="http://schemas.microsoft.com/office/drawing/2014/main" id="{DC46BAA5-DFCB-4E11-88D5-7DBC7E9F9C77}"/>
              </a:ext>
            </a:extLst>
          </p:cNvPr>
          <p:cNvSpPr>
            <a:spLocks xmlns:a="http://schemas.openxmlformats.org/drawingml/2006/main" noGrp="1"/>
          </p:cNvSpPr>
          <p:nvPr/>
        </p:nvSpPr>
        <p:spPr>
          <a:xfrm xmlns:a="http://schemas.openxmlformats.org/drawingml/2006/main">
            <a:off x="685800" y="323850"/>
            <a:ext cx="2952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00" b="1">
                <a:solidFill>
                  <a:srgbClr val="F6FAF9"/>
                </a:solidFill>
                <a:latin typeface="Inter"/>
                <a:ea typeface="Inter"/>
                <a:cs typeface="Inter"/>
              </a:defRPr>
            </a:defPPr>
          </a:lstStyle>
          <a:p xmlns:a="http://schemas.openxmlformats.org/drawingml/2006/main">
            <a:pPr>
              <a:defRPr sz="1800" b="1">
                <a:solidFill>
                  <a:srgbClr val="F6FAF9"/>
                </a:solidFill>
                <a:latin typeface="Inter"/>
                <a:ea typeface="Inter"/>
                <a:cs typeface="Inter"/>
              </a:defRPr>
            </a:pPr>
            <a:r>
              <a:rPr sz="1800" b="1">
                <a:solidFill>
                  <a:srgbClr val="F6FAF9"/>
                </a:solidFill>
                <a:latin typeface="Inter"/>
                <a:ea typeface="Inter"/>
                <a:cs typeface="Inter"/>
              </a:rPr>
              <a:t>NO FRIES</a:t>
            </a:r>
          </a:p>
        </p:txBody>
      </p:sp>
      <p:sp>
        <p:nvSpPr>
          <p:cNvPr id="2" name="section">
            <a:extLst xmlns:a="http://schemas.openxmlformats.org/drawingml/2006/main">
              <a:ext uri="{FF2B5EF4-FFF2-40B4-BE49-F238E27FC236}">
                <a16:creationId xmlns:a16="http://schemas.microsoft.com/office/drawing/2014/main" id="{91D215C7-D5C3-4512-86B4-7ADDD44C1F40}"/>
              </a:ext>
            </a:extLst>
          </p:cNvPr>
          <p:cNvSpPr>
            <a:spLocks xmlns:a="http://schemas.openxmlformats.org/drawingml/2006/main" noGrp="1"/>
          </p:cNvSpPr>
          <p:nvPr/>
        </p:nvSpPr>
        <p:spPr>
          <a:xfrm xmlns:a="http://schemas.openxmlformats.org/drawingml/2006/main">
            <a:off x="5524500" y="371475"/>
            <a:ext cx="59817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1">
                <a:solidFill>
                  <a:srgbClr val="6CD8C9"/>
                </a:solidFill>
                <a:latin typeface="Inter"/>
                <a:ea typeface="Inter"/>
                <a:cs typeface="Inter"/>
              </a:defRPr>
            </a:defPPr>
          </a:lstStyle>
          <a:p xmlns:a="http://schemas.openxmlformats.org/drawingml/2006/main">
            <a:pPr algn="r">
              <a:defRPr sz="1200" b="1">
                <a:solidFill>
                  <a:srgbClr val="6CD8C9"/>
                </a:solidFill>
                <a:latin typeface="Inter"/>
                <a:ea typeface="Inter"/>
                <a:cs typeface="Inter"/>
              </a:defRPr>
            </a:pPr>
            <a:r>
              <a:rPr sz="1200" b="1">
                <a:solidFill>
                  <a:srgbClr val="6CD8C9"/>
                </a:solidFill>
                <a:latin typeface="Inter"/>
                <a:ea typeface="Inter"/>
                <a:cs typeface="Inter"/>
              </a:rPr>
              <a:t>CUSTOMER WALKTHROUGH</a:t>
            </a:r>
          </a:p>
        </p:txBody>
      </p:sp>
      <p:sp>
        <p:nvSpPr>
          <p:cNvPr id="3" name="page">
            <a:extLst xmlns:a="http://schemas.openxmlformats.org/drawingml/2006/main">
              <a:ext uri="{FF2B5EF4-FFF2-40B4-BE49-F238E27FC236}">
                <a16:creationId xmlns:a16="http://schemas.microsoft.com/office/drawing/2014/main" id="{8008B0DB-E4B2-40B4-BB04-A9E2A13AB81B}"/>
              </a:ext>
            </a:extLst>
          </p:cNvPr>
          <p:cNvSpPr>
            <a:spLocks xmlns:a="http://schemas.openxmlformats.org/drawingml/2006/main" noGrp="1"/>
          </p:cNvSpPr>
          <p:nvPr/>
        </p:nvSpPr>
        <p:spPr>
          <a:xfrm xmlns:a="http://schemas.openxmlformats.org/drawingml/2006/main">
            <a:off x="10934700" y="6429375"/>
            <a:ext cx="5715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A9BBB7"/>
                </a:solidFill>
                <a:latin typeface="Inter"/>
                <a:ea typeface="Inter"/>
                <a:cs typeface="Inter"/>
              </a:defRPr>
            </a:defPPr>
          </a:lstStyle>
          <a:p xmlns:a="http://schemas.openxmlformats.org/drawingml/2006/main">
            <a:pPr algn="r">
              <a:defRPr sz="1200" b="0">
                <a:solidFill>
                  <a:srgbClr val="A9BBB7"/>
                </a:solidFill>
                <a:latin typeface="Inter"/>
                <a:ea typeface="Inter"/>
                <a:cs typeface="Inter"/>
              </a:defRPr>
            </a:pPr>
            <a:r>
              <a:rPr sz="1200" b="0">
                <a:solidFill>
                  <a:srgbClr val="A9BBB7"/>
                </a:solidFill>
                <a:latin typeface="Inter"/>
                <a:ea typeface="Inter"/>
                <a:cs typeface="Inter"/>
              </a:rPr>
              <a:t>01</a:t>
            </a:r>
          </a:p>
        </p:txBody>
      </p:sp>
      <p:sp>
        <p:nvSpPr>
          <p:cNvPr id="4" name="cover-title">
            <a:extLst xmlns:a="http://schemas.openxmlformats.org/drawingml/2006/main">
              <a:ext uri="{FF2B5EF4-FFF2-40B4-BE49-F238E27FC236}">
                <a16:creationId xmlns:a16="http://schemas.microsoft.com/office/drawing/2014/main" id="{E4C96BC8-7714-4288-B269-0F621D6E8C43}"/>
              </a:ext>
            </a:extLst>
          </p:cNvPr>
          <p:cNvSpPr>
            <a:spLocks xmlns:a="http://schemas.openxmlformats.org/drawingml/2006/main" noGrp="1"/>
          </p:cNvSpPr>
          <p:nvPr/>
        </p:nvSpPr>
        <p:spPr>
          <a:xfrm xmlns:a="http://schemas.openxmlformats.org/drawingml/2006/main">
            <a:off x="685800" y="1647825"/>
            <a:ext cx="7334250" cy="1828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4950" b="1">
                <a:solidFill>
                  <a:srgbClr val="F6FAF9"/>
                </a:solidFill>
                <a:latin typeface="Inter"/>
                <a:ea typeface="Inter"/>
                <a:cs typeface="Inter"/>
              </a:defRPr>
            </a:defPPr>
          </a:lstStyle>
          <a:p xmlns:a="http://schemas.openxmlformats.org/drawingml/2006/main">
            <a:pPr>
              <a:defRPr sz="4950" b="1">
                <a:solidFill>
                  <a:srgbClr val="F6FAF9"/>
                </a:solidFill>
                <a:latin typeface="Inter"/>
                <a:ea typeface="Inter"/>
                <a:cs typeface="Inter"/>
              </a:defRPr>
            </a:pPr>
            <a:r>
              <a:rPr sz="4950" b="1">
                <a:solidFill>
                  <a:srgbClr val="F6FAF9"/>
                </a:solidFill>
                <a:latin typeface="Inter"/>
                <a:ea typeface="Inter"/>
                <a:cs typeface="Inter"/>
              </a:rPr>
              <a:t>Your cyber</a:t>
            </a:r>
          </a:p>
          <a:p xmlns:a="http://schemas.openxmlformats.org/drawingml/2006/main">
            <a:pPr>
              <a:defRPr sz="4950" b="1">
                <a:solidFill>
                  <a:srgbClr val="F6FAF9"/>
                </a:solidFill>
                <a:latin typeface="Inter"/>
                <a:ea typeface="Inter"/>
                <a:cs typeface="Inter"/>
              </a:defRPr>
            </a:pPr>
            <a:r>
              <a:rPr sz="4950" b="1">
                <a:solidFill>
                  <a:srgbClr val="F6FAF9"/>
                </a:solidFill>
                <a:latin typeface="Inter"/>
                <a:ea typeface="Inter"/>
                <a:cs typeface="Inter"/>
              </a:rPr>
              <a:t>security baseline</a:t>
            </a:r>
          </a:p>
        </p:txBody>
      </p:sp>
      <p:sp>
        <p:nvSpPr>
          <p:cNvPr id="5" name="cover-lead">
            <a:extLst xmlns:a="http://schemas.openxmlformats.org/drawingml/2006/main">
              <a:ext uri="{FF2B5EF4-FFF2-40B4-BE49-F238E27FC236}">
                <a16:creationId xmlns:a16="http://schemas.microsoft.com/office/drawing/2014/main" id="{E7BA7EE3-CD03-4523-AF1C-3D3C4381DC8B}"/>
              </a:ext>
            </a:extLst>
          </p:cNvPr>
          <p:cNvSpPr>
            <a:spLocks xmlns:a="http://schemas.openxmlformats.org/drawingml/2006/main" noGrp="1"/>
          </p:cNvSpPr>
          <p:nvPr/>
        </p:nvSpPr>
        <p:spPr>
          <a:xfrm xmlns:a="http://schemas.openxmlformats.org/drawingml/2006/main">
            <a:off x="723900" y="3800475"/>
            <a:ext cx="70485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325" b="0">
                <a:solidFill>
                  <a:srgbClr val="D7E2DF"/>
                </a:solidFill>
                <a:latin typeface="Inter"/>
                <a:ea typeface="Inter"/>
                <a:cs typeface="Inter"/>
              </a:defRPr>
            </a:defPPr>
          </a:lstStyle>
          <a:p xmlns:a="http://schemas.openxmlformats.org/drawingml/2006/main">
            <a:pPr>
              <a:defRPr sz="2325" b="0">
                <a:solidFill>
                  <a:srgbClr val="D7E2DF"/>
                </a:solidFill>
                <a:latin typeface="Inter"/>
                <a:ea typeface="Inter"/>
                <a:cs typeface="Inter"/>
              </a:defRPr>
            </a:pPr>
            <a:r>
              <a:rPr sz="2325" b="0">
                <a:solidFill>
                  <a:srgbClr val="D7E2DF"/>
                </a:solidFill>
                <a:latin typeface="Inter"/>
                <a:ea typeface="Inter"/>
                <a:cs typeface="Inter"/>
              </a:rPr>
              <a:t>A guided conversation through</a:t>
            </a:r>
          </a:p>
          <a:p xmlns:a="http://schemas.openxmlformats.org/drawingml/2006/main">
            <a:pPr>
              <a:defRPr sz="2325" b="0">
                <a:solidFill>
                  <a:srgbClr val="D7E2DF"/>
                </a:solidFill>
                <a:latin typeface="Inter"/>
                <a:ea typeface="Inter"/>
                <a:cs typeface="Inter"/>
              </a:defRPr>
            </a:pPr>
            <a:r>
              <a:rPr sz="2325" b="0">
                <a:solidFill>
                  <a:srgbClr val="D7E2DF"/>
                </a:solidFill>
                <a:latin typeface="Inter"/>
                <a:ea typeface="Inter"/>
                <a:cs typeface="Inter"/>
              </a:rPr>
              <a:t>the No Fries questionnaire</a:t>
            </a:r>
          </a:p>
        </p:txBody>
      </p:sp>
      <p:sp>
        <p:nvSpPr>
          <p:cNvPr id="6" name="cover-count">
            <a:extLst xmlns:a="http://schemas.openxmlformats.org/drawingml/2006/main">
              <a:ext uri="{FF2B5EF4-FFF2-40B4-BE49-F238E27FC236}">
                <a16:creationId xmlns:a16="http://schemas.microsoft.com/office/drawing/2014/main" id="{15C89E10-D706-430B-9177-C13DA567821C}"/>
              </a:ext>
            </a:extLst>
          </p:cNvPr>
          <p:cNvSpPr>
            <a:spLocks xmlns:a="http://schemas.openxmlformats.org/drawingml/2006/main" noGrp="1"/>
          </p:cNvSpPr>
          <p:nvPr/>
        </p:nvSpPr>
        <p:spPr>
          <a:xfrm xmlns:a="http://schemas.openxmlformats.org/drawingml/2006/main">
            <a:off x="723900" y="5467350"/>
            <a:ext cx="7429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75" b="1">
                <a:solidFill>
                  <a:srgbClr val="FFD400"/>
                </a:solidFill>
                <a:latin typeface="Inter"/>
                <a:ea typeface="Inter"/>
                <a:cs typeface="Inter"/>
              </a:defRPr>
            </a:defPPr>
          </a:lstStyle>
          <a:p xmlns:a="http://schemas.openxmlformats.org/drawingml/2006/main">
            <a:pPr>
              <a:defRPr sz="1875" b="1">
                <a:solidFill>
                  <a:srgbClr val="FFD400"/>
                </a:solidFill>
                <a:latin typeface="Inter"/>
                <a:ea typeface="Inter"/>
                <a:cs typeface="Inter"/>
              </a:defRPr>
            </a:pPr>
            <a:r>
              <a:rPr sz="1875" b="1">
                <a:solidFill>
                  <a:srgbClr val="FFD400"/>
                </a:solidFill>
                <a:latin typeface="Inter"/>
                <a:ea typeface="Inter"/>
                <a:cs typeface="Inter"/>
              </a:rPr>
              <a:t>14 questions. One shared starting point.</a:t>
            </a:r>
          </a:p>
        </p:txBody>
      </p:sp>
      <p:pic>
        <p:nvPicPr>
          <p:cNvPr id="7" name="">
            <a:extLst xmlns:a="http://schemas.openxmlformats.org/drawingml/2006/main">
              <a:ext uri="{FF2B5EF4-FFF2-40B4-BE49-F238E27FC236}">
                <a16:creationId xmlns:a16="http://schemas.microsoft.com/office/drawing/2014/main" id="{3D8EBCB8-342E-4C11-A2C0-C971C51915CC}"/>
              </a:ext>
            </a:extLst>
          </p:cNvPr>
          <p:cNvPicPr>
            <a:picLocks xmlns:a="http://schemas.openxmlformats.org/drawingml/2006/main" noChangeAspect="1"/>
          </p:cNvPicPr>
          <p:nvPr/>
        </p:nvPicPr>
        <p:blipFill>
          <a:blip xmlns:r="http://schemas.openxmlformats.org/officeDocument/2006/relationships" xmlns:a="http://schemas.openxmlformats.org/drawingml/2006/main" r:embed="Rc983d2ccdef24ccf"/>
          <a:stretch xmlns:a="http://schemas.openxmlformats.org/drawingml/2006/main"/>
        </p:blipFill>
        <p:spPr>
          <a:xfrm xmlns:a="http://schemas.openxmlformats.org/drawingml/2006/main">
            <a:off x="8267700" y="1895475"/>
            <a:ext cx="3238500" cy="3238500"/>
          </a:xfrm>
          <a:prstGeom xmlns:a="http://schemas.openxmlformats.org/drawingml/2006/main" prst="rect">
            <a:avLst/>
          </a:prstGeom>
        </p:spPr>
      </p:pic>
    </p:spTree>
    <p:extLst>
      <p:ext uri="{BB962C8B-B14F-4D97-AF65-F5344CB8AC3E}">
        <p14:creationId xmlns:p14="http://schemas.microsoft.com/office/powerpoint/2010/main" val="500824760"/>
      </p:ext>
    </p:extLst>
  </p:cSld>
</p:sld>
</file>

<file path=ppt/slides/slide2.xml><?xml version="1.0" encoding="utf-8"?>
<p:sld xmlns:p="http://schemas.openxmlformats.org/presentationml/2006/main">
  <p:cSld>
    <p:bg>
      <p:bgPr>
        <a:solidFill xmlns:a="http://schemas.openxmlformats.org/drawingml/2006/main">
          <a:srgbClr val="08100F"/>
        </a:solidFill>
      </p:bgPr>
    </p:bg>
    <p:spTree>
      <p:nvGrpSpPr>
        <p:cNvPr id="1" name=""/>
        <p:cNvGrpSpPr/>
        <p:nvPr/>
      </p:nvGrpSpPr>
      <p:grpSpPr>
        <a:xfrm xmlns:a="http://schemas.openxmlformats.org/drawingml/2006/main"/>
      </p:grpSpPr>
      <p:sp>
        <p:nvSpPr>
          <p:cNvPr id="10" name="brand">
            <a:extLst xmlns:a="http://schemas.openxmlformats.org/drawingml/2006/main">
              <a:ext uri="{FF2B5EF4-FFF2-40B4-BE49-F238E27FC236}">
                <a16:creationId xmlns:a16="http://schemas.microsoft.com/office/drawing/2014/main" id="{3D52E7AC-1136-4688-8B43-CBF4D42C59B4}"/>
              </a:ext>
            </a:extLst>
          </p:cNvPr>
          <p:cNvSpPr>
            <a:spLocks xmlns:a="http://schemas.openxmlformats.org/drawingml/2006/main" noGrp="1"/>
          </p:cNvSpPr>
          <p:nvPr/>
        </p:nvSpPr>
        <p:spPr>
          <a:xfrm xmlns:a="http://schemas.openxmlformats.org/drawingml/2006/main">
            <a:off x="685800" y="323850"/>
            <a:ext cx="2952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00" b="1">
                <a:solidFill>
                  <a:srgbClr val="F6FAF9"/>
                </a:solidFill>
                <a:latin typeface="Inter"/>
                <a:ea typeface="Inter"/>
                <a:cs typeface="Inter"/>
              </a:defRPr>
            </a:defPPr>
          </a:lstStyle>
          <a:p xmlns:a="http://schemas.openxmlformats.org/drawingml/2006/main">
            <a:pPr>
              <a:defRPr sz="1800" b="1">
                <a:solidFill>
                  <a:srgbClr val="F6FAF9"/>
                </a:solidFill>
                <a:latin typeface="Inter"/>
                <a:ea typeface="Inter"/>
                <a:cs typeface="Inter"/>
              </a:defRPr>
            </a:pPr>
            <a:r>
              <a:rPr sz="1800" b="1">
                <a:solidFill>
                  <a:srgbClr val="F6FAF9"/>
                </a:solidFill>
                <a:latin typeface="Inter"/>
                <a:ea typeface="Inter"/>
                <a:cs typeface="Inter"/>
              </a:rPr>
              <a:t>NO FRIES</a:t>
            </a:r>
          </a:p>
        </p:txBody>
      </p:sp>
      <p:sp>
        <p:nvSpPr>
          <p:cNvPr id="2" name="section">
            <a:extLst xmlns:a="http://schemas.openxmlformats.org/drawingml/2006/main">
              <a:ext uri="{FF2B5EF4-FFF2-40B4-BE49-F238E27FC236}">
                <a16:creationId xmlns:a16="http://schemas.microsoft.com/office/drawing/2014/main" id="{B6515B7A-C224-494B-BB01-ABE55AE1397B}"/>
              </a:ext>
            </a:extLst>
          </p:cNvPr>
          <p:cNvSpPr>
            <a:spLocks xmlns:a="http://schemas.openxmlformats.org/drawingml/2006/main" noGrp="1"/>
          </p:cNvSpPr>
          <p:nvPr/>
        </p:nvSpPr>
        <p:spPr>
          <a:xfrm xmlns:a="http://schemas.openxmlformats.org/drawingml/2006/main">
            <a:off x="5524500" y="371475"/>
            <a:ext cx="59817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1">
                <a:solidFill>
                  <a:srgbClr val="6CD8C9"/>
                </a:solidFill>
                <a:latin typeface="Inter"/>
                <a:ea typeface="Inter"/>
                <a:cs typeface="Inter"/>
              </a:defRPr>
            </a:defPPr>
          </a:lstStyle>
          <a:p xmlns:a="http://schemas.openxmlformats.org/drawingml/2006/main">
            <a:pPr algn="r">
              <a:defRPr sz="1200" b="1">
                <a:solidFill>
                  <a:srgbClr val="6CD8C9"/>
                </a:solidFill>
                <a:latin typeface="Inter"/>
                <a:ea typeface="Inter"/>
                <a:cs typeface="Inter"/>
              </a:defRPr>
            </a:pPr>
            <a:r>
              <a:rPr sz="1200" b="1">
                <a:solidFill>
                  <a:srgbClr val="6CD8C9"/>
                </a:solidFill>
                <a:latin typeface="Inter"/>
                <a:ea typeface="Inter"/>
                <a:cs typeface="Inter"/>
              </a:rPr>
              <a:t>BEFORE QUESTION 01</a:t>
            </a:r>
          </a:p>
        </p:txBody>
      </p:sp>
      <p:sp>
        <p:nvSpPr>
          <p:cNvPr id="3" name="page">
            <a:extLst xmlns:a="http://schemas.openxmlformats.org/drawingml/2006/main">
              <a:ext uri="{FF2B5EF4-FFF2-40B4-BE49-F238E27FC236}">
                <a16:creationId xmlns:a16="http://schemas.microsoft.com/office/drawing/2014/main" id="{F9361283-F7BB-447E-AB24-10E5748BB36D}"/>
              </a:ext>
            </a:extLst>
          </p:cNvPr>
          <p:cNvSpPr>
            <a:spLocks xmlns:a="http://schemas.openxmlformats.org/drawingml/2006/main" noGrp="1"/>
          </p:cNvSpPr>
          <p:nvPr/>
        </p:nvSpPr>
        <p:spPr>
          <a:xfrm xmlns:a="http://schemas.openxmlformats.org/drawingml/2006/main">
            <a:off x="10934700" y="6429375"/>
            <a:ext cx="5715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A9BBB7"/>
                </a:solidFill>
                <a:latin typeface="Inter"/>
                <a:ea typeface="Inter"/>
                <a:cs typeface="Inter"/>
              </a:defRPr>
            </a:defPPr>
          </a:lstStyle>
          <a:p xmlns:a="http://schemas.openxmlformats.org/drawingml/2006/main">
            <a:pPr algn="r">
              <a:defRPr sz="1200" b="0">
                <a:solidFill>
                  <a:srgbClr val="A9BBB7"/>
                </a:solidFill>
                <a:latin typeface="Inter"/>
                <a:ea typeface="Inter"/>
                <a:cs typeface="Inter"/>
              </a:defRPr>
            </a:pPr>
            <a:r>
              <a:rPr sz="1200" b="0">
                <a:solidFill>
                  <a:srgbClr val="A9BBB7"/>
                </a:solidFill>
                <a:latin typeface="Inter"/>
                <a:ea typeface="Inter"/>
                <a:cs typeface="Inter"/>
              </a:rPr>
              <a:t>02</a:t>
            </a:r>
          </a:p>
        </p:txBody>
      </p:sp>
      <p:sp>
        <p:nvSpPr>
          <p:cNvPr id="4" name="title">
            <a:extLst xmlns:a="http://schemas.openxmlformats.org/drawingml/2006/main">
              <a:ext uri="{FF2B5EF4-FFF2-40B4-BE49-F238E27FC236}">
                <a16:creationId xmlns:a16="http://schemas.microsoft.com/office/drawing/2014/main" id="{2CDC5B9E-8A49-49D1-B824-C17B75B0695E}"/>
              </a:ext>
            </a:extLst>
          </p:cNvPr>
          <p:cNvSpPr>
            <a:spLocks xmlns:a="http://schemas.openxmlformats.org/drawingml/2006/main" noGrp="1"/>
          </p:cNvSpPr>
          <p:nvPr/>
        </p:nvSpPr>
        <p:spPr>
          <a:xfrm xmlns:a="http://schemas.openxmlformats.org/drawingml/2006/main">
            <a:off x="685800" y="1066800"/>
            <a:ext cx="10820400" cy="1219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4050" b="1">
                <a:solidFill>
                  <a:srgbClr val="F6FAF9"/>
                </a:solidFill>
                <a:latin typeface="Inter"/>
                <a:ea typeface="Inter"/>
                <a:cs typeface="Inter"/>
              </a:defRPr>
            </a:defPPr>
          </a:lstStyle>
          <a:p xmlns:a="http://schemas.openxmlformats.org/drawingml/2006/main">
            <a:pPr>
              <a:defRPr sz="4050" b="1">
                <a:solidFill>
                  <a:srgbClr val="F6FAF9"/>
                </a:solidFill>
                <a:latin typeface="Inter"/>
                <a:ea typeface="Inter"/>
                <a:cs typeface="Inter"/>
              </a:defRPr>
            </a:pPr>
            <a:r>
              <a:rPr sz="4050" b="1">
                <a:solidFill>
                  <a:srgbClr val="F6FAF9"/>
                </a:solidFill>
                <a:latin typeface="Inter"/>
                <a:ea typeface="Inter"/>
                <a:cs typeface="Inter"/>
              </a:rPr>
              <a:t>The scope of this assessment</a:t>
            </a:r>
          </a:p>
        </p:txBody>
      </p:sp>
      <p:sp>
        <p:nvSpPr>
          <p:cNvPr id="5" name="subtitle">
            <a:extLst xmlns:a="http://schemas.openxmlformats.org/drawingml/2006/main">
              <a:ext uri="{FF2B5EF4-FFF2-40B4-BE49-F238E27FC236}">
                <a16:creationId xmlns:a16="http://schemas.microsoft.com/office/drawing/2014/main" id="{8711E61C-69B8-494A-ACA8-A7A31F3F9C12}"/>
              </a:ext>
            </a:extLst>
          </p:cNvPr>
          <p:cNvSpPr>
            <a:spLocks xmlns:a="http://schemas.openxmlformats.org/drawingml/2006/main" noGrp="1"/>
          </p:cNvSpPr>
          <p:nvPr/>
        </p:nvSpPr>
        <p:spPr>
          <a:xfrm xmlns:a="http://schemas.openxmlformats.org/drawingml/2006/main">
            <a:off x="685800" y="2400300"/>
            <a:ext cx="10668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00" b="0">
                <a:solidFill>
                  <a:srgbClr val="D7E2DF"/>
                </a:solidFill>
                <a:latin typeface="Inter"/>
                <a:ea typeface="Inter"/>
                <a:cs typeface="Inter"/>
              </a:defRPr>
            </a:defPPr>
          </a:lstStyle>
          <a:p xmlns:a="http://schemas.openxmlformats.org/drawingml/2006/main">
            <a:pPr>
              <a:defRPr sz="2100" b="0">
                <a:solidFill>
                  <a:srgbClr val="D7E2DF"/>
                </a:solidFill>
                <a:latin typeface="Inter"/>
                <a:ea typeface="Inter"/>
                <a:cs typeface="Inter"/>
              </a:defRPr>
            </a:pPr>
            <a:r>
              <a:rPr sz="2100" b="0">
                <a:solidFill>
                  <a:srgbClr val="D7E2DF"/>
                </a:solidFill>
                <a:latin typeface="Inter"/>
                <a:ea typeface="Inter"/>
                <a:cs typeface="Inter"/>
              </a:rPr>
              <a:t>We agree what the answers cover before we begin.</a:t>
            </a:r>
          </a:p>
        </p:txBody>
      </p:sp>
      <p:sp>
        <p:nvSpPr>
          <p:cNvPr id="6" name="scope-label">
            <a:extLst xmlns:a="http://schemas.openxmlformats.org/drawingml/2006/main">
              <a:ext uri="{FF2B5EF4-FFF2-40B4-BE49-F238E27FC236}">
                <a16:creationId xmlns:a16="http://schemas.microsoft.com/office/drawing/2014/main" id="{A134723E-D54D-489F-A9B8-D4F18CB57335}"/>
              </a:ext>
            </a:extLst>
          </p:cNvPr>
          <p:cNvSpPr>
            <a:spLocks xmlns:a="http://schemas.openxmlformats.org/drawingml/2006/main" noGrp="1"/>
          </p:cNvSpPr>
          <p:nvPr/>
        </p:nvSpPr>
        <p:spPr>
          <a:xfrm xmlns:a="http://schemas.openxmlformats.org/drawingml/2006/main">
            <a:off x="685800" y="3476625"/>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350" b="1">
                <a:solidFill>
                  <a:srgbClr val="6CD8C9"/>
                </a:solidFill>
                <a:latin typeface="Inter"/>
                <a:ea typeface="Inter"/>
                <a:cs typeface="Inter"/>
              </a:defRPr>
            </a:defPPr>
          </a:lstStyle>
          <a:p xmlns:a="http://schemas.openxmlformats.org/drawingml/2006/main">
            <a:pPr>
              <a:defRPr sz="1350" b="1">
                <a:solidFill>
                  <a:srgbClr val="6CD8C9"/>
                </a:solidFill>
                <a:latin typeface="Inter"/>
                <a:ea typeface="Inter"/>
                <a:cs typeface="Inter"/>
              </a:defRPr>
            </a:pPr>
            <a:r>
              <a:rPr sz="1350" b="1">
                <a:solidFill>
                  <a:srgbClr val="6CD8C9"/>
                </a:solidFill>
                <a:latin typeface="Inter"/>
                <a:ea typeface="Inter"/>
                <a:cs typeface="Inter"/>
              </a:rPr>
              <a:t>THE DECLARATION</a:t>
            </a:r>
          </a:p>
        </p:txBody>
      </p:sp>
      <p:sp>
        <p:nvSpPr>
          <p:cNvPr id="7" name="scope-body">
            <a:extLst xmlns:a="http://schemas.openxmlformats.org/drawingml/2006/main">
              <a:ext uri="{FF2B5EF4-FFF2-40B4-BE49-F238E27FC236}">
                <a16:creationId xmlns:a16="http://schemas.microsoft.com/office/drawing/2014/main" id="{5D0BD836-FC8B-4942-9372-4509A261C481}"/>
              </a:ext>
            </a:extLst>
          </p:cNvPr>
          <p:cNvSpPr>
            <a:spLocks xmlns:a="http://schemas.openxmlformats.org/drawingml/2006/main" noGrp="1"/>
          </p:cNvSpPr>
          <p:nvPr/>
        </p:nvSpPr>
        <p:spPr>
          <a:xfrm xmlns:a="http://schemas.openxmlformats.org/drawingml/2006/main">
            <a:off x="685800" y="3895725"/>
            <a:ext cx="5381625" cy="1885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00" b="0">
                <a:solidFill>
                  <a:srgbClr val="D7E2DF"/>
                </a:solidFill>
                <a:latin typeface="Inter"/>
                <a:ea typeface="Inter"/>
                <a:cs typeface="Inter"/>
              </a:defRPr>
            </a:defPPr>
          </a:lstStyle>
          <a:p xmlns:a="http://schemas.openxmlformats.org/drawingml/2006/main">
            <a:pPr>
              <a:defRPr sz="2100" b="0">
                <a:solidFill>
                  <a:srgbClr val="D7E2DF"/>
                </a:solidFill>
                <a:latin typeface="Inter"/>
                <a:ea typeface="Inter"/>
                <a:cs typeface="Inter"/>
              </a:defRPr>
            </a:pPr>
            <a:r>
              <a:rPr sz="2100" b="0">
                <a:solidFill>
                  <a:srgbClr val="D7E2DF"/>
                </a:solidFill>
                <a:latin typeface="Inter"/>
                <a:ea typeface="Inter"/>
                <a:cs typeface="Inter"/>
              </a:rPr>
              <a:t>Organisation and date</a:t>
            </a:r>
          </a:p>
          <a:p xmlns:a="http://schemas.openxmlformats.org/drawingml/2006/main">
            <a:pPr>
              <a:defRPr sz="2100" b="0">
                <a:solidFill>
                  <a:srgbClr val="D7E2DF"/>
                </a:solidFill>
                <a:latin typeface="Inter"/>
                <a:ea typeface="Inter"/>
                <a:cs typeface="Inter"/>
              </a:defRPr>
            </a:pPr>
            <a:r>
              <a:rPr sz="2100" b="0">
                <a:solidFill>
                  <a:srgbClr val="D7E2DF"/>
                </a:solidFill>
                <a:latin typeface="Inter"/>
                <a:ea typeface="Inter"/>
                <a:cs typeface="Inter"/>
              </a:rPr>
              <a:t>Systems, services and important data</a:t>
            </a:r>
          </a:p>
          <a:p xmlns:a="http://schemas.openxmlformats.org/drawingml/2006/main">
            <a:pPr>
              <a:defRPr sz="2100" b="0">
                <a:solidFill>
                  <a:srgbClr val="D7E2DF"/>
                </a:solidFill>
                <a:latin typeface="Inter"/>
                <a:ea typeface="Inter"/>
                <a:cs typeface="Inter"/>
              </a:defRPr>
            </a:pPr>
            <a:r>
              <a:rPr sz="2100" b="0">
                <a:solidFill>
                  <a:srgbClr val="D7E2DF"/>
                </a:solidFill>
                <a:latin typeface="Inter"/>
                <a:ea typeface="Inter"/>
                <a:cs typeface="Inter"/>
              </a:rPr>
              <a:t>Business-critical and internet-facing systems</a:t>
            </a:r>
          </a:p>
          <a:p xmlns:a="http://schemas.openxmlformats.org/drawingml/2006/main">
            <a:pPr>
              <a:defRPr sz="2100" b="0">
                <a:solidFill>
                  <a:srgbClr val="D7E2DF"/>
                </a:solidFill>
                <a:latin typeface="Inter"/>
                <a:ea typeface="Inter"/>
                <a:cs typeface="Inter"/>
              </a:defRPr>
            </a:pPr>
            <a:r>
              <a:rPr sz="2100" b="0">
                <a:solidFill>
                  <a:srgbClr val="D7E2DF"/>
                </a:solidFill>
                <a:latin typeface="Inter"/>
                <a:ea typeface="Inter"/>
                <a:cs typeface="Inter"/>
              </a:rPr>
              <a:t>Relevant providers and exclusions</a:t>
            </a:r>
          </a:p>
        </p:txBody>
      </p:sp>
      <p:sp>
        <p:nvSpPr>
          <p:cNvPr id="8" name="scope-example-label">
            <a:extLst xmlns:a="http://schemas.openxmlformats.org/drawingml/2006/main">
              <a:ext uri="{FF2B5EF4-FFF2-40B4-BE49-F238E27FC236}">
                <a16:creationId xmlns:a16="http://schemas.microsoft.com/office/drawing/2014/main" id="{D3AEA00B-6040-4BE2-A6E8-D9FA4407D121}"/>
              </a:ext>
            </a:extLst>
          </p:cNvPr>
          <p:cNvSpPr>
            <a:spLocks xmlns:a="http://schemas.openxmlformats.org/drawingml/2006/main" noGrp="1"/>
          </p:cNvSpPr>
          <p:nvPr/>
        </p:nvSpPr>
        <p:spPr>
          <a:xfrm xmlns:a="http://schemas.openxmlformats.org/drawingml/2006/main">
            <a:off x="6800850" y="3476625"/>
            <a:ext cx="4705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350" b="1">
                <a:solidFill>
                  <a:srgbClr val="6CD8C9"/>
                </a:solidFill>
                <a:latin typeface="Inter"/>
                <a:ea typeface="Inter"/>
                <a:cs typeface="Inter"/>
              </a:defRPr>
            </a:defPPr>
          </a:lstStyle>
          <a:p xmlns:a="http://schemas.openxmlformats.org/drawingml/2006/main">
            <a:pPr>
              <a:defRPr sz="1350" b="1">
                <a:solidFill>
                  <a:srgbClr val="6CD8C9"/>
                </a:solidFill>
                <a:latin typeface="Inter"/>
                <a:ea typeface="Inter"/>
                <a:cs typeface="Inter"/>
              </a:defRPr>
            </a:pPr>
            <a:r>
              <a:rPr sz="1350" b="1">
                <a:solidFill>
                  <a:srgbClr val="6CD8C9"/>
                </a:solidFill>
                <a:latin typeface="Inter"/>
                <a:ea typeface="Inter"/>
                <a:cs typeface="Inter"/>
              </a:rPr>
              <a:t>EXAMPLE SCOPE</a:t>
            </a:r>
          </a:p>
        </p:txBody>
      </p:sp>
      <p:sp>
        <p:nvSpPr>
          <p:cNvPr id="9" name="scope-example">
            <a:extLst xmlns:a="http://schemas.openxmlformats.org/drawingml/2006/main">
              <a:ext uri="{FF2B5EF4-FFF2-40B4-BE49-F238E27FC236}">
                <a16:creationId xmlns:a16="http://schemas.microsoft.com/office/drawing/2014/main" id="{4A2654EE-D824-4BAF-AA2A-EB000F89F1CC}"/>
              </a:ext>
            </a:extLst>
          </p:cNvPr>
          <p:cNvSpPr>
            <a:spLocks xmlns:a="http://schemas.openxmlformats.org/drawingml/2006/main" noGrp="1"/>
          </p:cNvSpPr>
          <p:nvPr/>
        </p:nvSpPr>
        <p:spPr>
          <a:xfrm xmlns:a="http://schemas.openxmlformats.org/drawingml/2006/main">
            <a:off x="6800850" y="3895725"/>
            <a:ext cx="4705350" cy="1600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75" b="0">
                <a:solidFill>
                  <a:srgbClr val="F6FAF9"/>
                </a:solidFill>
                <a:latin typeface="Inter"/>
                <a:ea typeface="Inter"/>
                <a:cs typeface="Inter"/>
              </a:defRPr>
            </a:defPPr>
          </a:lstStyle>
          <a:p xmlns:a="http://schemas.openxmlformats.org/drawingml/2006/main">
            <a:pPr>
              <a:defRPr sz="2175" b="0">
                <a:solidFill>
                  <a:srgbClr val="F6FAF9"/>
                </a:solidFill>
                <a:latin typeface="Inter"/>
                <a:ea typeface="Inter"/>
                <a:cs typeface="Inter"/>
              </a:defRPr>
            </a:pPr>
            <a:r>
              <a:rPr sz="2175" b="0">
                <a:solidFill>
                  <a:srgbClr val="F6FAF9"/>
                </a:solidFill>
                <a:latin typeface="Inter"/>
                <a:ea typeface="Inter"/>
                <a:cs typeface="Inter"/>
              </a:rPr>
              <a:t>“Our New Zealand office, staff laptops, Microsoft 365, finance system, website and supporting IT provider.”</a:t>
            </a:r>
          </a:p>
        </p:txBody>
      </p:sp>
    </p:spTree>
    <p:extLst>
      <p:ext uri="{BB962C8B-B14F-4D97-AF65-F5344CB8AC3E}">
        <p14:creationId xmlns:p14="http://schemas.microsoft.com/office/powerpoint/2010/main" val="1840156749"/>
      </p:ext>
    </p:extLst>
  </p:cSld>
</p:sld>
</file>

<file path=ppt/slides/slide3.xml><?xml version="1.0" encoding="utf-8"?>
<p:sld xmlns:p="http://schemas.openxmlformats.org/presentationml/2006/main">
  <p:cSld>
    <p:bg>
      <p:bgPr>
        <a:solidFill xmlns:a="http://schemas.openxmlformats.org/drawingml/2006/main">
          <a:srgbClr val="08100F"/>
        </a:solidFill>
      </p:bgPr>
    </p:bg>
    <p:spTree>
      <p:nvGrpSpPr>
        <p:cNvPr id="1" name=""/>
        <p:cNvGrpSpPr/>
        <p:nvPr/>
      </p:nvGrpSpPr>
      <p:grpSpPr>
        <a:xfrm xmlns:a="http://schemas.openxmlformats.org/drawingml/2006/main"/>
      </p:grpSpPr>
      <p:sp>
        <p:nvSpPr>
          <p:cNvPr id="16" name="brand">
            <a:extLst xmlns:a="http://schemas.openxmlformats.org/drawingml/2006/main">
              <a:ext uri="{FF2B5EF4-FFF2-40B4-BE49-F238E27FC236}">
                <a16:creationId xmlns:a16="http://schemas.microsoft.com/office/drawing/2014/main" id="{C921BEA5-CF87-4034-8F16-BC1579C43933}"/>
              </a:ext>
            </a:extLst>
          </p:cNvPr>
          <p:cNvSpPr>
            <a:spLocks xmlns:a="http://schemas.openxmlformats.org/drawingml/2006/main" noGrp="1"/>
          </p:cNvSpPr>
          <p:nvPr/>
        </p:nvSpPr>
        <p:spPr>
          <a:xfrm xmlns:a="http://schemas.openxmlformats.org/drawingml/2006/main">
            <a:off x="685800" y="323850"/>
            <a:ext cx="2952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00" b="1">
                <a:solidFill>
                  <a:srgbClr val="F6FAF9"/>
                </a:solidFill>
                <a:latin typeface="Inter"/>
                <a:ea typeface="Inter"/>
                <a:cs typeface="Inter"/>
              </a:defRPr>
            </a:defPPr>
          </a:lstStyle>
          <a:p xmlns:a="http://schemas.openxmlformats.org/drawingml/2006/main">
            <a:pPr>
              <a:defRPr sz="1800" b="1">
                <a:solidFill>
                  <a:srgbClr val="F6FAF9"/>
                </a:solidFill>
                <a:latin typeface="Inter"/>
                <a:ea typeface="Inter"/>
                <a:cs typeface="Inter"/>
              </a:defRPr>
            </a:pPr>
            <a:r>
              <a:rPr sz="1800" b="1">
                <a:solidFill>
                  <a:srgbClr val="F6FAF9"/>
                </a:solidFill>
                <a:latin typeface="Inter"/>
                <a:ea typeface="Inter"/>
                <a:cs typeface="Inter"/>
              </a:rPr>
              <a:t>NO FRIES</a:t>
            </a:r>
          </a:p>
        </p:txBody>
      </p:sp>
      <p:sp>
        <p:nvSpPr>
          <p:cNvPr id="2" name="section">
            <a:extLst xmlns:a="http://schemas.openxmlformats.org/drawingml/2006/main">
              <a:ext uri="{FF2B5EF4-FFF2-40B4-BE49-F238E27FC236}">
                <a16:creationId xmlns:a16="http://schemas.microsoft.com/office/drawing/2014/main" id="{6E8A2270-9E67-4B06-AC55-89D591086327}"/>
              </a:ext>
            </a:extLst>
          </p:cNvPr>
          <p:cNvSpPr>
            <a:spLocks xmlns:a="http://schemas.openxmlformats.org/drawingml/2006/main" noGrp="1"/>
          </p:cNvSpPr>
          <p:nvPr/>
        </p:nvSpPr>
        <p:spPr>
          <a:xfrm xmlns:a="http://schemas.openxmlformats.org/drawingml/2006/main">
            <a:off x="5524500" y="371475"/>
            <a:ext cx="59817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1">
                <a:solidFill>
                  <a:srgbClr val="6CD8C9"/>
                </a:solidFill>
                <a:latin typeface="Inter"/>
                <a:ea typeface="Inter"/>
                <a:cs typeface="Inter"/>
              </a:defRPr>
            </a:defPPr>
          </a:lstStyle>
          <a:p xmlns:a="http://schemas.openxmlformats.org/drawingml/2006/main">
            <a:pPr algn="r">
              <a:defRPr sz="1200" b="1">
                <a:solidFill>
                  <a:srgbClr val="6CD8C9"/>
                </a:solidFill>
                <a:latin typeface="Inter"/>
                <a:ea typeface="Inter"/>
                <a:cs typeface="Inter"/>
              </a:defRPr>
            </a:pPr>
            <a:r>
              <a:rPr sz="1200" b="1">
                <a:solidFill>
                  <a:srgbClr val="6CD8C9"/>
                </a:solidFill>
                <a:latin typeface="Inter"/>
                <a:ea typeface="Inter"/>
                <a:cs typeface="Inter"/>
              </a:rPr>
              <a:t>HOW TO ANSWER</a:t>
            </a:r>
          </a:p>
        </p:txBody>
      </p:sp>
      <p:sp>
        <p:nvSpPr>
          <p:cNvPr id="3" name="page">
            <a:extLst xmlns:a="http://schemas.openxmlformats.org/drawingml/2006/main">
              <a:ext uri="{FF2B5EF4-FFF2-40B4-BE49-F238E27FC236}">
                <a16:creationId xmlns:a16="http://schemas.microsoft.com/office/drawing/2014/main" id="{001DA9B1-A690-4FD1-AE28-A16F22A016F9}"/>
              </a:ext>
            </a:extLst>
          </p:cNvPr>
          <p:cNvSpPr>
            <a:spLocks xmlns:a="http://schemas.openxmlformats.org/drawingml/2006/main" noGrp="1"/>
          </p:cNvSpPr>
          <p:nvPr/>
        </p:nvSpPr>
        <p:spPr>
          <a:xfrm xmlns:a="http://schemas.openxmlformats.org/drawingml/2006/main">
            <a:off x="10934700" y="6429375"/>
            <a:ext cx="5715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A9BBB7"/>
                </a:solidFill>
                <a:latin typeface="Inter"/>
                <a:ea typeface="Inter"/>
                <a:cs typeface="Inter"/>
              </a:defRPr>
            </a:defPPr>
          </a:lstStyle>
          <a:p xmlns:a="http://schemas.openxmlformats.org/drawingml/2006/main">
            <a:pPr algn="r">
              <a:defRPr sz="1200" b="0">
                <a:solidFill>
                  <a:srgbClr val="A9BBB7"/>
                </a:solidFill>
                <a:latin typeface="Inter"/>
                <a:ea typeface="Inter"/>
                <a:cs typeface="Inter"/>
              </a:defRPr>
            </a:pPr>
            <a:r>
              <a:rPr sz="1200" b="0">
                <a:solidFill>
                  <a:srgbClr val="A9BBB7"/>
                </a:solidFill>
                <a:latin typeface="Inter"/>
                <a:ea typeface="Inter"/>
                <a:cs typeface="Inter"/>
              </a:rPr>
              <a:t>03</a:t>
            </a:r>
          </a:p>
        </p:txBody>
      </p:sp>
      <p:sp>
        <p:nvSpPr>
          <p:cNvPr id="4" name="title">
            <a:extLst xmlns:a="http://schemas.openxmlformats.org/drawingml/2006/main">
              <a:ext uri="{FF2B5EF4-FFF2-40B4-BE49-F238E27FC236}">
                <a16:creationId xmlns:a16="http://schemas.microsoft.com/office/drawing/2014/main" id="{086F6639-865B-41EA-8166-2A916D8D34A2}"/>
              </a:ext>
            </a:extLst>
          </p:cNvPr>
          <p:cNvSpPr>
            <a:spLocks xmlns:a="http://schemas.openxmlformats.org/drawingml/2006/main" noGrp="1"/>
          </p:cNvSpPr>
          <p:nvPr/>
        </p:nvSpPr>
        <p:spPr>
          <a:xfrm xmlns:a="http://schemas.openxmlformats.org/drawingml/2006/main">
            <a:off x="685800" y="1066800"/>
            <a:ext cx="10820400" cy="1219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4050" b="1">
                <a:solidFill>
                  <a:srgbClr val="F6FAF9"/>
                </a:solidFill>
                <a:latin typeface="Inter"/>
                <a:ea typeface="Inter"/>
                <a:cs typeface="Inter"/>
              </a:defRPr>
            </a:defPPr>
          </a:lstStyle>
          <a:p xmlns:a="http://schemas.openxmlformats.org/drawingml/2006/main">
            <a:pPr>
              <a:defRPr sz="4050" b="1">
                <a:solidFill>
                  <a:srgbClr val="F6FAF9"/>
                </a:solidFill>
                <a:latin typeface="Inter"/>
                <a:ea typeface="Inter"/>
                <a:cs typeface="Inter"/>
              </a:defRPr>
            </a:pPr>
            <a:r>
              <a:rPr sz="4050" b="1">
                <a:solidFill>
                  <a:srgbClr val="F6FAF9"/>
                </a:solidFill>
                <a:latin typeface="Inter"/>
                <a:ea typeface="Inter"/>
                <a:cs typeface="Inter"/>
              </a:rPr>
              <a:t>An honest answer is useful</a:t>
            </a:r>
          </a:p>
        </p:txBody>
      </p:sp>
      <p:sp>
        <p:nvSpPr>
          <p:cNvPr id="5" name="subtitle">
            <a:extLst xmlns:a="http://schemas.openxmlformats.org/drawingml/2006/main">
              <a:ext uri="{FF2B5EF4-FFF2-40B4-BE49-F238E27FC236}">
                <a16:creationId xmlns:a16="http://schemas.microsoft.com/office/drawing/2014/main" id="{5E2165C8-09D7-4C1E-B42C-66339AA92D6A}"/>
              </a:ext>
            </a:extLst>
          </p:cNvPr>
          <p:cNvSpPr>
            <a:spLocks xmlns:a="http://schemas.openxmlformats.org/drawingml/2006/main" noGrp="1"/>
          </p:cNvSpPr>
          <p:nvPr/>
        </p:nvSpPr>
        <p:spPr>
          <a:xfrm xmlns:a="http://schemas.openxmlformats.org/drawingml/2006/main">
            <a:off x="685800" y="2400300"/>
            <a:ext cx="10668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00" b="0">
                <a:solidFill>
                  <a:srgbClr val="D7E2DF"/>
                </a:solidFill>
                <a:latin typeface="Inter"/>
                <a:ea typeface="Inter"/>
                <a:cs typeface="Inter"/>
              </a:defRPr>
            </a:defPPr>
          </a:lstStyle>
          <a:p xmlns:a="http://schemas.openxmlformats.org/drawingml/2006/main">
            <a:pPr>
              <a:defRPr sz="2100" b="0">
                <a:solidFill>
                  <a:srgbClr val="D7E2DF"/>
                </a:solidFill>
                <a:latin typeface="Inter"/>
                <a:ea typeface="Inter"/>
                <a:cs typeface="Inter"/>
              </a:defRPr>
            </a:pPr>
            <a:r>
              <a:rPr sz="2100" b="0">
                <a:solidFill>
                  <a:srgbClr val="D7E2DF"/>
                </a:solidFill>
                <a:latin typeface="Inter"/>
                <a:ea typeface="Inter"/>
                <a:cs typeface="Inter"/>
              </a:rPr>
              <a:t>Choose the answer that reflects the agreed scope today.</a:t>
            </a:r>
          </a:p>
        </p:txBody>
      </p:sp>
      <p:sp>
        <p:nvSpPr>
          <p:cNvPr id="6" name="option-0">
            <a:extLst xmlns:a="http://schemas.openxmlformats.org/drawingml/2006/main">
              <a:ext uri="{FF2B5EF4-FFF2-40B4-BE49-F238E27FC236}">
                <a16:creationId xmlns:a16="http://schemas.microsoft.com/office/drawing/2014/main" id="{BD2E8507-AD4D-4A31-B036-12FBEDB3A2D3}"/>
              </a:ext>
            </a:extLst>
          </p:cNvPr>
          <p:cNvSpPr>
            <a:spLocks xmlns:a="http://schemas.openxmlformats.org/drawingml/2006/main" noGrp="1"/>
          </p:cNvSpPr>
          <p:nvPr/>
        </p:nvSpPr>
        <p:spPr>
          <a:xfrm xmlns:a="http://schemas.openxmlformats.org/drawingml/2006/main">
            <a:off x="685800" y="3390900"/>
            <a:ext cx="25717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025" b="1">
                <a:solidFill>
                  <a:srgbClr val="6CD8C9"/>
                </a:solidFill>
                <a:latin typeface="Inter"/>
                <a:ea typeface="Inter"/>
                <a:cs typeface="Inter"/>
              </a:defRPr>
            </a:defPPr>
          </a:lstStyle>
          <a:p xmlns:a="http://schemas.openxmlformats.org/drawingml/2006/main">
            <a:pPr>
              <a:defRPr sz="2025" b="1">
                <a:solidFill>
                  <a:srgbClr val="6CD8C9"/>
                </a:solidFill>
                <a:latin typeface="Inter"/>
                <a:ea typeface="Inter"/>
                <a:cs typeface="Inter"/>
              </a:defRPr>
            </a:pPr>
            <a:r>
              <a:rPr sz="2025" b="1">
                <a:solidFill>
                  <a:srgbClr val="6CD8C9"/>
                </a:solidFill>
                <a:latin typeface="Inter"/>
                <a:ea typeface="Inter"/>
                <a:cs typeface="Inter"/>
              </a:rPr>
              <a:t>Yes</a:t>
            </a:r>
          </a:p>
        </p:txBody>
      </p:sp>
      <p:sp>
        <p:nvSpPr>
          <p:cNvPr id="7" name="definition-0">
            <a:extLst xmlns:a="http://schemas.openxmlformats.org/drawingml/2006/main">
              <a:ext uri="{FF2B5EF4-FFF2-40B4-BE49-F238E27FC236}">
                <a16:creationId xmlns:a16="http://schemas.microsoft.com/office/drawing/2014/main" id="{D01FF90F-05DF-411C-BC41-81B773B5E419}"/>
              </a:ext>
            </a:extLst>
          </p:cNvPr>
          <p:cNvSpPr>
            <a:spLocks xmlns:a="http://schemas.openxmlformats.org/drawingml/2006/main" noGrp="1"/>
          </p:cNvSpPr>
          <p:nvPr/>
        </p:nvSpPr>
        <p:spPr>
          <a:xfrm xmlns:a="http://schemas.openxmlformats.org/drawingml/2006/main">
            <a:off x="3619500" y="3419475"/>
            <a:ext cx="78867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75" b="0">
                <a:solidFill>
                  <a:srgbClr val="D7E2DF"/>
                </a:solidFill>
                <a:latin typeface="Inter"/>
                <a:ea typeface="Inter"/>
                <a:cs typeface="Inter"/>
              </a:defRPr>
            </a:defPPr>
          </a:lstStyle>
          <a:p xmlns:a="http://schemas.openxmlformats.org/drawingml/2006/main">
            <a:pPr>
              <a:defRPr sz="1875" b="0">
                <a:solidFill>
                  <a:srgbClr val="D7E2DF"/>
                </a:solidFill>
                <a:latin typeface="Inter"/>
                <a:ea typeface="Inter"/>
                <a:cs typeface="Inter"/>
              </a:defRPr>
            </a:pPr>
            <a:r>
              <a:rPr sz="1875" b="0">
                <a:solidFill>
                  <a:srgbClr val="D7E2DF"/>
                </a:solidFill>
                <a:latin typeface="Inter"/>
                <a:ea typeface="Inter"/>
                <a:cs typeface="Inter"/>
              </a:rPr>
              <a:t>The practice operates across the scope.</a:t>
            </a:r>
          </a:p>
        </p:txBody>
      </p:sp>
      <p:sp>
        <p:nvSpPr>
          <p:cNvPr id="8" name="option-1">
            <a:extLst xmlns:a="http://schemas.openxmlformats.org/drawingml/2006/main">
              <a:ext uri="{FF2B5EF4-FFF2-40B4-BE49-F238E27FC236}">
                <a16:creationId xmlns:a16="http://schemas.microsoft.com/office/drawing/2014/main" id="{C0A928C7-98D9-4EC0-8E6B-122B9F6F240B}"/>
              </a:ext>
            </a:extLst>
          </p:cNvPr>
          <p:cNvSpPr>
            <a:spLocks xmlns:a="http://schemas.openxmlformats.org/drawingml/2006/main" noGrp="1"/>
          </p:cNvSpPr>
          <p:nvPr/>
        </p:nvSpPr>
        <p:spPr>
          <a:xfrm xmlns:a="http://schemas.openxmlformats.org/drawingml/2006/main">
            <a:off x="685800" y="3886200"/>
            <a:ext cx="25717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025" b="1">
                <a:solidFill>
                  <a:srgbClr val="6CD8C9"/>
                </a:solidFill>
                <a:latin typeface="Inter"/>
                <a:ea typeface="Inter"/>
                <a:cs typeface="Inter"/>
              </a:defRPr>
            </a:defPPr>
          </a:lstStyle>
          <a:p xmlns:a="http://schemas.openxmlformats.org/drawingml/2006/main">
            <a:pPr>
              <a:defRPr sz="2025" b="1">
                <a:solidFill>
                  <a:srgbClr val="6CD8C9"/>
                </a:solidFill>
                <a:latin typeface="Inter"/>
                <a:ea typeface="Inter"/>
                <a:cs typeface="Inter"/>
              </a:defRPr>
            </a:pPr>
            <a:r>
              <a:rPr sz="2025" b="1">
                <a:solidFill>
                  <a:srgbClr val="6CD8C9"/>
                </a:solidFill>
                <a:latin typeface="Inter"/>
                <a:ea typeface="Inter"/>
                <a:cs typeface="Inter"/>
              </a:rPr>
              <a:t>Partial</a:t>
            </a:r>
          </a:p>
        </p:txBody>
      </p:sp>
      <p:sp>
        <p:nvSpPr>
          <p:cNvPr id="9" name="definition-1">
            <a:extLst xmlns:a="http://schemas.openxmlformats.org/drawingml/2006/main">
              <a:ext uri="{FF2B5EF4-FFF2-40B4-BE49-F238E27FC236}">
                <a16:creationId xmlns:a16="http://schemas.microsoft.com/office/drawing/2014/main" id="{2FAFECC7-81A6-4E14-B682-0F23793B785C}"/>
              </a:ext>
            </a:extLst>
          </p:cNvPr>
          <p:cNvSpPr>
            <a:spLocks xmlns:a="http://schemas.openxmlformats.org/drawingml/2006/main" noGrp="1"/>
          </p:cNvSpPr>
          <p:nvPr/>
        </p:nvSpPr>
        <p:spPr>
          <a:xfrm xmlns:a="http://schemas.openxmlformats.org/drawingml/2006/main">
            <a:off x="3619500" y="3914775"/>
            <a:ext cx="78867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75" b="0">
                <a:solidFill>
                  <a:srgbClr val="D7E2DF"/>
                </a:solidFill>
                <a:latin typeface="Inter"/>
                <a:ea typeface="Inter"/>
                <a:cs typeface="Inter"/>
              </a:defRPr>
            </a:defPPr>
          </a:lstStyle>
          <a:p xmlns:a="http://schemas.openxmlformats.org/drawingml/2006/main">
            <a:pPr>
              <a:defRPr sz="1875" b="0">
                <a:solidFill>
                  <a:srgbClr val="D7E2DF"/>
                </a:solidFill>
                <a:latin typeface="Inter"/>
                <a:ea typeface="Inter"/>
                <a:cs typeface="Inter"/>
              </a:defRPr>
            </a:pPr>
            <a:r>
              <a:rPr sz="1875" b="0">
                <a:solidFill>
                  <a:srgbClr val="D7E2DF"/>
                </a:solidFill>
                <a:latin typeface="Inter"/>
                <a:ea typeface="Inter"/>
                <a:cs typeface="Inter"/>
              </a:rPr>
              <a:t>Some parts operate. Coverage or process has gaps.</a:t>
            </a:r>
          </a:p>
        </p:txBody>
      </p:sp>
      <p:sp>
        <p:nvSpPr>
          <p:cNvPr id="10" name="option-2">
            <a:extLst xmlns:a="http://schemas.openxmlformats.org/drawingml/2006/main">
              <a:ext uri="{FF2B5EF4-FFF2-40B4-BE49-F238E27FC236}">
                <a16:creationId xmlns:a16="http://schemas.microsoft.com/office/drawing/2014/main" id="{5BDFF45A-90D7-4364-BCDF-AD7915E663C1}"/>
              </a:ext>
            </a:extLst>
          </p:cNvPr>
          <p:cNvSpPr>
            <a:spLocks xmlns:a="http://schemas.openxmlformats.org/drawingml/2006/main" noGrp="1"/>
          </p:cNvSpPr>
          <p:nvPr/>
        </p:nvSpPr>
        <p:spPr>
          <a:xfrm xmlns:a="http://schemas.openxmlformats.org/drawingml/2006/main">
            <a:off x="685800" y="4381500"/>
            <a:ext cx="25717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025" b="1">
                <a:solidFill>
                  <a:srgbClr val="6CD8C9"/>
                </a:solidFill>
                <a:latin typeface="Inter"/>
                <a:ea typeface="Inter"/>
                <a:cs typeface="Inter"/>
              </a:defRPr>
            </a:defPPr>
          </a:lstStyle>
          <a:p xmlns:a="http://schemas.openxmlformats.org/drawingml/2006/main">
            <a:pPr>
              <a:defRPr sz="2025" b="1">
                <a:solidFill>
                  <a:srgbClr val="6CD8C9"/>
                </a:solidFill>
                <a:latin typeface="Inter"/>
                <a:ea typeface="Inter"/>
                <a:cs typeface="Inter"/>
              </a:defRPr>
            </a:pPr>
            <a:r>
              <a:rPr sz="2025" b="1">
                <a:solidFill>
                  <a:srgbClr val="6CD8C9"/>
                </a:solidFill>
                <a:latin typeface="Inter"/>
                <a:ea typeface="Inter"/>
                <a:cs typeface="Inter"/>
              </a:rPr>
              <a:t>No</a:t>
            </a:r>
          </a:p>
        </p:txBody>
      </p:sp>
      <p:sp>
        <p:nvSpPr>
          <p:cNvPr id="11" name="definition-2">
            <a:extLst xmlns:a="http://schemas.openxmlformats.org/drawingml/2006/main">
              <a:ext uri="{FF2B5EF4-FFF2-40B4-BE49-F238E27FC236}">
                <a16:creationId xmlns:a16="http://schemas.microsoft.com/office/drawing/2014/main" id="{C7907C9C-E40F-4B5D-A3C8-FDAB44E621B2}"/>
              </a:ext>
            </a:extLst>
          </p:cNvPr>
          <p:cNvSpPr>
            <a:spLocks xmlns:a="http://schemas.openxmlformats.org/drawingml/2006/main" noGrp="1"/>
          </p:cNvSpPr>
          <p:nvPr/>
        </p:nvSpPr>
        <p:spPr>
          <a:xfrm xmlns:a="http://schemas.openxmlformats.org/drawingml/2006/main">
            <a:off x="3619500" y="4410075"/>
            <a:ext cx="78867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75" b="0">
                <a:solidFill>
                  <a:srgbClr val="D7E2DF"/>
                </a:solidFill>
                <a:latin typeface="Inter"/>
                <a:ea typeface="Inter"/>
                <a:cs typeface="Inter"/>
              </a:defRPr>
            </a:defPPr>
          </a:lstStyle>
          <a:p xmlns:a="http://schemas.openxmlformats.org/drawingml/2006/main">
            <a:pPr>
              <a:defRPr sz="1875" b="0">
                <a:solidFill>
                  <a:srgbClr val="D7E2DF"/>
                </a:solidFill>
                <a:latin typeface="Inter"/>
                <a:ea typeface="Inter"/>
                <a:cs typeface="Inter"/>
              </a:defRPr>
            </a:pPr>
            <a:r>
              <a:rPr sz="1875" b="0">
                <a:solidFill>
                  <a:srgbClr val="D7E2DF"/>
                </a:solidFill>
                <a:latin typeface="Inter"/>
                <a:ea typeface="Inter"/>
                <a:cs typeface="Inter"/>
              </a:rPr>
              <a:t>The practice is absent.</a:t>
            </a:r>
          </a:p>
        </p:txBody>
      </p:sp>
      <p:sp>
        <p:nvSpPr>
          <p:cNvPr id="12" name="option-3">
            <a:extLst xmlns:a="http://schemas.openxmlformats.org/drawingml/2006/main">
              <a:ext uri="{FF2B5EF4-FFF2-40B4-BE49-F238E27FC236}">
                <a16:creationId xmlns:a16="http://schemas.microsoft.com/office/drawing/2014/main" id="{70C740E6-A476-4A90-A0C2-89274DA63B5C}"/>
              </a:ext>
            </a:extLst>
          </p:cNvPr>
          <p:cNvSpPr>
            <a:spLocks xmlns:a="http://schemas.openxmlformats.org/drawingml/2006/main" noGrp="1"/>
          </p:cNvSpPr>
          <p:nvPr/>
        </p:nvSpPr>
        <p:spPr>
          <a:xfrm xmlns:a="http://schemas.openxmlformats.org/drawingml/2006/main">
            <a:off x="685800" y="4876800"/>
            <a:ext cx="25717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025" b="1">
                <a:solidFill>
                  <a:srgbClr val="6CD8C9"/>
                </a:solidFill>
                <a:latin typeface="Inter"/>
                <a:ea typeface="Inter"/>
                <a:cs typeface="Inter"/>
              </a:defRPr>
            </a:defPPr>
          </a:lstStyle>
          <a:p xmlns:a="http://schemas.openxmlformats.org/drawingml/2006/main">
            <a:pPr>
              <a:defRPr sz="2025" b="1">
                <a:solidFill>
                  <a:srgbClr val="6CD8C9"/>
                </a:solidFill>
                <a:latin typeface="Inter"/>
                <a:ea typeface="Inter"/>
                <a:cs typeface="Inter"/>
              </a:defRPr>
            </a:pPr>
            <a:r>
              <a:rPr sz="2025" b="1">
                <a:solidFill>
                  <a:srgbClr val="6CD8C9"/>
                </a:solidFill>
                <a:latin typeface="Inter"/>
                <a:ea typeface="Inter"/>
                <a:cs typeface="Inter"/>
              </a:rPr>
              <a:t>Unknown</a:t>
            </a:r>
          </a:p>
        </p:txBody>
      </p:sp>
      <p:sp>
        <p:nvSpPr>
          <p:cNvPr id="13" name="definition-3">
            <a:extLst xmlns:a="http://schemas.openxmlformats.org/drawingml/2006/main">
              <a:ext uri="{FF2B5EF4-FFF2-40B4-BE49-F238E27FC236}">
                <a16:creationId xmlns:a16="http://schemas.microsoft.com/office/drawing/2014/main" id="{55088F00-D366-4C02-ADD9-3D7F804E67A2}"/>
              </a:ext>
            </a:extLst>
          </p:cNvPr>
          <p:cNvSpPr>
            <a:spLocks xmlns:a="http://schemas.openxmlformats.org/drawingml/2006/main" noGrp="1"/>
          </p:cNvSpPr>
          <p:nvPr/>
        </p:nvSpPr>
        <p:spPr>
          <a:xfrm xmlns:a="http://schemas.openxmlformats.org/drawingml/2006/main">
            <a:off x="3619500" y="4905375"/>
            <a:ext cx="78867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75" b="0">
                <a:solidFill>
                  <a:srgbClr val="D7E2DF"/>
                </a:solidFill>
                <a:latin typeface="Inter"/>
                <a:ea typeface="Inter"/>
                <a:cs typeface="Inter"/>
              </a:defRPr>
            </a:defPPr>
          </a:lstStyle>
          <a:p xmlns:a="http://schemas.openxmlformats.org/drawingml/2006/main">
            <a:pPr>
              <a:defRPr sz="1875" b="0">
                <a:solidFill>
                  <a:srgbClr val="D7E2DF"/>
                </a:solidFill>
                <a:latin typeface="Inter"/>
                <a:ea typeface="Inter"/>
                <a:cs typeface="Inter"/>
              </a:defRPr>
            </a:pPr>
            <a:r>
              <a:rPr sz="1875" b="0">
                <a:solidFill>
                  <a:srgbClr val="D7E2DF"/>
                </a:solidFill>
                <a:latin typeface="Inter"/>
                <a:ea typeface="Inter"/>
                <a:cs typeface="Inter"/>
              </a:rPr>
              <a:t>We need to check before we can answer.</a:t>
            </a:r>
          </a:p>
        </p:txBody>
      </p:sp>
      <p:sp>
        <p:nvSpPr>
          <p:cNvPr id="14" name="option-4">
            <a:extLst xmlns:a="http://schemas.openxmlformats.org/drawingml/2006/main">
              <a:ext uri="{FF2B5EF4-FFF2-40B4-BE49-F238E27FC236}">
                <a16:creationId xmlns:a16="http://schemas.microsoft.com/office/drawing/2014/main" id="{A081DB33-D7ED-4C29-ADD1-66CA183877B1}"/>
              </a:ext>
            </a:extLst>
          </p:cNvPr>
          <p:cNvSpPr>
            <a:spLocks xmlns:a="http://schemas.openxmlformats.org/drawingml/2006/main" noGrp="1"/>
          </p:cNvSpPr>
          <p:nvPr/>
        </p:nvSpPr>
        <p:spPr>
          <a:xfrm xmlns:a="http://schemas.openxmlformats.org/drawingml/2006/main">
            <a:off x="685800" y="5372100"/>
            <a:ext cx="25717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025" b="1">
                <a:solidFill>
                  <a:srgbClr val="FFD400"/>
                </a:solidFill>
                <a:latin typeface="Inter"/>
                <a:ea typeface="Inter"/>
                <a:cs typeface="Inter"/>
              </a:defRPr>
            </a:defPPr>
          </a:lstStyle>
          <a:p xmlns:a="http://schemas.openxmlformats.org/drawingml/2006/main">
            <a:pPr>
              <a:defRPr sz="2025" b="1">
                <a:solidFill>
                  <a:srgbClr val="FFD400"/>
                </a:solidFill>
                <a:latin typeface="Inter"/>
                <a:ea typeface="Inter"/>
                <a:cs typeface="Inter"/>
              </a:defRPr>
            </a:pPr>
            <a:r>
              <a:rPr sz="2025" b="1">
                <a:solidFill>
                  <a:srgbClr val="FFD400"/>
                </a:solidFill>
                <a:latin typeface="Inter"/>
                <a:ea typeface="Inter"/>
                <a:cs typeface="Inter"/>
              </a:rPr>
              <a:t>Not applicable</a:t>
            </a:r>
          </a:p>
        </p:txBody>
      </p:sp>
      <p:sp>
        <p:nvSpPr>
          <p:cNvPr id="15" name="definition-4">
            <a:extLst xmlns:a="http://schemas.openxmlformats.org/drawingml/2006/main">
              <a:ext uri="{FF2B5EF4-FFF2-40B4-BE49-F238E27FC236}">
                <a16:creationId xmlns:a16="http://schemas.microsoft.com/office/drawing/2014/main" id="{45C71125-D6D0-4C48-93BB-E2893F800A1E}"/>
              </a:ext>
            </a:extLst>
          </p:cNvPr>
          <p:cNvSpPr>
            <a:spLocks xmlns:a="http://schemas.openxmlformats.org/drawingml/2006/main" noGrp="1"/>
          </p:cNvSpPr>
          <p:nvPr/>
        </p:nvSpPr>
        <p:spPr>
          <a:xfrm xmlns:a="http://schemas.openxmlformats.org/drawingml/2006/main">
            <a:off x="3619500" y="5400675"/>
            <a:ext cx="78867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75" b="0">
                <a:solidFill>
                  <a:srgbClr val="D7E2DF"/>
                </a:solidFill>
                <a:latin typeface="Inter"/>
                <a:ea typeface="Inter"/>
                <a:cs typeface="Inter"/>
              </a:defRPr>
            </a:defPPr>
          </a:lstStyle>
          <a:p xmlns:a="http://schemas.openxmlformats.org/drawingml/2006/main">
            <a:pPr>
              <a:defRPr sz="1875" b="0">
                <a:solidFill>
                  <a:srgbClr val="D7E2DF"/>
                </a:solidFill>
                <a:latin typeface="Inter"/>
                <a:ea typeface="Inter"/>
                <a:cs typeface="Inter"/>
              </a:defRPr>
            </a:pPr>
            <a:r>
              <a:rPr sz="1875" b="0">
                <a:solidFill>
                  <a:srgbClr val="D7E2DF"/>
                </a:solidFill>
                <a:latin typeface="Inter"/>
                <a:ea typeface="Inter"/>
                <a:cs typeface="Inter"/>
              </a:rPr>
              <a:t>Explain why it does not apply. The claim needs review.</a:t>
            </a:r>
          </a:p>
        </p:txBody>
      </p:sp>
    </p:spTree>
    <p:extLst>
      <p:ext uri="{BB962C8B-B14F-4D97-AF65-F5344CB8AC3E}">
        <p14:creationId xmlns:p14="http://schemas.microsoft.com/office/powerpoint/2010/main" val="631956139"/>
      </p:ext>
    </p:extLst>
  </p:cSld>
</p:sld>
</file>

<file path=ppt/slides/slide4.xml><?xml version="1.0" encoding="utf-8"?>
<p:sld xmlns:p="http://schemas.openxmlformats.org/presentationml/2006/main">
  <p:cSld>
    <p:bg>
      <p:bgPr>
        <a:solidFill xmlns:a="http://schemas.openxmlformats.org/drawingml/2006/main">
          <a:srgbClr val="08100F"/>
        </a:solidFill>
      </p:bgPr>
    </p:bg>
    <p:spTree>
      <p:nvGrpSpPr>
        <p:cNvPr id="1" name=""/>
        <p:cNvGrpSpPr/>
        <p:nvPr/>
      </p:nvGrpSpPr>
      <p:grpSpPr>
        <a:xfrm xmlns:a="http://schemas.openxmlformats.org/drawingml/2006/main"/>
      </p:grpSpPr>
      <p:sp>
        <p:nvSpPr>
          <p:cNvPr id="15" name="brand">
            <a:extLst xmlns:a="http://schemas.openxmlformats.org/drawingml/2006/main">
              <a:ext uri="{FF2B5EF4-FFF2-40B4-BE49-F238E27FC236}">
                <a16:creationId xmlns:a16="http://schemas.microsoft.com/office/drawing/2014/main" id="{4AD87463-FA54-47F5-8507-311B71C6DBFD}"/>
              </a:ext>
            </a:extLst>
          </p:cNvPr>
          <p:cNvSpPr>
            <a:spLocks xmlns:a="http://schemas.openxmlformats.org/drawingml/2006/main" noGrp="1"/>
          </p:cNvSpPr>
          <p:nvPr/>
        </p:nvSpPr>
        <p:spPr>
          <a:xfrm xmlns:a="http://schemas.openxmlformats.org/drawingml/2006/main">
            <a:off x="685800" y="323850"/>
            <a:ext cx="2952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00" b="1">
                <a:solidFill>
                  <a:srgbClr val="F6FAF9"/>
                </a:solidFill>
                <a:latin typeface="Inter"/>
                <a:ea typeface="Inter"/>
                <a:cs typeface="Inter"/>
              </a:defRPr>
            </a:defPPr>
          </a:lstStyle>
          <a:p xmlns:a="http://schemas.openxmlformats.org/drawingml/2006/main">
            <a:pPr>
              <a:defRPr sz="1800" b="1">
                <a:solidFill>
                  <a:srgbClr val="F6FAF9"/>
                </a:solidFill>
                <a:latin typeface="Inter"/>
                <a:ea typeface="Inter"/>
                <a:cs typeface="Inter"/>
              </a:defRPr>
            </a:pPr>
            <a:r>
              <a:rPr sz="1800" b="1">
                <a:solidFill>
                  <a:srgbClr val="F6FAF9"/>
                </a:solidFill>
                <a:latin typeface="Inter"/>
                <a:ea typeface="Inter"/>
                <a:cs typeface="Inter"/>
              </a:rPr>
              <a:t>NO FRIES</a:t>
            </a:r>
          </a:p>
        </p:txBody>
      </p:sp>
      <p:sp>
        <p:nvSpPr>
          <p:cNvPr id="2" name="section">
            <a:extLst xmlns:a="http://schemas.openxmlformats.org/drawingml/2006/main">
              <a:ext uri="{FF2B5EF4-FFF2-40B4-BE49-F238E27FC236}">
                <a16:creationId xmlns:a16="http://schemas.microsoft.com/office/drawing/2014/main" id="{0E0483D9-CB84-4E55-9222-1D166BBD46F9}"/>
              </a:ext>
            </a:extLst>
          </p:cNvPr>
          <p:cNvSpPr>
            <a:spLocks xmlns:a="http://schemas.openxmlformats.org/drawingml/2006/main" noGrp="1"/>
          </p:cNvSpPr>
          <p:nvPr/>
        </p:nvSpPr>
        <p:spPr>
          <a:xfrm xmlns:a="http://schemas.openxmlformats.org/drawingml/2006/main">
            <a:off x="5524500" y="371475"/>
            <a:ext cx="59817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1">
                <a:solidFill>
                  <a:srgbClr val="6CD8C9"/>
                </a:solidFill>
                <a:latin typeface="Inter"/>
                <a:ea typeface="Inter"/>
                <a:cs typeface="Inter"/>
              </a:defRPr>
            </a:defPPr>
          </a:lstStyle>
          <a:p xmlns:a="http://schemas.openxmlformats.org/drawingml/2006/main">
            <a:pPr algn="r">
              <a:defRPr sz="1200" b="1">
                <a:solidFill>
                  <a:srgbClr val="6CD8C9"/>
                </a:solidFill>
                <a:latin typeface="Inter"/>
                <a:ea typeface="Inter"/>
                <a:cs typeface="Inter"/>
              </a:defRPr>
            </a:pPr>
            <a:r>
              <a:rPr sz="1200" b="1">
                <a:solidFill>
                  <a:srgbClr val="6CD8C9"/>
                </a:solidFill>
                <a:latin typeface="Inter"/>
                <a:ea typeface="Inter"/>
                <a:cs typeface="Inter"/>
              </a:rPr>
              <a:t>QUESTION 01 / 14</a:t>
            </a:r>
          </a:p>
        </p:txBody>
      </p:sp>
      <p:sp>
        <p:nvSpPr>
          <p:cNvPr id="3" name="page">
            <a:extLst xmlns:a="http://schemas.openxmlformats.org/drawingml/2006/main">
              <a:ext uri="{FF2B5EF4-FFF2-40B4-BE49-F238E27FC236}">
                <a16:creationId xmlns:a16="http://schemas.microsoft.com/office/drawing/2014/main" id="{53CF16E9-2C75-4CC8-A9BA-4FC75BCAC210}"/>
              </a:ext>
            </a:extLst>
          </p:cNvPr>
          <p:cNvSpPr>
            <a:spLocks xmlns:a="http://schemas.openxmlformats.org/drawingml/2006/main" noGrp="1"/>
          </p:cNvSpPr>
          <p:nvPr/>
        </p:nvSpPr>
        <p:spPr>
          <a:xfrm xmlns:a="http://schemas.openxmlformats.org/drawingml/2006/main">
            <a:off x="10934700" y="6429375"/>
            <a:ext cx="5715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A9BBB7"/>
                </a:solidFill>
                <a:latin typeface="Inter"/>
                <a:ea typeface="Inter"/>
                <a:cs typeface="Inter"/>
              </a:defRPr>
            </a:defPPr>
          </a:lstStyle>
          <a:p xmlns:a="http://schemas.openxmlformats.org/drawingml/2006/main">
            <a:pPr algn="r">
              <a:defRPr sz="1200" b="0">
                <a:solidFill>
                  <a:srgbClr val="A9BBB7"/>
                </a:solidFill>
                <a:latin typeface="Inter"/>
                <a:ea typeface="Inter"/>
                <a:cs typeface="Inter"/>
              </a:defRPr>
            </a:pPr>
            <a:r>
              <a:rPr sz="1200" b="0">
                <a:solidFill>
                  <a:srgbClr val="A9BBB7"/>
                </a:solidFill>
                <a:latin typeface="Inter"/>
                <a:ea typeface="Inter"/>
                <a:cs typeface="Inter"/>
              </a:rPr>
              <a:t>04</a:t>
            </a:r>
          </a:p>
        </p:txBody>
      </p:sp>
      <p:sp>
        <p:nvSpPr>
          <p:cNvPr id="4" name="question-id">
            <a:extLst xmlns:a="http://schemas.openxmlformats.org/drawingml/2006/main">
              <a:ext uri="{FF2B5EF4-FFF2-40B4-BE49-F238E27FC236}">
                <a16:creationId xmlns:a16="http://schemas.microsoft.com/office/drawing/2014/main" id="{DA5B2BEA-F901-4C92-B5A1-4BB59222CDD4}"/>
              </a:ext>
            </a:extLst>
          </p:cNvPr>
          <p:cNvSpPr>
            <a:spLocks xmlns:a="http://schemas.openxmlformats.org/drawingml/2006/main" noGrp="1"/>
          </p:cNvSpPr>
          <p:nvPr/>
        </p:nvSpPr>
        <p:spPr>
          <a:xfrm xmlns:a="http://schemas.openxmlformats.org/drawingml/2006/main">
            <a:off x="685800" y="828675"/>
            <a:ext cx="52387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00" b="0">
                <a:solidFill>
                  <a:srgbClr val="A9BBB7"/>
                </a:solidFill>
                <a:latin typeface="Inter"/>
                <a:ea typeface="Inter"/>
                <a:cs typeface="Inter"/>
              </a:defRPr>
            </a:defPPr>
          </a:lstStyle>
          <a:p xmlns:a="http://schemas.openxmlformats.org/drawingml/2006/main">
            <a:pPr>
              <a:defRPr sz="1200" b="0">
                <a:solidFill>
                  <a:srgbClr val="A9BBB7"/>
                </a:solidFill>
                <a:latin typeface="Inter"/>
                <a:ea typeface="Inter"/>
                <a:cs typeface="Inter"/>
              </a:defRPr>
            </a:pPr>
            <a:r>
              <a:rPr sz="1200" b="0">
                <a:solidFill>
                  <a:srgbClr val="A9BBB7"/>
                </a:solidFill>
                <a:latin typeface="Inter"/>
                <a:ea typeface="Inter"/>
                <a:cs typeface="Inter"/>
              </a:rPr>
              <a:t>NF-NCSC-MCSS-RM-01-Q1</a:t>
            </a:r>
          </a:p>
        </p:txBody>
      </p:sp>
      <p:sp>
        <p:nvSpPr>
          <p:cNvPr id="5" name="function">
            <a:extLst xmlns:a="http://schemas.openxmlformats.org/drawingml/2006/main">
              <a:ext uri="{FF2B5EF4-FFF2-40B4-BE49-F238E27FC236}">
                <a16:creationId xmlns:a16="http://schemas.microsoft.com/office/drawing/2014/main" id="{614A021F-CF85-4294-939D-A0EB9298A8BE}"/>
              </a:ext>
            </a:extLst>
          </p:cNvPr>
          <p:cNvSpPr>
            <a:spLocks xmlns:a="http://schemas.openxmlformats.org/drawingml/2006/main" noGrp="1"/>
          </p:cNvSpPr>
          <p:nvPr/>
        </p:nvSpPr>
        <p:spPr>
          <a:xfrm xmlns:a="http://schemas.openxmlformats.org/drawingml/2006/main">
            <a:off x="6524625" y="828675"/>
            <a:ext cx="4981575"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1">
                <a:solidFill>
                  <a:srgbClr val="6CD8C9"/>
                </a:solidFill>
                <a:latin typeface="Inter"/>
                <a:ea typeface="Inter"/>
                <a:cs typeface="Inter"/>
              </a:defRPr>
            </a:defPPr>
          </a:lstStyle>
          <a:p xmlns:a="http://schemas.openxmlformats.org/drawingml/2006/main">
            <a:pPr algn="r">
              <a:defRPr sz="1275" b="1">
                <a:solidFill>
                  <a:srgbClr val="6CD8C9"/>
                </a:solidFill>
                <a:latin typeface="Inter"/>
                <a:ea typeface="Inter"/>
                <a:cs typeface="Inter"/>
              </a:defRPr>
            </a:pPr>
            <a:r>
              <a:rPr sz="1275" b="1">
                <a:solidFill>
                  <a:srgbClr val="6CD8C9"/>
                </a:solidFill>
                <a:latin typeface="Inter"/>
                <a:ea typeface="Inter"/>
                <a:cs typeface="Inter"/>
              </a:rPr>
              <a:t>Guide and Govern</a:t>
            </a:r>
          </a:p>
        </p:txBody>
      </p:sp>
      <p:sp>
        <p:nvSpPr>
          <p:cNvPr id="6" name="question-prompt">
            <a:extLst xmlns:a="http://schemas.openxmlformats.org/drawingml/2006/main">
              <a:ext uri="{FF2B5EF4-FFF2-40B4-BE49-F238E27FC236}">
                <a16:creationId xmlns:a16="http://schemas.microsoft.com/office/drawing/2014/main" id="{1A26AA79-C319-4933-A993-B44D35DAB976}"/>
              </a:ext>
            </a:extLst>
          </p:cNvPr>
          <p:cNvSpPr>
            <a:spLocks xmlns:a="http://schemas.openxmlformats.org/drawingml/2006/main" noGrp="1"/>
          </p:cNvSpPr>
          <p:nvPr/>
        </p:nvSpPr>
        <p:spPr>
          <a:xfrm xmlns:a="http://schemas.openxmlformats.org/drawingml/2006/main">
            <a:off x="685800" y="1285875"/>
            <a:ext cx="10820400" cy="1390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000" b="1">
                <a:solidFill>
                  <a:srgbClr val="F6FAF9"/>
                </a:solidFill>
                <a:latin typeface="Inter"/>
                <a:ea typeface="Inter"/>
                <a:cs typeface="Inter"/>
              </a:defRPr>
            </a:defPPr>
          </a:lstStyle>
          <a:p xmlns:a="http://schemas.openxmlformats.org/drawingml/2006/main">
            <a:pPr>
              <a:defRPr sz="3000" b="1">
                <a:solidFill>
                  <a:srgbClr val="F6FAF9"/>
                </a:solidFill>
                <a:latin typeface="Inter"/>
                <a:ea typeface="Inter"/>
                <a:cs typeface="Inter"/>
              </a:defRPr>
            </a:pPr>
            <a:r>
              <a:rPr sz="3000" b="1">
                <a:solidFill>
                  <a:srgbClr val="F6FAF9"/>
                </a:solidFill>
                <a:latin typeface="Inter"/>
                <a:ea typeface="Inter"/>
                <a:cs typeface="Inter"/>
              </a:rPr>
              <a:t>Are cyber risks managed through a documented business risk process with tolerance, owners and regular review?</a:t>
            </a:r>
          </a:p>
        </p:txBody>
      </p:sp>
      <p:sp>
        <p:nvSpPr>
          <p:cNvPr id="7" name="meaning-label">
            <a:extLst xmlns:a="http://schemas.openxmlformats.org/drawingml/2006/main">
              <a:ext uri="{FF2B5EF4-FFF2-40B4-BE49-F238E27FC236}">
                <a16:creationId xmlns:a16="http://schemas.microsoft.com/office/drawing/2014/main" id="{2474B020-852F-4641-89D3-9B33BE232F7D}"/>
              </a:ext>
            </a:extLst>
          </p:cNvPr>
          <p:cNvSpPr>
            <a:spLocks xmlns:a="http://schemas.openxmlformats.org/drawingml/2006/main" noGrp="1"/>
          </p:cNvSpPr>
          <p:nvPr/>
        </p:nvSpPr>
        <p:spPr>
          <a:xfrm xmlns:a="http://schemas.openxmlformats.org/drawingml/2006/main">
            <a:off x="685800" y="2990850"/>
            <a:ext cx="50101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350" b="1">
                <a:solidFill>
                  <a:srgbClr val="6CD8C9"/>
                </a:solidFill>
                <a:latin typeface="Inter"/>
                <a:ea typeface="Inter"/>
                <a:cs typeface="Inter"/>
              </a:defRPr>
            </a:defPPr>
          </a:lstStyle>
          <a:p xmlns:a="http://schemas.openxmlformats.org/drawingml/2006/main">
            <a:pPr>
              <a:defRPr sz="1350" b="1">
                <a:solidFill>
                  <a:srgbClr val="6CD8C9"/>
                </a:solidFill>
                <a:latin typeface="Inter"/>
                <a:ea typeface="Inter"/>
                <a:cs typeface="Inter"/>
              </a:defRPr>
            </a:pPr>
            <a:r>
              <a:rPr sz="1350" b="1">
                <a:solidFill>
                  <a:srgbClr val="6CD8C9"/>
                </a:solidFill>
                <a:latin typeface="Inter"/>
                <a:ea typeface="Inter"/>
                <a:cs typeface="Inter"/>
              </a:rPr>
              <a:t>WHAT THIS MEANS</a:t>
            </a:r>
          </a:p>
        </p:txBody>
      </p:sp>
      <p:sp>
        <p:nvSpPr>
          <p:cNvPr id="8" name="meaning">
            <a:extLst xmlns:a="http://schemas.openxmlformats.org/drawingml/2006/main">
              <a:ext uri="{FF2B5EF4-FFF2-40B4-BE49-F238E27FC236}">
                <a16:creationId xmlns:a16="http://schemas.microsoft.com/office/drawing/2014/main" id="{8B58B329-B0E3-41A2-B6FC-7B0CA024DADC}"/>
              </a:ext>
            </a:extLst>
          </p:cNvPr>
          <p:cNvSpPr>
            <a:spLocks xmlns:a="http://schemas.openxmlformats.org/drawingml/2006/main" noGrp="1"/>
          </p:cNvSpPr>
          <p:nvPr/>
        </p:nvSpPr>
        <p:spPr>
          <a:xfrm xmlns:a="http://schemas.openxmlformats.org/drawingml/2006/main">
            <a:off x="685800" y="3343275"/>
            <a:ext cx="5010150" cy="1228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950" b="0">
                <a:solidFill>
                  <a:srgbClr val="D7E2DF"/>
                </a:solidFill>
                <a:latin typeface="Inter"/>
                <a:ea typeface="Inter"/>
                <a:cs typeface="Inter"/>
              </a:defRPr>
            </a:defPPr>
          </a:lstStyle>
          <a:p xmlns:a="http://schemas.openxmlformats.org/drawingml/2006/main">
            <a:pPr>
              <a:defRPr sz="1950" b="0">
                <a:solidFill>
                  <a:srgbClr val="D7E2DF"/>
                </a:solidFill>
                <a:latin typeface="Inter"/>
                <a:ea typeface="Inter"/>
                <a:cs typeface="Inter"/>
              </a:defRPr>
            </a:pPr>
            <a:r>
              <a:rPr sz="1950" b="0">
                <a:solidFill>
                  <a:srgbClr val="D7E2DF"/>
                </a:solidFill>
                <a:latin typeface="Inter"/>
                <a:ea typeface="Inter"/>
                <a:cs typeface="Inter"/>
              </a:rPr>
              <a:t>Cyber risks belong in the business risk process. Each needs an owner, an agreed tolerance and a review date.</a:t>
            </a:r>
          </a:p>
        </p:txBody>
      </p:sp>
      <p:sp>
        <p:nvSpPr>
          <p:cNvPr id="9" name="why-label">
            <a:extLst xmlns:a="http://schemas.openxmlformats.org/drawingml/2006/main">
              <a:ext uri="{FF2B5EF4-FFF2-40B4-BE49-F238E27FC236}">
                <a16:creationId xmlns:a16="http://schemas.microsoft.com/office/drawing/2014/main" id="{D729782B-D5C8-4592-AFB6-4DB0B224C1F6}"/>
              </a:ext>
            </a:extLst>
          </p:cNvPr>
          <p:cNvSpPr>
            <a:spLocks xmlns:a="http://schemas.openxmlformats.org/drawingml/2006/main" noGrp="1"/>
          </p:cNvSpPr>
          <p:nvPr/>
        </p:nvSpPr>
        <p:spPr>
          <a:xfrm xmlns:a="http://schemas.openxmlformats.org/drawingml/2006/main">
            <a:off x="685800" y="4714875"/>
            <a:ext cx="50101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350" b="1">
                <a:solidFill>
                  <a:srgbClr val="6CD8C9"/>
                </a:solidFill>
                <a:latin typeface="Inter"/>
                <a:ea typeface="Inter"/>
                <a:cs typeface="Inter"/>
              </a:defRPr>
            </a:defPPr>
          </a:lstStyle>
          <a:p xmlns:a="http://schemas.openxmlformats.org/drawingml/2006/main">
            <a:pPr>
              <a:defRPr sz="1350" b="1">
                <a:solidFill>
                  <a:srgbClr val="6CD8C9"/>
                </a:solidFill>
                <a:latin typeface="Inter"/>
                <a:ea typeface="Inter"/>
                <a:cs typeface="Inter"/>
              </a:defRPr>
            </a:pPr>
            <a:r>
              <a:rPr sz="1350" b="1">
                <a:solidFill>
                  <a:srgbClr val="6CD8C9"/>
                </a:solidFill>
                <a:latin typeface="Inter"/>
                <a:ea typeface="Inter"/>
                <a:cs typeface="Inter"/>
              </a:rPr>
              <a:t>WHY IT MATTERS</a:t>
            </a:r>
          </a:p>
        </p:txBody>
      </p:sp>
      <p:sp>
        <p:nvSpPr>
          <p:cNvPr id="10" name="why">
            <a:extLst xmlns:a="http://schemas.openxmlformats.org/drawingml/2006/main">
              <a:ext uri="{FF2B5EF4-FFF2-40B4-BE49-F238E27FC236}">
                <a16:creationId xmlns:a16="http://schemas.microsoft.com/office/drawing/2014/main" id="{ABE42FE2-FAFC-4E46-84A0-8C4584F408C8}"/>
              </a:ext>
            </a:extLst>
          </p:cNvPr>
          <p:cNvSpPr>
            <a:spLocks xmlns:a="http://schemas.openxmlformats.org/drawingml/2006/main" noGrp="1"/>
          </p:cNvSpPr>
          <p:nvPr/>
        </p:nvSpPr>
        <p:spPr>
          <a:xfrm xmlns:a="http://schemas.openxmlformats.org/drawingml/2006/main">
            <a:off x="685800" y="5067300"/>
            <a:ext cx="50101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00" b="0">
                <a:solidFill>
                  <a:srgbClr val="D7E2DF"/>
                </a:solidFill>
                <a:latin typeface="Inter"/>
                <a:ea typeface="Inter"/>
                <a:cs typeface="Inter"/>
              </a:defRPr>
            </a:defPPr>
          </a:lstStyle>
          <a:p xmlns:a="http://schemas.openxmlformats.org/drawingml/2006/main">
            <a:pPr>
              <a:defRPr sz="1800" b="0">
                <a:solidFill>
                  <a:srgbClr val="D7E2DF"/>
                </a:solidFill>
                <a:latin typeface="Inter"/>
                <a:ea typeface="Inter"/>
                <a:cs typeface="Inter"/>
              </a:defRPr>
            </a:pPr>
            <a:r>
              <a:rPr sz="1800" b="0">
                <a:solidFill>
                  <a:srgbClr val="D7E2DF"/>
                </a:solidFill>
                <a:latin typeface="Inter"/>
                <a:ea typeface="Inter"/>
                <a:cs typeface="Inter"/>
              </a:rPr>
              <a:t>Leaders can decide which risks to reduce, fund or accept.</a:t>
            </a:r>
          </a:p>
        </p:txBody>
      </p:sp>
      <p:sp>
        <p:nvSpPr>
          <p:cNvPr id="11" name="example-label">
            <a:extLst xmlns:a="http://schemas.openxmlformats.org/drawingml/2006/main">
              <a:ext uri="{FF2B5EF4-FFF2-40B4-BE49-F238E27FC236}">
                <a16:creationId xmlns:a16="http://schemas.microsoft.com/office/drawing/2014/main" id="{DBA1CF07-E308-4932-835E-0DBE70396043}"/>
              </a:ext>
            </a:extLst>
          </p:cNvPr>
          <p:cNvSpPr>
            <a:spLocks xmlns:a="http://schemas.openxmlformats.org/drawingml/2006/main" noGrp="1"/>
          </p:cNvSpPr>
          <p:nvPr/>
        </p:nvSpPr>
        <p:spPr>
          <a:xfrm xmlns:a="http://schemas.openxmlformats.org/drawingml/2006/main">
            <a:off x="6572250" y="2990850"/>
            <a:ext cx="4933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350" b="1">
                <a:solidFill>
                  <a:srgbClr val="6CD8C9"/>
                </a:solidFill>
                <a:latin typeface="Inter"/>
                <a:ea typeface="Inter"/>
                <a:cs typeface="Inter"/>
              </a:defRPr>
            </a:defPPr>
          </a:lstStyle>
          <a:p xmlns:a="http://schemas.openxmlformats.org/drawingml/2006/main">
            <a:pPr>
              <a:defRPr sz="1350" b="1">
                <a:solidFill>
                  <a:srgbClr val="6CD8C9"/>
                </a:solidFill>
                <a:latin typeface="Inter"/>
                <a:ea typeface="Inter"/>
                <a:cs typeface="Inter"/>
              </a:defRPr>
            </a:pPr>
            <a:r>
              <a:rPr sz="1350" b="1">
                <a:solidFill>
                  <a:srgbClr val="6CD8C9"/>
                </a:solidFill>
                <a:latin typeface="Inter"/>
                <a:ea typeface="Inter"/>
                <a:cs typeface="Inter"/>
              </a:rPr>
              <a:t>EXAMPLE ANSWER: PARTIAL</a:t>
            </a:r>
          </a:p>
        </p:txBody>
      </p:sp>
      <p:sp>
        <p:nvSpPr>
          <p:cNvPr id="12" name="example">
            <a:extLst xmlns:a="http://schemas.openxmlformats.org/drawingml/2006/main">
              <a:ext uri="{FF2B5EF4-FFF2-40B4-BE49-F238E27FC236}">
                <a16:creationId xmlns:a16="http://schemas.microsoft.com/office/drawing/2014/main" id="{02BEC988-F867-4690-9B88-9827555C6638}"/>
              </a:ext>
            </a:extLst>
          </p:cNvPr>
          <p:cNvSpPr>
            <a:spLocks xmlns:a="http://schemas.openxmlformats.org/drawingml/2006/main" noGrp="1"/>
          </p:cNvSpPr>
          <p:nvPr/>
        </p:nvSpPr>
        <p:spPr>
          <a:xfrm xmlns:a="http://schemas.openxmlformats.org/drawingml/2006/main">
            <a:off x="6572250" y="3343275"/>
            <a:ext cx="4933950" cy="1943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00" b="0">
                <a:solidFill>
                  <a:srgbClr val="F6FAF9"/>
                </a:solidFill>
                <a:latin typeface="Inter"/>
                <a:ea typeface="Inter"/>
                <a:cs typeface="Inter"/>
              </a:defRPr>
            </a:defPPr>
          </a:lstStyle>
          <a:p xmlns:a="http://schemas.openxmlformats.org/drawingml/2006/main">
            <a:pPr>
              <a:defRPr sz="2100" b="0">
                <a:solidFill>
                  <a:srgbClr val="F6FAF9"/>
                </a:solidFill>
                <a:latin typeface="Inter"/>
                <a:ea typeface="Inter"/>
                <a:cs typeface="Inter"/>
              </a:defRPr>
            </a:pPr>
            <a:r>
              <a:rPr sz="2100" b="0">
                <a:solidFill>
                  <a:srgbClr val="F6FAF9"/>
                </a:solidFill>
                <a:latin typeface="Inter"/>
                <a:ea typeface="Inter"/>
                <a:cs typeface="Inter"/>
              </a:rPr>
              <a:t>“We have a cyber risk register and owners. Leadership reviews it informally, but we haven’t agreed our tolerance.”</a:t>
            </a:r>
          </a:p>
        </p:txBody>
      </p:sp>
      <p:sp>
        <p:nvSpPr>
          <p:cNvPr id="13" name="evidence-label">
            <a:extLst xmlns:a="http://schemas.openxmlformats.org/drawingml/2006/main">
              <a:ext uri="{FF2B5EF4-FFF2-40B4-BE49-F238E27FC236}">
                <a16:creationId xmlns:a16="http://schemas.microsoft.com/office/drawing/2014/main" id="{D81E9420-B164-4F6E-BFDB-2D40887676F2}"/>
              </a:ext>
            </a:extLst>
          </p:cNvPr>
          <p:cNvSpPr>
            <a:spLocks xmlns:a="http://schemas.openxmlformats.org/drawingml/2006/main" noGrp="1"/>
          </p:cNvSpPr>
          <p:nvPr/>
        </p:nvSpPr>
        <p:spPr>
          <a:xfrm xmlns:a="http://schemas.openxmlformats.org/drawingml/2006/main">
            <a:off x="6572250" y="5410200"/>
            <a:ext cx="4933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350" b="1">
                <a:solidFill>
                  <a:srgbClr val="6CD8C9"/>
                </a:solidFill>
                <a:latin typeface="Inter"/>
                <a:ea typeface="Inter"/>
                <a:cs typeface="Inter"/>
              </a:defRPr>
            </a:defPPr>
          </a:lstStyle>
          <a:p xmlns:a="http://schemas.openxmlformats.org/drawingml/2006/main">
            <a:pPr>
              <a:defRPr sz="1350" b="1">
                <a:solidFill>
                  <a:srgbClr val="6CD8C9"/>
                </a:solidFill>
                <a:latin typeface="Inter"/>
                <a:ea typeface="Inter"/>
                <a:cs typeface="Inter"/>
              </a:defRPr>
            </a:pPr>
            <a:r>
              <a:rPr sz="1350" b="1">
                <a:solidFill>
                  <a:srgbClr val="6CD8C9"/>
                </a:solidFill>
                <a:latin typeface="Inter"/>
                <a:ea typeface="Inter"/>
                <a:cs typeface="Inter"/>
              </a:rPr>
              <a:t>EVIDENCE TO DISCUSS</a:t>
            </a:r>
          </a:p>
        </p:txBody>
      </p:sp>
      <p:sp>
        <p:nvSpPr>
          <p:cNvPr id="14" name="evidence">
            <a:extLst xmlns:a="http://schemas.openxmlformats.org/drawingml/2006/main">
              <a:ext uri="{FF2B5EF4-FFF2-40B4-BE49-F238E27FC236}">
                <a16:creationId xmlns:a16="http://schemas.microsoft.com/office/drawing/2014/main" id="{A7D7DBB9-9F5F-4C05-A2DD-2031C1D88439}"/>
              </a:ext>
            </a:extLst>
          </p:cNvPr>
          <p:cNvSpPr>
            <a:spLocks xmlns:a="http://schemas.openxmlformats.org/drawingml/2006/main" noGrp="1"/>
          </p:cNvSpPr>
          <p:nvPr/>
        </p:nvSpPr>
        <p:spPr>
          <a:xfrm xmlns:a="http://schemas.openxmlformats.org/drawingml/2006/main">
            <a:off x="6572250" y="5762625"/>
            <a:ext cx="493395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725" b="0">
                <a:solidFill>
                  <a:srgbClr val="D7E2DF"/>
                </a:solidFill>
                <a:latin typeface="Inter"/>
                <a:ea typeface="Inter"/>
                <a:cs typeface="Inter"/>
              </a:defRPr>
            </a:defPPr>
          </a:lstStyle>
          <a:p xmlns:a="http://schemas.openxmlformats.org/drawingml/2006/main">
            <a:pPr>
              <a:defRPr sz="1725" b="0">
                <a:solidFill>
                  <a:srgbClr val="D7E2DF"/>
                </a:solidFill>
                <a:latin typeface="Inter"/>
                <a:ea typeface="Inter"/>
                <a:cs typeface="Inter"/>
              </a:defRPr>
            </a:pPr>
            <a:r>
              <a:rPr sz="1725" b="0">
                <a:solidFill>
                  <a:srgbClr val="D7E2DF"/>
                </a:solidFill>
                <a:latin typeface="Inter"/>
                <a:ea typeface="Inter"/>
                <a:cs typeface="Inter"/>
              </a:rPr>
              <a:t>Current cyber risk register</a:t>
            </a:r>
          </a:p>
          <a:p xmlns:a="http://schemas.openxmlformats.org/drawingml/2006/main">
            <a:pPr>
              <a:defRPr sz="1725" b="0">
                <a:solidFill>
                  <a:srgbClr val="D7E2DF"/>
                </a:solidFill>
                <a:latin typeface="Inter"/>
                <a:ea typeface="Inter"/>
                <a:cs typeface="Inter"/>
              </a:defRPr>
            </a:pPr>
            <a:r>
              <a:rPr sz="1725" b="0">
                <a:solidFill>
                  <a:srgbClr val="D7E2DF"/>
                </a:solidFill>
                <a:latin typeface="Inter"/>
                <a:ea typeface="Inter"/>
                <a:cs typeface="Inter"/>
              </a:rPr>
              <a:t>Governance review minutes</a:t>
            </a:r>
          </a:p>
        </p:txBody>
      </p:sp>
    </p:spTree>
    <p:extLst>
      <p:ext uri="{BB962C8B-B14F-4D97-AF65-F5344CB8AC3E}">
        <p14:creationId xmlns:p14="http://schemas.microsoft.com/office/powerpoint/2010/main" val="2097273449"/>
      </p:ext>
    </p:extLst>
  </p:cSld>
</p:sld>
</file>

<file path=ppt/slides/slide5.xml><?xml version="1.0" encoding="utf-8"?>
<p:sld xmlns:p="http://schemas.openxmlformats.org/presentationml/2006/main">
  <p:cSld>
    <p:bg>
      <p:bgPr>
        <a:solidFill xmlns:a="http://schemas.openxmlformats.org/drawingml/2006/main">
          <a:srgbClr val="08100F"/>
        </a:solidFill>
      </p:bgPr>
    </p:bg>
    <p:spTree>
      <p:nvGrpSpPr>
        <p:cNvPr id="1" name=""/>
        <p:cNvGrpSpPr/>
        <p:nvPr/>
      </p:nvGrpSpPr>
      <p:grpSpPr>
        <a:xfrm xmlns:a="http://schemas.openxmlformats.org/drawingml/2006/main"/>
      </p:grpSpPr>
      <p:sp>
        <p:nvSpPr>
          <p:cNvPr id="15" name="brand">
            <a:extLst xmlns:a="http://schemas.openxmlformats.org/drawingml/2006/main">
              <a:ext uri="{FF2B5EF4-FFF2-40B4-BE49-F238E27FC236}">
                <a16:creationId xmlns:a16="http://schemas.microsoft.com/office/drawing/2014/main" id="{7F9C388C-0935-497D-9953-BF78FAB116AF}"/>
              </a:ext>
            </a:extLst>
          </p:cNvPr>
          <p:cNvSpPr>
            <a:spLocks xmlns:a="http://schemas.openxmlformats.org/drawingml/2006/main" noGrp="1"/>
          </p:cNvSpPr>
          <p:nvPr/>
        </p:nvSpPr>
        <p:spPr>
          <a:xfrm xmlns:a="http://schemas.openxmlformats.org/drawingml/2006/main">
            <a:off x="685800" y="323850"/>
            <a:ext cx="2952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00" b="1">
                <a:solidFill>
                  <a:srgbClr val="F6FAF9"/>
                </a:solidFill>
                <a:latin typeface="Inter"/>
                <a:ea typeface="Inter"/>
                <a:cs typeface="Inter"/>
              </a:defRPr>
            </a:defPPr>
          </a:lstStyle>
          <a:p xmlns:a="http://schemas.openxmlformats.org/drawingml/2006/main">
            <a:pPr>
              <a:defRPr sz="1800" b="1">
                <a:solidFill>
                  <a:srgbClr val="F6FAF9"/>
                </a:solidFill>
                <a:latin typeface="Inter"/>
                <a:ea typeface="Inter"/>
                <a:cs typeface="Inter"/>
              </a:defRPr>
            </a:pPr>
            <a:r>
              <a:rPr sz="1800" b="1">
                <a:solidFill>
                  <a:srgbClr val="F6FAF9"/>
                </a:solidFill>
                <a:latin typeface="Inter"/>
                <a:ea typeface="Inter"/>
                <a:cs typeface="Inter"/>
              </a:rPr>
              <a:t>NO FRIES</a:t>
            </a:r>
          </a:p>
        </p:txBody>
      </p:sp>
      <p:sp>
        <p:nvSpPr>
          <p:cNvPr id="2" name="section">
            <a:extLst xmlns:a="http://schemas.openxmlformats.org/drawingml/2006/main">
              <a:ext uri="{FF2B5EF4-FFF2-40B4-BE49-F238E27FC236}">
                <a16:creationId xmlns:a16="http://schemas.microsoft.com/office/drawing/2014/main" id="{08649C7D-C098-49DB-AEAA-6E7C11E87E1F}"/>
              </a:ext>
            </a:extLst>
          </p:cNvPr>
          <p:cNvSpPr>
            <a:spLocks xmlns:a="http://schemas.openxmlformats.org/drawingml/2006/main" noGrp="1"/>
          </p:cNvSpPr>
          <p:nvPr/>
        </p:nvSpPr>
        <p:spPr>
          <a:xfrm xmlns:a="http://schemas.openxmlformats.org/drawingml/2006/main">
            <a:off x="5524500" y="371475"/>
            <a:ext cx="59817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1">
                <a:solidFill>
                  <a:srgbClr val="6CD8C9"/>
                </a:solidFill>
                <a:latin typeface="Inter"/>
                <a:ea typeface="Inter"/>
                <a:cs typeface="Inter"/>
              </a:defRPr>
            </a:defPPr>
          </a:lstStyle>
          <a:p xmlns:a="http://schemas.openxmlformats.org/drawingml/2006/main">
            <a:pPr algn="r">
              <a:defRPr sz="1200" b="1">
                <a:solidFill>
                  <a:srgbClr val="6CD8C9"/>
                </a:solidFill>
                <a:latin typeface="Inter"/>
                <a:ea typeface="Inter"/>
                <a:cs typeface="Inter"/>
              </a:defRPr>
            </a:pPr>
            <a:r>
              <a:rPr sz="1200" b="1">
                <a:solidFill>
                  <a:srgbClr val="6CD8C9"/>
                </a:solidFill>
                <a:latin typeface="Inter"/>
                <a:ea typeface="Inter"/>
                <a:cs typeface="Inter"/>
              </a:rPr>
              <a:t>QUESTION 02 / 14</a:t>
            </a:r>
          </a:p>
        </p:txBody>
      </p:sp>
      <p:sp>
        <p:nvSpPr>
          <p:cNvPr id="3" name="page">
            <a:extLst xmlns:a="http://schemas.openxmlformats.org/drawingml/2006/main">
              <a:ext uri="{FF2B5EF4-FFF2-40B4-BE49-F238E27FC236}">
                <a16:creationId xmlns:a16="http://schemas.microsoft.com/office/drawing/2014/main" id="{C5C59CD2-9CEC-45C8-AE8B-E78E9D54B1D5}"/>
              </a:ext>
            </a:extLst>
          </p:cNvPr>
          <p:cNvSpPr>
            <a:spLocks xmlns:a="http://schemas.openxmlformats.org/drawingml/2006/main" noGrp="1"/>
          </p:cNvSpPr>
          <p:nvPr/>
        </p:nvSpPr>
        <p:spPr>
          <a:xfrm xmlns:a="http://schemas.openxmlformats.org/drawingml/2006/main">
            <a:off x="10934700" y="6429375"/>
            <a:ext cx="5715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A9BBB7"/>
                </a:solidFill>
                <a:latin typeface="Inter"/>
                <a:ea typeface="Inter"/>
                <a:cs typeface="Inter"/>
              </a:defRPr>
            </a:defPPr>
          </a:lstStyle>
          <a:p xmlns:a="http://schemas.openxmlformats.org/drawingml/2006/main">
            <a:pPr algn="r">
              <a:defRPr sz="1200" b="0">
                <a:solidFill>
                  <a:srgbClr val="A9BBB7"/>
                </a:solidFill>
                <a:latin typeface="Inter"/>
                <a:ea typeface="Inter"/>
                <a:cs typeface="Inter"/>
              </a:defRPr>
            </a:pPr>
            <a:r>
              <a:rPr sz="1200" b="0">
                <a:solidFill>
                  <a:srgbClr val="A9BBB7"/>
                </a:solidFill>
                <a:latin typeface="Inter"/>
                <a:ea typeface="Inter"/>
                <a:cs typeface="Inter"/>
              </a:rPr>
              <a:t>05</a:t>
            </a:r>
          </a:p>
        </p:txBody>
      </p:sp>
      <p:sp>
        <p:nvSpPr>
          <p:cNvPr id="4" name="question-id">
            <a:extLst xmlns:a="http://schemas.openxmlformats.org/drawingml/2006/main">
              <a:ext uri="{FF2B5EF4-FFF2-40B4-BE49-F238E27FC236}">
                <a16:creationId xmlns:a16="http://schemas.microsoft.com/office/drawing/2014/main" id="{2A9A4FAF-ED3B-491C-98C8-D685392EAF15}"/>
              </a:ext>
            </a:extLst>
          </p:cNvPr>
          <p:cNvSpPr>
            <a:spLocks xmlns:a="http://schemas.openxmlformats.org/drawingml/2006/main" noGrp="1"/>
          </p:cNvSpPr>
          <p:nvPr/>
        </p:nvSpPr>
        <p:spPr>
          <a:xfrm xmlns:a="http://schemas.openxmlformats.org/drawingml/2006/main">
            <a:off x="685800" y="828675"/>
            <a:ext cx="52387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00" b="0">
                <a:solidFill>
                  <a:srgbClr val="A9BBB7"/>
                </a:solidFill>
                <a:latin typeface="Inter"/>
                <a:ea typeface="Inter"/>
                <a:cs typeface="Inter"/>
              </a:defRPr>
            </a:defPPr>
          </a:lstStyle>
          <a:p xmlns:a="http://schemas.openxmlformats.org/drawingml/2006/main">
            <a:pPr>
              <a:defRPr sz="1200" b="0">
                <a:solidFill>
                  <a:srgbClr val="A9BBB7"/>
                </a:solidFill>
                <a:latin typeface="Inter"/>
                <a:ea typeface="Inter"/>
                <a:cs typeface="Inter"/>
              </a:defRPr>
            </a:pPr>
            <a:r>
              <a:rPr sz="1200" b="0">
                <a:solidFill>
                  <a:srgbClr val="A9BBB7"/>
                </a:solidFill>
                <a:latin typeface="Inter"/>
                <a:ea typeface="Inter"/>
                <a:cs typeface="Inter"/>
              </a:rPr>
              <a:t>NF-NCSC-MCSS-SA-01-Q1</a:t>
            </a:r>
          </a:p>
        </p:txBody>
      </p:sp>
      <p:sp>
        <p:nvSpPr>
          <p:cNvPr id="5" name="function">
            <a:extLst xmlns:a="http://schemas.openxmlformats.org/drawingml/2006/main">
              <a:ext uri="{FF2B5EF4-FFF2-40B4-BE49-F238E27FC236}">
                <a16:creationId xmlns:a16="http://schemas.microsoft.com/office/drawing/2014/main" id="{ED27CB67-9D4A-42B9-A6D5-7B7553D3C6A7}"/>
              </a:ext>
            </a:extLst>
          </p:cNvPr>
          <p:cNvSpPr>
            <a:spLocks xmlns:a="http://schemas.openxmlformats.org/drawingml/2006/main" noGrp="1"/>
          </p:cNvSpPr>
          <p:nvPr/>
        </p:nvSpPr>
        <p:spPr>
          <a:xfrm xmlns:a="http://schemas.openxmlformats.org/drawingml/2006/main">
            <a:off x="6524625" y="828675"/>
            <a:ext cx="4981575"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1">
                <a:solidFill>
                  <a:srgbClr val="6CD8C9"/>
                </a:solidFill>
                <a:latin typeface="Inter"/>
                <a:ea typeface="Inter"/>
                <a:cs typeface="Inter"/>
              </a:defRPr>
            </a:defPPr>
          </a:lstStyle>
          <a:p xmlns:a="http://schemas.openxmlformats.org/drawingml/2006/main">
            <a:pPr algn="r">
              <a:defRPr sz="1275" b="1">
                <a:solidFill>
                  <a:srgbClr val="6CD8C9"/>
                </a:solidFill>
                <a:latin typeface="Inter"/>
                <a:ea typeface="Inter"/>
                <a:cs typeface="Inter"/>
              </a:defRPr>
            </a:pPr>
            <a:r>
              <a:rPr sz="1275" b="1">
                <a:solidFill>
                  <a:srgbClr val="6CD8C9"/>
                </a:solidFill>
                <a:latin typeface="Inter"/>
                <a:ea typeface="Inter"/>
                <a:cs typeface="Inter"/>
              </a:rPr>
              <a:t>Guide and Govern</a:t>
            </a:r>
          </a:p>
        </p:txBody>
      </p:sp>
      <p:sp>
        <p:nvSpPr>
          <p:cNvPr id="6" name="question-prompt">
            <a:extLst xmlns:a="http://schemas.openxmlformats.org/drawingml/2006/main">
              <a:ext uri="{FF2B5EF4-FFF2-40B4-BE49-F238E27FC236}">
                <a16:creationId xmlns:a16="http://schemas.microsoft.com/office/drawing/2014/main" id="{2A355520-F015-4F72-9375-572B40313ED4}"/>
              </a:ext>
            </a:extLst>
          </p:cNvPr>
          <p:cNvSpPr>
            <a:spLocks xmlns:a="http://schemas.openxmlformats.org/drawingml/2006/main" noGrp="1"/>
          </p:cNvSpPr>
          <p:nvPr/>
        </p:nvSpPr>
        <p:spPr>
          <a:xfrm xmlns:a="http://schemas.openxmlformats.org/drawingml/2006/main">
            <a:off x="685800" y="1285875"/>
            <a:ext cx="10820400" cy="1390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000" b="1">
                <a:solidFill>
                  <a:srgbClr val="F6FAF9"/>
                </a:solidFill>
                <a:latin typeface="Inter"/>
                <a:ea typeface="Inter"/>
                <a:cs typeface="Inter"/>
              </a:defRPr>
            </a:defPPr>
          </a:lstStyle>
          <a:p xmlns:a="http://schemas.openxmlformats.org/drawingml/2006/main">
            <a:pPr>
              <a:defRPr sz="3000" b="1">
                <a:solidFill>
                  <a:srgbClr val="F6FAF9"/>
                </a:solidFill>
                <a:latin typeface="Inter"/>
                <a:ea typeface="Inter"/>
                <a:cs typeface="Inter"/>
              </a:defRPr>
            </a:pPr>
            <a:r>
              <a:rPr sz="3000" b="1">
                <a:solidFill>
                  <a:srgbClr val="F6FAF9"/>
                </a:solidFill>
                <a:latin typeface="Inter"/>
                <a:ea typeface="Inter"/>
                <a:cs typeface="Inter"/>
              </a:rPr>
              <a:t>Do people receive current, role-appropriate security guidance from onboarding onward, with results reported to leadership?</a:t>
            </a:r>
          </a:p>
        </p:txBody>
      </p:sp>
      <p:sp>
        <p:nvSpPr>
          <p:cNvPr id="7" name="meaning-label">
            <a:extLst xmlns:a="http://schemas.openxmlformats.org/drawingml/2006/main">
              <a:ext uri="{FF2B5EF4-FFF2-40B4-BE49-F238E27FC236}">
                <a16:creationId xmlns:a16="http://schemas.microsoft.com/office/drawing/2014/main" id="{A71EAD95-B156-4E2C-9321-77564FFC545A}"/>
              </a:ext>
            </a:extLst>
          </p:cNvPr>
          <p:cNvSpPr>
            <a:spLocks xmlns:a="http://schemas.openxmlformats.org/drawingml/2006/main" noGrp="1"/>
          </p:cNvSpPr>
          <p:nvPr/>
        </p:nvSpPr>
        <p:spPr>
          <a:xfrm xmlns:a="http://schemas.openxmlformats.org/drawingml/2006/main">
            <a:off x="685800" y="2990850"/>
            <a:ext cx="50101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350" b="1">
                <a:solidFill>
                  <a:srgbClr val="6CD8C9"/>
                </a:solidFill>
                <a:latin typeface="Inter"/>
                <a:ea typeface="Inter"/>
                <a:cs typeface="Inter"/>
              </a:defRPr>
            </a:defPPr>
          </a:lstStyle>
          <a:p xmlns:a="http://schemas.openxmlformats.org/drawingml/2006/main">
            <a:pPr>
              <a:defRPr sz="1350" b="1">
                <a:solidFill>
                  <a:srgbClr val="6CD8C9"/>
                </a:solidFill>
                <a:latin typeface="Inter"/>
                <a:ea typeface="Inter"/>
                <a:cs typeface="Inter"/>
              </a:defRPr>
            </a:pPr>
            <a:r>
              <a:rPr sz="1350" b="1">
                <a:solidFill>
                  <a:srgbClr val="6CD8C9"/>
                </a:solidFill>
                <a:latin typeface="Inter"/>
                <a:ea typeface="Inter"/>
                <a:cs typeface="Inter"/>
              </a:rPr>
              <a:t>WHAT THIS MEANS</a:t>
            </a:r>
          </a:p>
        </p:txBody>
      </p:sp>
      <p:sp>
        <p:nvSpPr>
          <p:cNvPr id="8" name="meaning">
            <a:extLst xmlns:a="http://schemas.openxmlformats.org/drawingml/2006/main">
              <a:ext uri="{FF2B5EF4-FFF2-40B4-BE49-F238E27FC236}">
                <a16:creationId xmlns:a16="http://schemas.microsoft.com/office/drawing/2014/main" id="{7C34E513-F5F8-4B5E-AB5C-D8DD41158314}"/>
              </a:ext>
            </a:extLst>
          </p:cNvPr>
          <p:cNvSpPr>
            <a:spLocks xmlns:a="http://schemas.openxmlformats.org/drawingml/2006/main" noGrp="1"/>
          </p:cNvSpPr>
          <p:nvPr/>
        </p:nvSpPr>
        <p:spPr>
          <a:xfrm xmlns:a="http://schemas.openxmlformats.org/drawingml/2006/main">
            <a:off x="685800" y="3343275"/>
            <a:ext cx="5010150" cy="1228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950" b="0">
                <a:solidFill>
                  <a:srgbClr val="D7E2DF"/>
                </a:solidFill>
                <a:latin typeface="Inter"/>
                <a:ea typeface="Inter"/>
                <a:cs typeface="Inter"/>
              </a:defRPr>
            </a:defPPr>
          </a:lstStyle>
          <a:p xmlns:a="http://schemas.openxmlformats.org/drawingml/2006/main">
            <a:pPr>
              <a:defRPr sz="1950" b="0">
                <a:solidFill>
                  <a:srgbClr val="D7E2DF"/>
                </a:solidFill>
                <a:latin typeface="Inter"/>
                <a:ea typeface="Inter"/>
                <a:cs typeface="Inter"/>
              </a:defRPr>
            </a:pPr>
            <a:r>
              <a:rPr sz="1950" b="0">
                <a:solidFill>
                  <a:srgbClr val="D7E2DF"/>
                </a:solidFill>
                <a:latin typeface="Inter"/>
                <a:ea typeface="Inter"/>
                <a:cs typeface="Inter"/>
              </a:rPr>
              <a:t>People get useful security guidance when they join and as their role changes. Leaders can see participation and results.</a:t>
            </a:r>
          </a:p>
        </p:txBody>
      </p:sp>
      <p:sp>
        <p:nvSpPr>
          <p:cNvPr id="9" name="why-label">
            <a:extLst xmlns:a="http://schemas.openxmlformats.org/drawingml/2006/main">
              <a:ext uri="{FF2B5EF4-FFF2-40B4-BE49-F238E27FC236}">
                <a16:creationId xmlns:a16="http://schemas.microsoft.com/office/drawing/2014/main" id="{98E8A9CB-8787-4F4D-A005-4261E391B9CB}"/>
              </a:ext>
            </a:extLst>
          </p:cNvPr>
          <p:cNvSpPr>
            <a:spLocks xmlns:a="http://schemas.openxmlformats.org/drawingml/2006/main" noGrp="1"/>
          </p:cNvSpPr>
          <p:nvPr/>
        </p:nvSpPr>
        <p:spPr>
          <a:xfrm xmlns:a="http://schemas.openxmlformats.org/drawingml/2006/main">
            <a:off x="685800" y="4714875"/>
            <a:ext cx="50101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350" b="1">
                <a:solidFill>
                  <a:srgbClr val="6CD8C9"/>
                </a:solidFill>
                <a:latin typeface="Inter"/>
                <a:ea typeface="Inter"/>
                <a:cs typeface="Inter"/>
              </a:defRPr>
            </a:defPPr>
          </a:lstStyle>
          <a:p xmlns:a="http://schemas.openxmlformats.org/drawingml/2006/main">
            <a:pPr>
              <a:defRPr sz="1350" b="1">
                <a:solidFill>
                  <a:srgbClr val="6CD8C9"/>
                </a:solidFill>
                <a:latin typeface="Inter"/>
                <a:ea typeface="Inter"/>
                <a:cs typeface="Inter"/>
              </a:defRPr>
            </a:pPr>
            <a:r>
              <a:rPr sz="1350" b="1">
                <a:solidFill>
                  <a:srgbClr val="6CD8C9"/>
                </a:solidFill>
                <a:latin typeface="Inter"/>
                <a:ea typeface="Inter"/>
                <a:cs typeface="Inter"/>
              </a:rPr>
              <a:t>WHY IT MATTERS</a:t>
            </a:r>
          </a:p>
        </p:txBody>
      </p:sp>
      <p:sp>
        <p:nvSpPr>
          <p:cNvPr id="10" name="why">
            <a:extLst xmlns:a="http://schemas.openxmlformats.org/drawingml/2006/main">
              <a:ext uri="{FF2B5EF4-FFF2-40B4-BE49-F238E27FC236}">
                <a16:creationId xmlns:a16="http://schemas.microsoft.com/office/drawing/2014/main" id="{45C74ED8-D012-4C83-9DD7-BDFAE36C21FA}"/>
              </a:ext>
            </a:extLst>
          </p:cNvPr>
          <p:cNvSpPr>
            <a:spLocks xmlns:a="http://schemas.openxmlformats.org/drawingml/2006/main" noGrp="1"/>
          </p:cNvSpPr>
          <p:nvPr/>
        </p:nvSpPr>
        <p:spPr>
          <a:xfrm xmlns:a="http://schemas.openxmlformats.org/drawingml/2006/main">
            <a:off x="685800" y="5067300"/>
            <a:ext cx="50101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00" b="0">
                <a:solidFill>
                  <a:srgbClr val="D7E2DF"/>
                </a:solidFill>
                <a:latin typeface="Inter"/>
                <a:ea typeface="Inter"/>
                <a:cs typeface="Inter"/>
              </a:defRPr>
            </a:defPPr>
          </a:lstStyle>
          <a:p xmlns:a="http://schemas.openxmlformats.org/drawingml/2006/main">
            <a:pPr>
              <a:defRPr sz="1800" b="0">
                <a:solidFill>
                  <a:srgbClr val="D7E2DF"/>
                </a:solidFill>
                <a:latin typeface="Inter"/>
                <a:ea typeface="Inter"/>
                <a:cs typeface="Inter"/>
              </a:defRPr>
            </a:pPr>
            <a:r>
              <a:rPr sz="1800" b="0">
                <a:solidFill>
                  <a:srgbClr val="D7E2DF"/>
                </a:solidFill>
                <a:latin typeface="Inter"/>
                <a:ea typeface="Inter"/>
                <a:cs typeface="Inter"/>
              </a:rPr>
              <a:t>People need to recognise suspicious requests and know how to report them.</a:t>
            </a:r>
          </a:p>
        </p:txBody>
      </p:sp>
      <p:sp>
        <p:nvSpPr>
          <p:cNvPr id="11" name="example-label">
            <a:extLst xmlns:a="http://schemas.openxmlformats.org/drawingml/2006/main">
              <a:ext uri="{FF2B5EF4-FFF2-40B4-BE49-F238E27FC236}">
                <a16:creationId xmlns:a16="http://schemas.microsoft.com/office/drawing/2014/main" id="{9D0C2F28-22AD-4D03-880B-9CA048396ABD}"/>
              </a:ext>
            </a:extLst>
          </p:cNvPr>
          <p:cNvSpPr>
            <a:spLocks xmlns:a="http://schemas.openxmlformats.org/drawingml/2006/main" noGrp="1"/>
          </p:cNvSpPr>
          <p:nvPr/>
        </p:nvSpPr>
        <p:spPr>
          <a:xfrm xmlns:a="http://schemas.openxmlformats.org/drawingml/2006/main">
            <a:off x="6572250" y="2990850"/>
            <a:ext cx="4933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350" b="1">
                <a:solidFill>
                  <a:srgbClr val="6CD8C9"/>
                </a:solidFill>
                <a:latin typeface="Inter"/>
                <a:ea typeface="Inter"/>
                <a:cs typeface="Inter"/>
              </a:defRPr>
            </a:defPPr>
          </a:lstStyle>
          <a:p xmlns:a="http://schemas.openxmlformats.org/drawingml/2006/main">
            <a:pPr>
              <a:defRPr sz="1350" b="1">
                <a:solidFill>
                  <a:srgbClr val="6CD8C9"/>
                </a:solidFill>
                <a:latin typeface="Inter"/>
                <a:ea typeface="Inter"/>
                <a:cs typeface="Inter"/>
              </a:defRPr>
            </a:pPr>
            <a:r>
              <a:rPr sz="1350" b="1">
                <a:solidFill>
                  <a:srgbClr val="6CD8C9"/>
                </a:solidFill>
                <a:latin typeface="Inter"/>
                <a:ea typeface="Inter"/>
                <a:cs typeface="Inter"/>
              </a:rPr>
              <a:t>EXAMPLE ANSWER: PARTIAL</a:t>
            </a:r>
          </a:p>
        </p:txBody>
      </p:sp>
      <p:sp>
        <p:nvSpPr>
          <p:cNvPr id="12" name="example">
            <a:extLst xmlns:a="http://schemas.openxmlformats.org/drawingml/2006/main">
              <a:ext uri="{FF2B5EF4-FFF2-40B4-BE49-F238E27FC236}">
                <a16:creationId xmlns:a16="http://schemas.microsoft.com/office/drawing/2014/main" id="{F8A99DB8-2497-4F2E-A6F3-9B13158048D9}"/>
              </a:ext>
            </a:extLst>
          </p:cNvPr>
          <p:cNvSpPr>
            <a:spLocks xmlns:a="http://schemas.openxmlformats.org/drawingml/2006/main" noGrp="1"/>
          </p:cNvSpPr>
          <p:nvPr/>
        </p:nvSpPr>
        <p:spPr>
          <a:xfrm xmlns:a="http://schemas.openxmlformats.org/drawingml/2006/main">
            <a:off x="6572250" y="3343275"/>
            <a:ext cx="4933950" cy="1943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00" b="0">
                <a:solidFill>
                  <a:srgbClr val="F6FAF9"/>
                </a:solidFill>
                <a:latin typeface="Inter"/>
                <a:ea typeface="Inter"/>
                <a:cs typeface="Inter"/>
              </a:defRPr>
            </a:defPPr>
          </a:lstStyle>
          <a:p xmlns:a="http://schemas.openxmlformats.org/drawingml/2006/main">
            <a:pPr>
              <a:defRPr sz="2100" b="0">
                <a:solidFill>
                  <a:srgbClr val="F6FAF9"/>
                </a:solidFill>
                <a:latin typeface="Inter"/>
                <a:ea typeface="Inter"/>
                <a:cs typeface="Inter"/>
              </a:defRPr>
            </a:pPr>
            <a:r>
              <a:rPr sz="2100" b="0">
                <a:solidFill>
                  <a:srgbClr val="F6FAF9"/>
                </a:solidFill>
                <a:latin typeface="Inter"/>
                <a:ea typeface="Inter"/>
                <a:cs typeface="Inter"/>
              </a:rPr>
              <a:t>“New starters get security guidance. We haven’t refreshed it for existing staff or reported exercise results to leadership.”</a:t>
            </a:r>
          </a:p>
        </p:txBody>
      </p:sp>
      <p:sp>
        <p:nvSpPr>
          <p:cNvPr id="13" name="evidence-label">
            <a:extLst xmlns:a="http://schemas.openxmlformats.org/drawingml/2006/main">
              <a:ext uri="{FF2B5EF4-FFF2-40B4-BE49-F238E27FC236}">
                <a16:creationId xmlns:a16="http://schemas.microsoft.com/office/drawing/2014/main" id="{C07FF539-A7D9-413C-B4D2-8D0895F31BF7}"/>
              </a:ext>
            </a:extLst>
          </p:cNvPr>
          <p:cNvSpPr>
            <a:spLocks xmlns:a="http://schemas.openxmlformats.org/drawingml/2006/main" noGrp="1"/>
          </p:cNvSpPr>
          <p:nvPr/>
        </p:nvSpPr>
        <p:spPr>
          <a:xfrm xmlns:a="http://schemas.openxmlformats.org/drawingml/2006/main">
            <a:off x="6572250" y="5410200"/>
            <a:ext cx="4933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350" b="1">
                <a:solidFill>
                  <a:srgbClr val="6CD8C9"/>
                </a:solidFill>
                <a:latin typeface="Inter"/>
                <a:ea typeface="Inter"/>
                <a:cs typeface="Inter"/>
              </a:defRPr>
            </a:defPPr>
          </a:lstStyle>
          <a:p xmlns:a="http://schemas.openxmlformats.org/drawingml/2006/main">
            <a:pPr>
              <a:defRPr sz="1350" b="1">
                <a:solidFill>
                  <a:srgbClr val="6CD8C9"/>
                </a:solidFill>
                <a:latin typeface="Inter"/>
                <a:ea typeface="Inter"/>
                <a:cs typeface="Inter"/>
              </a:defRPr>
            </a:pPr>
            <a:r>
              <a:rPr sz="1350" b="1">
                <a:solidFill>
                  <a:srgbClr val="6CD8C9"/>
                </a:solidFill>
                <a:latin typeface="Inter"/>
                <a:ea typeface="Inter"/>
                <a:cs typeface="Inter"/>
              </a:rPr>
              <a:t>EVIDENCE TO DISCUSS</a:t>
            </a:r>
          </a:p>
        </p:txBody>
      </p:sp>
      <p:sp>
        <p:nvSpPr>
          <p:cNvPr id="14" name="evidence">
            <a:extLst xmlns:a="http://schemas.openxmlformats.org/drawingml/2006/main">
              <a:ext uri="{FF2B5EF4-FFF2-40B4-BE49-F238E27FC236}">
                <a16:creationId xmlns:a16="http://schemas.microsoft.com/office/drawing/2014/main" id="{1A8560D2-EA55-4789-B668-3A0F90047F0C}"/>
              </a:ext>
            </a:extLst>
          </p:cNvPr>
          <p:cNvSpPr>
            <a:spLocks xmlns:a="http://schemas.openxmlformats.org/drawingml/2006/main" noGrp="1"/>
          </p:cNvSpPr>
          <p:nvPr/>
        </p:nvSpPr>
        <p:spPr>
          <a:xfrm xmlns:a="http://schemas.openxmlformats.org/drawingml/2006/main">
            <a:off x="6572250" y="5762625"/>
            <a:ext cx="493395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725" b="0">
                <a:solidFill>
                  <a:srgbClr val="D7E2DF"/>
                </a:solidFill>
                <a:latin typeface="Inter"/>
                <a:ea typeface="Inter"/>
                <a:cs typeface="Inter"/>
              </a:defRPr>
            </a:defPPr>
          </a:lstStyle>
          <a:p xmlns:a="http://schemas.openxmlformats.org/drawingml/2006/main">
            <a:pPr>
              <a:defRPr sz="1725" b="0">
                <a:solidFill>
                  <a:srgbClr val="D7E2DF"/>
                </a:solidFill>
                <a:latin typeface="Inter"/>
                <a:ea typeface="Inter"/>
                <a:cs typeface="Inter"/>
              </a:defRPr>
            </a:pPr>
            <a:r>
              <a:rPr sz="1725" b="0">
                <a:solidFill>
                  <a:srgbClr val="D7E2DF"/>
                </a:solidFill>
                <a:latin typeface="Inter"/>
                <a:ea typeface="Inter"/>
                <a:cs typeface="Inter"/>
              </a:rPr>
              <a:t>Completion records</a:t>
            </a:r>
          </a:p>
          <a:p xmlns:a="http://schemas.openxmlformats.org/drawingml/2006/main">
            <a:pPr>
              <a:defRPr sz="1725" b="0">
                <a:solidFill>
                  <a:srgbClr val="D7E2DF"/>
                </a:solidFill>
                <a:latin typeface="Inter"/>
                <a:ea typeface="Inter"/>
                <a:cs typeface="Inter"/>
              </a:defRPr>
            </a:pPr>
            <a:r>
              <a:rPr sz="1725" b="0">
                <a:solidFill>
                  <a:srgbClr val="D7E2DF"/>
                </a:solidFill>
                <a:latin typeface="Inter"/>
                <a:ea typeface="Inter"/>
                <a:cs typeface="Inter"/>
              </a:rPr>
              <a:t>Phishing or reporting exercise results</a:t>
            </a:r>
          </a:p>
        </p:txBody>
      </p:sp>
    </p:spTree>
    <p:extLst>
      <p:ext uri="{BB962C8B-B14F-4D97-AF65-F5344CB8AC3E}">
        <p14:creationId xmlns:p14="http://schemas.microsoft.com/office/powerpoint/2010/main" val="672584161"/>
      </p:ext>
    </p:extLst>
  </p:cSld>
</p:sld>
</file>

<file path=ppt/slides/slide6.xml><?xml version="1.0" encoding="utf-8"?>
<p:sld xmlns:p="http://schemas.openxmlformats.org/presentationml/2006/main">
  <p:cSld>
    <p:bg>
      <p:bgPr>
        <a:solidFill xmlns:a="http://schemas.openxmlformats.org/drawingml/2006/main">
          <a:srgbClr val="08100F"/>
        </a:solidFill>
      </p:bgPr>
    </p:bg>
    <p:spTree>
      <p:nvGrpSpPr>
        <p:cNvPr id="1" name=""/>
        <p:cNvGrpSpPr/>
        <p:nvPr/>
      </p:nvGrpSpPr>
      <p:grpSpPr>
        <a:xfrm xmlns:a="http://schemas.openxmlformats.org/drawingml/2006/main"/>
      </p:grpSpPr>
      <p:sp>
        <p:nvSpPr>
          <p:cNvPr id="15" name="brand">
            <a:extLst xmlns:a="http://schemas.openxmlformats.org/drawingml/2006/main">
              <a:ext uri="{FF2B5EF4-FFF2-40B4-BE49-F238E27FC236}">
                <a16:creationId xmlns:a16="http://schemas.microsoft.com/office/drawing/2014/main" id="{AA157E40-2840-4C18-A87D-346F3A10EA2E}"/>
              </a:ext>
            </a:extLst>
          </p:cNvPr>
          <p:cNvSpPr>
            <a:spLocks xmlns:a="http://schemas.openxmlformats.org/drawingml/2006/main" noGrp="1"/>
          </p:cNvSpPr>
          <p:nvPr/>
        </p:nvSpPr>
        <p:spPr>
          <a:xfrm xmlns:a="http://schemas.openxmlformats.org/drawingml/2006/main">
            <a:off x="685800" y="323850"/>
            <a:ext cx="2952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00" b="1">
                <a:solidFill>
                  <a:srgbClr val="F6FAF9"/>
                </a:solidFill>
                <a:latin typeface="Inter"/>
                <a:ea typeface="Inter"/>
                <a:cs typeface="Inter"/>
              </a:defRPr>
            </a:defPPr>
          </a:lstStyle>
          <a:p xmlns:a="http://schemas.openxmlformats.org/drawingml/2006/main">
            <a:pPr>
              <a:defRPr sz="1800" b="1">
                <a:solidFill>
                  <a:srgbClr val="F6FAF9"/>
                </a:solidFill>
                <a:latin typeface="Inter"/>
                <a:ea typeface="Inter"/>
                <a:cs typeface="Inter"/>
              </a:defRPr>
            </a:pPr>
            <a:r>
              <a:rPr sz="1800" b="1">
                <a:solidFill>
                  <a:srgbClr val="F6FAF9"/>
                </a:solidFill>
                <a:latin typeface="Inter"/>
                <a:ea typeface="Inter"/>
                <a:cs typeface="Inter"/>
              </a:rPr>
              <a:t>NO FRIES</a:t>
            </a:r>
          </a:p>
        </p:txBody>
      </p:sp>
      <p:sp>
        <p:nvSpPr>
          <p:cNvPr id="2" name="section">
            <a:extLst xmlns:a="http://schemas.openxmlformats.org/drawingml/2006/main">
              <a:ext uri="{FF2B5EF4-FFF2-40B4-BE49-F238E27FC236}">
                <a16:creationId xmlns:a16="http://schemas.microsoft.com/office/drawing/2014/main" id="{89550D31-AF78-4DD2-B5C1-91CD2147593B}"/>
              </a:ext>
            </a:extLst>
          </p:cNvPr>
          <p:cNvSpPr>
            <a:spLocks xmlns:a="http://schemas.openxmlformats.org/drawingml/2006/main" noGrp="1"/>
          </p:cNvSpPr>
          <p:nvPr/>
        </p:nvSpPr>
        <p:spPr>
          <a:xfrm xmlns:a="http://schemas.openxmlformats.org/drawingml/2006/main">
            <a:off x="5524500" y="371475"/>
            <a:ext cx="59817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1">
                <a:solidFill>
                  <a:srgbClr val="6CD8C9"/>
                </a:solidFill>
                <a:latin typeface="Inter"/>
                <a:ea typeface="Inter"/>
                <a:cs typeface="Inter"/>
              </a:defRPr>
            </a:defPPr>
          </a:lstStyle>
          <a:p xmlns:a="http://schemas.openxmlformats.org/drawingml/2006/main">
            <a:pPr algn="r">
              <a:defRPr sz="1200" b="1">
                <a:solidFill>
                  <a:srgbClr val="6CD8C9"/>
                </a:solidFill>
                <a:latin typeface="Inter"/>
                <a:ea typeface="Inter"/>
                <a:cs typeface="Inter"/>
              </a:defRPr>
            </a:pPr>
            <a:r>
              <a:rPr sz="1200" b="1">
                <a:solidFill>
                  <a:srgbClr val="6CD8C9"/>
                </a:solidFill>
                <a:latin typeface="Inter"/>
                <a:ea typeface="Inter"/>
                <a:cs typeface="Inter"/>
              </a:rPr>
              <a:t>QUESTION 03 / 14</a:t>
            </a:r>
          </a:p>
        </p:txBody>
      </p:sp>
      <p:sp>
        <p:nvSpPr>
          <p:cNvPr id="3" name="page">
            <a:extLst xmlns:a="http://schemas.openxmlformats.org/drawingml/2006/main">
              <a:ext uri="{FF2B5EF4-FFF2-40B4-BE49-F238E27FC236}">
                <a16:creationId xmlns:a16="http://schemas.microsoft.com/office/drawing/2014/main" id="{DC7E1D7C-56E1-49CE-B396-CACF9E36265A}"/>
              </a:ext>
            </a:extLst>
          </p:cNvPr>
          <p:cNvSpPr>
            <a:spLocks xmlns:a="http://schemas.openxmlformats.org/drawingml/2006/main" noGrp="1"/>
          </p:cNvSpPr>
          <p:nvPr/>
        </p:nvSpPr>
        <p:spPr>
          <a:xfrm xmlns:a="http://schemas.openxmlformats.org/drawingml/2006/main">
            <a:off x="10934700" y="6429375"/>
            <a:ext cx="5715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A9BBB7"/>
                </a:solidFill>
                <a:latin typeface="Inter"/>
                <a:ea typeface="Inter"/>
                <a:cs typeface="Inter"/>
              </a:defRPr>
            </a:defPPr>
          </a:lstStyle>
          <a:p xmlns:a="http://schemas.openxmlformats.org/drawingml/2006/main">
            <a:pPr algn="r">
              <a:defRPr sz="1200" b="0">
                <a:solidFill>
                  <a:srgbClr val="A9BBB7"/>
                </a:solidFill>
                <a:latin typeface="Inter"/>
                <a:ea typeface="Inter"/>
                <a:cs typeface="Inter"/>
              </a:defRPr>
            </a:pPr>
            <a:r>
              <a:rPr sz="1200" b="0">
                <a:solidFill>
                  <a:srgbClr val="A9BBB7"/>
                </a:solidFill>
                <a:latin typeface="Inter"/>
                <a:ea typeface="Inter"/>
                <a:cs typeface="Inter"/>
              </a:rPr>
              <a:t>06</a:t>
            </a:r>
          </a:p>
        </p:txBody>
      </p:sp>
      <p:sp>
        <p:nvSpPr>
          <p:cNvPr id="4" name="question-id">
            <a:extLst xmlns:a="http://schemas.openxmlformats.org/drawingml/2006/main">
              <a:ext uri="{FF2B5EF4-FFF2-40B4-BE49-F238E27FC236}">
                <a16:creationId xmlns:a16="http://schemas.microsoft.com/office/drawing/2014/main" id="{FF3A6669-BDA7-4664-B5B3-0DDD6278FB39}"/>
              </a:ext>
            </a:extLst>
          </p:cNvPr>
          <p:cNvSpPr>
            <a:spLocks xmlns:a="http://schemas.openxmlformats.org/drawingml/2006/main" noGrp="1"/>
          </p:cNvSpPr>
          <p:nvPr/>
        </p:nvSpPr>
        <p:spPr>
          <a:xfrm xmlns:a="http://schemas.openxmlformats.org/drawingml/2006/main">
            <a:off x="685800" y="828675"/>
            <a:ext cx="52387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00" b="0">
                <a:solidFill>
                  <a:srgbClr val="A9BBB7"/>
                </a:solidFill>
                <a:latin typeface="Inter"/>
                <a:ea typeface="Inter"/>
                <a:cs typeface="Inter"/>
              </a:defRPr>
            </a:defPPr>
          </a:lstStyle>
          <a:p xmlns:a="http://schemas.openxmlformats.org/drawingml/2006/main">
            <a:pPr>
              <a:defRPr sz="1200" b="0">
                <a:solidFill>
                  <a:srgbClr val="A9BBB7"/>
                </a:solidFill>
                <a:latin typeface="Inter"/>
                <a:ea typeface="Inter"/>
                <a:cs typeface="Inter"/>
              </a:defRPr>
            </a:pPr>
            <a:r>
              <a:rPr sz="1200" b="0">
                <a:solidFill>
                  <a:srgbClr val="A9BBB7"/>
                </a:solidFill>
                <a:latin typeface="Inter"/>
                <a:ea typeface="Inter"/>
                <a:cs typeface="Inter"/>
              </a:rPr>
              <a:t>NF-NCSC-MCSS-AI-01-Q1</a:t>
            </a:r>
          </a:p>
        </p:txBody>
      </p:sp>
      <p:sp>
        <p:nvSpPr>
          <p:cNvPr id="5" name="function">
            <a:extLst xmlns:a="http://schemas.openxmlformats.org/drawingml/2006/main">
              <a:ext uri="{FF2B5EF4-FFF2-40B4-BE49-F238E27FC236}">
                <a16:creationId xmlns:a16="http://schemas.microsoft.com/office/drawing/2014/main" id="{8746BD3D-0219-41EA-A3BB-0D7BC962D879}"/>
              </a:ext>
            </a:extLst>
          </p:cNvPr>
          <p:cNvSpPr>
            <a:spLocks xmlns:a="http://schemas.openxmlformats.org/drawingml/2006/main" noGrp="1"/>
          </p:cNvSpPr>
          <p:nvPr/>
        </p:nvSpPr>
        <p:spPr>
          <a:xfrm xmlns:a="http://schemas.openxmlformats.org/drawingml/2006/main">
            <a:off x="6524625" y="828675"/>
            <a:ext cx="4981575"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1">
                <a:solidFill>
                  <a:srgbClr val="6CD8C9"/>
                </a:solidFill>
                <a:latin typeface="Inter"/>
                <a:ea typeface="Inter"/>
                <a:cs typeface="Inter"/>
              </a:defRPr>
            </a:defPPr>
          </a:lstStyle>
          <a:p xmlns:a="http://schemas.openxmlformats.org/drawingml/2006/main">
            <a:pPr algn="r">
              <a:defRPr sz="1275" b="1">
                <a:solidFill>
                  <a:srgbClr val="6CD8C9"/>
                </a:solidFill>
                <a:latin typeface="Inter"/>
                <a:ea typeface="Inter"/>
                <a:cs typeface="Inter"/>
              </a:defRPr>
            </a:pPr>
            <a:r>
              <a:rPr sz="1275" b="1">
                <a:solidFill>
                  <a:srgbClr val="6CD8C9"/>
                </a:solidFill>
                <a:latin typeface="Inter"/>
                <a:ea typeface="Inter"/>
                <a:cs typeface="Inter"/>
              </a:rPr>
              <a:t>Identify and Understand</a:t>
            </a:r>
          </a:p>
        </p:txBody>
      </p:sp>
      <p:sp>
        <p:nvSpPr>
          <p:cNvPr id="6" name="question-prompt">
            <a:extLst xmlns:a="http://schemas.openxmlformats.org/drawingml/2006/main">
              <a:ext uri="{FF2B5EF4-FFF2-40B4-BE49-F238E27FC236}">
                <a16:creationId xmlns:a16="http://schemas.microsoft.com/office/drawing/2014/main" id="{B85266E0-CAA9-4E89-BB68-38E7C52057CC}"/>
              </a:ext>
            </a:extLst>
          </p:cNvPr>
          <p:cNvSpPr>
            <a:spLocks xmlns:a="http://schemas.openxmlformats.org/drawingml/2006/main" noGrp="1"/>
          </p:cNvSpPr>
          <p:nvPr/>
        </p:nvSpPr>
        <p:spPr>
          <a:xfrm xmlns:a="http://schemas.openxmlformats.org/drawingml/2006/main">
            <a:off x="685800" y="1285875"/>
            <a:ext cx="10820400" cy="1390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000" b="1">
                <a:solidFill>
                  <a:srgbClr val="F6FAF9"/>
                </a:solidFill>
                <a:latin typeface="Inter"/>
                <a:ea typeface="Inter"/>
                <a:cs typeface="Inter"/>
              </a:defRPr>
            </a:defPPr>
          </a:lstStyle>
          <a:p xmlns:a="http://schemas.openxmlformats.org/drawingml/2006/main">
            <a:pPr>
              <a:defRPr sz="3000" b="1">
                <a:solidFill>
                  <a:srgbClr val="F6FAF9"/>
                </a:solidFill>
                <a:latin typeface="Inter"/>
                <a:ea typeface="Inter"/>
                <a:cs typeface="Inter"/>
              </a:defRPr>
            </a:pPr>
            <a:r>
              <a:rPr sz="3000" b="1">
                <a:solidFill>
                  <a:srgbClr val="F6FAF9"/>
                </a:solidFill>
                <a:latin typeface="Inter"/>
                <a:ea typeface="Inter"/>
                <a:cs typeface="Inter"/>
              </a:rPr>
              <a:t>Is there a current inventory of important hardware, software, cloud services and data with owners and lifecycle status?</a:t>
            </a:r>
          </a:p>
        </p:txBody>
      </p:sp>
      <p:sp>
        <p:nvSpPr>
          <p:cNvPr id="7" name="meaning-label">
            <a:extLst xmlns:a="http://schemas.openxmlformats.org/drawingml/2006/main">
              <a:ext uri="{FF2B5EF4-FFF2-40B4-BE49-F238E27FC236}">
                <a16:creationId xmlns:a16="http://schemas.microsoft.com/office/drawing/2014/main" id="{AE6C5B54-90E8-4249-80EE-5412CA861382}"/>
              </a:ext>
            </a:extLst>
          </p:cNvPr>
          <p:cNvSpPr>
            <a:spLocks xmlns:a="http://schemas.openxmlformats.org/drawingml/2006/main" noGrp="1"/>
          </p:cNvSpPr>
          <p:nvPr/>
        </p:nvSpPr>
        <p:spPr>
          <a:xfrm xmlns:a="http://schemas.openxmlformats.org/drawingml/2006/main">
            <a:off x="685800" y="2990850"/>
            <a:ext cx="50101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350" b="1">
                <a:solidFill>
                  <a:srgbClr val="6CD8C9"/>
                </a:solidFill>
                <a:latin typeface="Inter"/>
                <a:ea typeface="Inter"/>
                <a:cs typeface="Inter"/>
              </a:defRPr>
            </a:defPPr>
          </a:lstStyle>
          <a:p xmlns:a="http://schemas.openxmlformats.org/drawingml/2006/main">
            <a:pPr>
              <a:defRPr sz="1350" b="1">
                <a:solidFill>
                  <a:srgbClr val="6CD8C9"/>
                </a:solidFill>
                <a:latin typeface="Inter"/>
                <a:ea typeface="Inter"/>
                <a:cs typeface="Inter"/>
              </a:defRPr>
            </a:pPr>
            <a:r>
              <a:rPr sz="1350" b="1">
                <a:solidFill>
                  <a:srgbClr val="6CD8C9"/>
                </a:solidFill>
                <a:latin typeface="Inter"/>
                <a:ea typeface="Inter"/>
                <a:cs typeface="Inter"/>
              </a:rPr>
              <a:t>WHAT THIS MEANS</a:t>
            </a:r>
          </a:p>
        </p:txBody>
      </p:sp>
      <p:sp>
        <p:nvSpPr>
          <p:cNvPr id="8" name="meaning">
            <a:extLst xmlns:a="http://schemas.openxmlformats.org/drawingml/2006/main">
              <a:ext uri="{FF2B5EF4-FFF2-40B4-BE49-F238E27FC236}">
                <a16:creationId xmlns:a16="http://schemas.microsoft.com/office/drawing/2014/main" id="{A819A26A-BB16-4FC6-ADCC-9440BE5BD57A}"/>
              </a:ext>
            </a:extLst>
          </p:cNvPr>
          <p:cNvSpPr>
            <a:spLocks xmlns:a="http://schemas.openxmlformats.org/drawingml/2006/main" noGrp="1"/>
          </p:cNvSpPr>
          <p:nvPr/>
        </p:nvSpPr>
        <p:spPr>
          <a:xfrm xmlns:a="http://schemas.openxmlformats.org/drawingml/2006/main">
            <a:off x="685800" y="3343275"/>
            <a:ext cx="5010150" cy="1228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950" b="0">
                <a:solidFill>
                  <a:srgbClr val="D7E2DF"/>
                </a:solidFill>
                <a:latin typeface="Inter"/>
                <a:ea typeface="Inter"/>
                <a:cs typeface="Inter"/>
              </a:defRPr>
            </a:defPPr>
          </a:lstStyle>
          <a:p xmlns:a="http://schemas.openxmlformats.org/drawingml/2006/main">
            <a:pPr>
              <a:defRPr sz="1950" b="0">
                <a:solidFill>
                  <a:srgbClr val="D7E2DF"/>
                </a:solidFill>
                <a:latin typeface="Inter"/>
                <a:ea typeface="Inter"/>
                <a:cs typeface="Inter"/>
              </a:defRPr>
            </a:pPr>
            <a:r>
              <a:rPr sz="1950" b="0">
                <a:solidFill>
                  <a:srgbClr val="D7E2DF"/>
                </a:solidFill>
                <a:latin typeface="Inter"/>
                <a:ea typeface="Inter"/>
                <a:cs typeface="Inter"/>
              </a:rPr>
              <a:t>One current list identifies important devices, software, cloud services and data, including who owns them and support dates.</a:t>
            </a:r>
          </a:p>
        </p:txBody>
      </p:sp>
      <p:sp>
        <p:nvSpPr>
          <p:cNvPr id="9" name="why-label">
            <a:extLst xmlns:a="http://schemas.openxmlformats.org/drawingml/2006/main">
              <a:ext uri="{FF2B5EF4-FFF2-40B4-BE49-F238E27FC236}">
                <a16:creationId xmlns:a16="http://schemas.microsoft.com/office/drawing/2014/main" id="{4BD20FC4-F0AA-434C-B41C-D2595BED018A}"/>
              </a:ext>
            </a:extLst>
          </p:cNvPr>
          <p:cNvSpPr>
            <a:spLocks xmlns:a="http://schemas.openxmlformats.org/drawingml/2006/main" noGrp="1"/>
          </p:cNvSpPr>
          <p:nvPr/>
        </p:nvSpPr>
        <p:spPr>
          <a:xfrm xmlns:a="http://schemas.openxmlformats.org/drawingml/2006/main">
            <a:off x="685800" y="4714875"/>
            <a:ext cx="50101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350" b="1">
                <a:solidFill>
                  <a:srgbClr val="6CD8C9"/>
                </a:solidFill>
                <a:latin typeface="Inter"/>
                <a:ea typeface="Inter"/>
                <a:cs typeface="Inter"/>
              </a:defRPr>
            </a:defPPr>
          </a:lstStyle>
          <a:p xmlns:a="http://schemas.openxmlformats.org/drawingml/2006/main">
            <a:pPr>
              <a:defRPr sz="1350" b="1">
                <a:solidFill>
                  <a:srgbClr val="6CD8C9"/>
                </a:solidFill>
                <a:latin typeface="Inter"/>
                <a:ea typeface="Inter"/>
                <a:cs typeface="Inter"/>
              </a:defRPr>
            </a:pPr>
            <a:r>
              <a:rPr sz="1350" b="1">
                <a:solidFill>
                  <a:srgbClr val="6CD8C9"/>
                </a:solidFill>
                <a:latin typeface="Inter"/>
                <a:ea typeface="Inter"/>
                <a:cs typeface="Inter"/>
              </a:rPr>
              <a:t>WHY IT MATTERS</a:t>
            </a:r>
          </a:p>
        </p:txBody>
      </p:sp>
      <p:sp>
        <p:nvSpPr>
          <p:cNvPr id="10" name="why">
            <a:extLst xmlns:a="http://schemas.openxmlformats.org/drawingml/2006/main">
              <a:ext uri="{FF2B5EF4-FFF2-40B4-BE49-F238E27FC236}">
                <a16:creationId xmlns:a16="http://schemas.microsoft.com/office/drawing/2014/main" id="{E0977A59-597A-49FB-822A-6CDF22BE9E95}"/>
              </a:ext>
            </a:extLst>
          </p:cNvPr>
          <p:cNvSpPr>
            <a:spLocks xmlns:a="http://schemas.openxmlformats.org/drawingml/2006/main" noGrp="1"/>
          </p:cNvSpPr>
          <p:nvPr/>
        </p:nvSpPr>
        <p:spPr>
          <a:xfrm xmlns:a="http://schemas.openxmlformats.org/drawingml/2006/main">
            <a:off x="685800" y="5067300"/>
            <a:ext cx="50101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00" b="0">
                <a:solidFill>
                  <a:srgbClr val="D7E2DF"/>
                </a:solidFill>
                <a:latin typeface="Inter"/>
                <a:ea typeface="Inter"/>
                <a:cs typeface="Inter"/>
              </a:defRPr>
            </a:defPPr>
          </a:lstStyle>
          <a:p xmlns:a="http://schemas.openxmlformats.org/drawingml/2006/main">
            <a:pPr>
              <a:defRPr sz="1800" b="0">
                <a:solidFill>
                  <a:srgbClr val="D7E2DF"/>
                </a:solidFill>
                <a:latin typeface="Inter"/>
                <a:ea typeface="Inter"/>
                <a:cs typeface="Inter"/>
              </a:defRPr>
            </a:pPr>
            <a:r>
              <a:rPr sz="1800" b="0">
                <a:solidFill>
                  <a:srgbClr val="D7E2DF"/>
                </a:solidFill>
                <a:latin typeface="Inter"/>
                <a:ea typeface="Inter"/>
                <a:cs typeface="Inter"/>
              </a:rPr>
              <a:t>You can protect and replace important systems only when you know they exist.</a:t>
            </a:r>
          </a:p>
        </p:txBody>
      </p:sp>
      <p:sp>
        <p:nvSpPr>
          <p:cNvPr id="11" name="example-label">
            <a:extLst xmlns:a="http://schemas.openxmlformats.org/drawingml/2006/main">
              <a:ext uri="{FF2B5EF4-FFF2-40B4-BE49-F238E27FC236}">
                <a16:creationId xmlns:a16="http://schemas.microsoft.com/office/drawing/2014/main" id="{26DE7F55-2D99-4A43-B6AE-94EF1454A886}"/>
              </a:ext>
            </a:extLst>
          </p:cNvPr>
          <p:cNvSpPr>
            <a:spLocks xmlns:a="http://schemas.openxmlformats.org/drawingml/2006/main" noGrp="1"/>
          </p:cNvSpPr>
          <p:nvPr/>
        </p:nvSpPr>
        <p:spPr>
          <a:xfrm xmlns:a="http://schemas.openxmlformats.org/drawingml/2006/main">
            <a:off x="6572250" y="2990850"/>
            <a:ext cx="4933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350" b="1">
                <a:solidFill>
                  <a:srgbClr val="6CD8C9"/>
                </a:solidFill>
                <a:latin typeface="Inter"/>
                <a:ea typeface="Inter"/>
                <a:cs typeface="Inter"/>
              </a:defRPr>
            </a:defPPr>
          </a:lstStyle>
          <a:p xmlns:a="http://schemas.openxmlformats.org/drawingml/2006/main">
            <a:pPr>
              <a:defRPr sz="1350" b="1">
                <a:solidFill>
                  <a:srgbClr val="6CD8C9"/>
                </a:solidFill>
                <a:latin typeface="Inter"/>
                <a:ea typeface="Inter"/>
                <a:cs typeface="Inter"/>
              </a:defRPr>
            </a:pPr>
            <a:r>
              <a:rPr sz="1350" b="1">
                <a:solidFill>
                  <a:srgbClr val="6CD8C9"/>
                </a:solidFill>
                <a:latin typeface="Inter"/>
                <a:ea typeface="Inter"/>
                <a:cs typeface="Inter"/>
              </a:rPr>
              <a:t>EXAMPLE ANSWER: PARTIAL</a:t>
            </a:r>
          </a:p>
        </p:txBody>
      </p:sp>
      <p:sp>
        <p:nvSpPr>
          <p:cNvPr id="12" name="example">
            <a:extLst xmlns:a="http://schemas.openxmlformats.org/drawingml/2006/main">
              <a:ext uri="{FF2B5EF4-FFF2-40B4-BE49-F238E27FC236}">
                <a16:creationId xmlns:a16="http://schemas.microsoft.com/office/drawing/2014/main" id="{A55EE718-FDB4-444B-8D93-9DD02981B091}"/>
              </a:ext>
            </a:extLst>
          </p:cNvPr>
          <p:cNvSpPr>
            <a:spLocks xmlns:a="http://schemas.openxmlformats.org/drawingml/2006/main" noGrp="1"/>
          </p:cNvSpPr>
          <p:nvPr/>
        </p:nvSpPr>
        <p:spPr>
          <a:xfrm xmlns:a="http://schemas.openxmlformats.org/drawingml/2006/main">
            <a:off x="6572250" y="3343275"/>
            <a:ext cx="4933950" cy="1943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00" b="0">
                <a:solidFill>
                  <a:srgbClr val="F6FAF9"/>
                </a:solidFill>
                <a:latin typeface="Inter"/>
                <a:ea typeface="Inter"/>
                <a:cs typeface="Inter"/>
              </a:defRPr>
            </a:defPPr>
          </a:lstStyle>
          <a:p xmlns:a="http://schemas.openxmlformats.org/drawingml/2006/main">
            <a:pPr>
              <a:defRPr sz="2100" b="0">
                <a:solidFill>
                  <a:srgbClr val="F6FAF9"/>
                </a:solidFill>
                <a:latin typeface="Inter"/>
                <a:ea typeface="Inter"/>
                <a:cs typeface="Inter"/>
              </a:defRPr>
            </a:pPr>
            <a:r>
              <a:rPr sz="2100" b="0">
                <a:solidFill>
                  <a:srgbClr val="F6FAF9"/>
                </a:solidFill>
                <a:latin typeface="Inter"/>
                <a:ea typeface="Inter"/>
                <a:cs typeface="Inter"/>
              </a:rPr>
              <a:t>“Our laptop list is current. We still need to add cloud services, important data owners and end-of-support dates.”</a:t>
            </a:r>
          </a:p>
        </p:txBody>
      </p:sp>
      <p:sp>
        <p:nvSpPr>
          <p:cNvPr id="13" name="evidence-label">
            <a:extLst xmlns:a="http://schemas.openxmlformats.org/drawingml/2006/main">
              <a:ext uri="{FF2B5EF4-FFF2-40B4-BE49-F238E27FC236}">
                <a16:creationId xmlns:a16="http://schemas.microsoft.com/office/drawing/2014/main" id="{7A0DBA46-6D18-4B25-8C01-F1ECB982F9AA}"/>
              </a:ext>
            </a:extLst>
          </p:cNvPr>
          <p:cNvSpPr>
            <a:spLocks xmlns:a="http://schemas.openxmlformats.org/drawingml/2006/main" noGrp="1"/>
          </p:cNvSpPr>
          <p:nvPr/>
        </p:nvSpPr>
        <p:spPr>
          <a:xfrm xmlns:a="http://schemas.openxmlformats.org/drawingml/2006/main">
            <a:off x="6572250" y="5410200"/>
            <a:ext cx="4933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350" b="1">
                <a:solidFill>
                  <a:srgbClr val="6CD8C9"/>
                </a:solidFill>
                <a:latin typeface="Inter"/>
                <a:ea typeface="Inter"/>
                <a:cs typeface="Inter"/>
              </a:defRPr>
            </a:defPPr>
          </a:lstStyle>
          <a:p xmlns:a="http://schemas.openxmlformats.org/drawingml/2006/main">
            <a:pPr>
              <a:defRPr sz="1350" b="1">
                <a:solidFill>
                  <a:srgbClr val="6CD8C9"/>
                </a:solidFill>
                <a:latin typeface="Inter"/>
                <a:ea typeface="Inter"/>
                <a:cs typeface="Inter"/>
              </a:defRPr>
            </a:pPr>
            <a:r>
              <a:rPr sz="1350" b="1">
                <a:solidFill>
                  <a:srgbClr val="6CD8C9"/>
                </a:solidFill>
                <a:latin typeface="Inter"/>
                <a:ea typeface="Inter"/>
                <a:cs typeface="Inter"/>
              </a:rPr>
              <a:t>EVIDENCE TO DISCUSS</a:t>
            </a:r>
          </a:p>
        </p:txBody>
      </p:sp>
      <p:sp>
        <p:nvSpPr>
          <p:cNvPr id="14" name="evidence">
            <a:extLst xmlns:a="http://schemas.openxmlformats.org/drawingml/2006/main">
              <a:ext uri="{FF2B5EF4-FFF2-40B4-BE49-F238E27FC236}">
                <a16:creationId xmlns:a16="http://schemas.microsoft.com/office/drawing/2014/main" id="{B5259060-EE92-4E9E-A851-1F8FF9FE3F95}"/>
              </a:ext>
            </a:extLst>
          </p:cNvPr>
          <p:cNvSpPr>
            <a:spLocks xmlns:a="http://schemas.openxmlformats.org/drawingml/2006/main" noGrp="1"/>
          </p:cNvSpPr>
          <p:nvPr/>
        </p:nvSpPr>
        <p:spPr>
          <a:xfrm xmlns:a="http://schemas.openxmlformats.org/drawingml/2006/main">
            <a:off x="6572250" y="5762625"/>
            <a:ext cx="493395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725" b="0">
                <a:solidFill>
                  <a:srgbClr val="D7E2DF"/>
                </a:solidFill>
                <a:latin typeface="Inter"/>
                <a:ea typeface="Inter"/>
                <a:cs typeface="Inter"/>
              </a:defRPr>
            </a:defPPr>
          </a:lstStyle>
          <a:p xmlns:a="http://schemas.openxmlformats.org/drawingml/2006/main">
            <a:pPr>
              <a:defRPr sz="1725" b="0">
                <a:solidFill>
                  <a:srgbClr val="D7E2DF"/>
                </a:solidFill>
                <a:latin typeface="Inter"/>
                <a:ea typeface="Inter"/>
                <a:cs typeface="Inter"/>
              </a:defRPr>
            </a:pPr>
            <a:r>
              <a:rPr sz="1725" b="0">
                <a:solidFill>
                  <a:srgbClr val="D7E2DF"/>
                </a:solidFill>
                <a:latin typeface="Inter"/>
                <a:ea typeface="Inter"/>
                <a:cs typeface="Inter"/>
              </a:rPr>
              <a:t>Hardware and software inventory</a:t>
            </a:r>
          </a:p>
          <a:p xmlns:a="http://schemas.openxmlformats.org/drawingml/2006/main">
            <a:pPr>
              <a:defRPr sz="1725" b="0">
                <a:solidFill>
                  <a:srgbClr val="D7E2DF"/>
                </a:solidFill>
                <a:latin typeface="Inter"/>
                <a:ea typeface="Inter"/>
                <a:cs typeface="Inter"/>
              </a:defRPr>
            </a:pPr>
            <a:r>
              <a:rPr sz="1725" b="0">
                <a:solidFill>
                  <a:srgbClr val="D7E2DF"/>
                </a:solidFill>
                <a:latin typeface="Inter"/>
                <a:ea typeface="Inter"/>
                <a:cs typeface="Inter"/>
              </a:rPr>
              <a:t>Cloud and SaaS register</a:t>
            </a:r>
          </a:p>
        </p:txBody>
      </p:sp>
    </p:spTree>
    <p:extLst>
      <p:ext uri="{BB962C8B-B14F-4D97-AF65-F5344CB8AC3E}">
        <p14:creationId xmlns:p14="http://schemas.microsoft.com/office/powerpoint/2010/main" val="1710616672"/>
      </p:ext>
    </p:extLst>
  </p:cSld>
</p:sld>
</file>

<file path=ppt/slides/slide7.xml><?xml version="1.0" encoding="utf-8"?>
<p:sld xmlns:p="http://schemas.openxmlformats.org/presentationml/2006/main">
  <p:cSld>
    <p:bg>
      <p:bgPr>
        <a:solidFill xmlns:a="http://schemas.openxmlformats.org/drawingml/2006/main">
          <a:srgbClr val="08100F"/>
        </a:solidFill>
      </p:bgPr>
    </p:bg>
    <p:spTree>
      <p:nvGrpSpPr>
        <p:cNvPr id="1" name=""/>
        <p:cNvGrpSpPr/>
        <p:nvPr/>
      </p:nvGrpSpPr>
      <p:grpSpPr>
        <a:xfrm xmlns:a="http://schemas.openxmlformats.org/drawingml/2006/main"/>
      </p:grpSpPr>
      <p:sp>
        <p:nvSpPr>
          <p:cNvPr id="15" name="brand">
            <a:extLst xmlns:a="http://schemas.openxmlformats.org/drawingml/2006/main">
              <a:ext uri="{FF2B5EF4-FFF2-40B4-BE49-F238E27FC236}">
                <a16:creationId xmlns:a16="http://schemas.microsoft.com/office/drawing/2014/main" id="{9C05EE78-4B0B-4592-9FB2-E61521E5658C}"/>
              </a:ext>
            </a:extLst>
          </p:cNvPr>
          <p:cNvSpPr>
            <a:spLocks xmlns:a="http://schemas.openxmlformats.org/drawingml/2006/main" noGrp="1"/>
          </p:cNvSpPr>
          <p:nvPr/>
        </p:nvSpPr>
        <p:spPr>
          <a:xfrm xmlns:a="http://schemas.openxmlformats.org/drawingml/2006/main">
            <a:off x="685800" y="323850"/>
            <a:ext cx="2952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00" b="1">
                <a:solidFill>
                  <a:srgbClr val="F6FAF9"/>
                </a:solidFill>
                <a:latin typeface="Inter"/>
                <a:ea typeface="Inter"/>
                <a:cs typeface="Inter"/>
              </a:defRPr>
            </a:defPPr>
          </a:lstStyle>
          <a:p xmlns:a="http://schemas.openxmlformats.org/drawingml/2006/main">
            <a:pPr>
              <a:defRPr sz="1800" b="1">
                <a:solidFill>
                  <a:srgbClr val="F6FAF9"/>
                </a:solidFill>
                <a:latin typeface="Inter"/>
                <a:ea typeface="Inter"/>
                <a:cs typeface="Inter"/>
              </a:defRPr>
            </a:pPr>
            <a:r>
              <a:rPr sz="1800" b="1">
                <a:solidFill>
                  <a:srgbClr val="F6FAF9"/>
                </a:solidFill>
                <a:latin typeface="Inter"/>
                <a:ea typeface="Inter"/>
                <a:cs typeface="Inter"/>
              </a:rPr>
              <a:t>NO FRIES</a:t>
            </a:r>
          </a:p>
        </p:txBody>
      </p:sp>
      <p:sp>
        <p:nvSpPr>
          <p:cNvPr id="2" name="section">
            <a:extLst xmlns:a="http://schemas.openxmlformats.org/drawingml/2006/main">
              <a:ext uri="{FF2B5EF4-FFF2-40B4-BE49-F238E27FC236}">
                <a16:creationId xmlns:a16="http://schemas.microsoft.com/office/drawing/2014/main" id="{4910BEF1-3051-4F37-A7FF-9D0334005757}"/>
              </a:ext>
            </a:extLst>
          </p:cNvPr>
          <p:cNvSpPr>
            <a:spLocks xmlns:a="http://schemas.openxmlformats.org/drawingml/2006/main" noGrp="1"/>
          </p:cNvSpPr>
          <p:nvPr/>
        </p:nvSpPr>
        <p:spPr>
          <a:xfrm xmlns:a="http://schemas.openxmlformats.org/drawingml/2006/main">
            <a:off x="5524500" y="371475"/>
            <a:ext cx="59817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1">
                <a:solidFill>
                  <a:srgbClr val="6CD8C9"/>
                </a:solidFill>
                <a:latin typeface="Inter"/>
                <a:ea typeface="Inter"/>
                <a:cs typeface="Inter"/>
              </a:defRPr>
            </a:defPPr>
          </a:lstStyle>
          <a:p xmlns:a="http://schemas.openxmlformats.org/drawingml/2006/main">
            <a:pPr algn="r">
              <a:defRPr sz="1200" b="1">
                <a:solidFill>
                  <a:srgbClr val="6CD8C9"/>
                </a:solidFill>
                <a:latin typeface="Inter"/>
                <a:ea typeface="Inter"/>
                <a:cs typeface="Inter"/>
              </a:defRPr>
            </a:pPr>
            <a:r>
              <a:rPr sz="1200" b="1">
                <a:solidFill>
                  <a:srgbClr val="6CD8C9"/>
                </a:solidFill>
                <a:latin typeface="Inter"/>
                <a:ea typeface="Inter"/>
                <a:cs typeface="Inter"/>
              </a:rPr>
              <a:t>QUESTION 04 / 14</a:t>
            </a:r>
          </a:p>
        </p:txBody>
      </p:sp>
      <p:sp>
        <p:nvSpPr>
          <p:cNvPr id="3" name="page">
            <a:extLst xmlns:a="http://schemas.openxmlformats.org/drawingml/2006/main">
              <a:ext uri="{FF2B5EF4-FFF2-40B4-BE49-F238E27FC236}">
                <a16:creationId xmlns:a16="http://schemas.microsoft.com/office/drawing/2014/main" id="{BEC6D7EA-FFCB-4E7E-A720-5DA9EFD26298}"/>
              </a:ext>
            </a:extLst>
          </p:cNvPr>
          <p:cNvSpPr>
            <a:spLocks xmlns:a="http://schemas.openxmlformats.org/drawingml/2006/main" noGrp="1"/>
          </p:cNvSpPr>
          <p:nvPr/>
        </p:nvSpPr>
        <p:spPr>
          <a:xfrm xmlns:a="http://schemas.openxmlformats.org/drawingml/2006/main">
            <a:off x="10934700" y="6429375"/>
            <a:ext cx="5715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A9BBB7"/>
                </a:solidFill>
                <a:latin typeface="Inter"/>
                <a:ea typeface="Inter"/>
                <a:cs typeface="Inter"/>
              </a:defRPr>
            </a:defPPr>
          </a:lstStyle>
          <a:p xmlns:a="http://schemas.openxmlformats.org/drawingml/2006/main">
            <a:pPr algn="r">
              <a:defRPr sz="1200" b="0">
                <a:solidFill>
                  <a:srgbClr val="A9BBB7"/>
                </a:solidFill>
                <a:latin typeface="Inter"/>
                <a:ea typeface="Inter"/>
                <a:cs typeface="Inter"/>
              </a:defRPr>
            </a:pPr>
            <a:r>
              <a:rPr sz="1200" b="0">
                <a:solidFill>
                  <a:srgbClr val="A9BBB7"/>
                </a:solidFill>
                <a:latin typeface="Inter"/>
                <a:ea typeface="Inter"/>
                <a:cs typeface="Inter"/>
              </a:rPr>
              <a:t>07</a:t>
            </a:r>
          </a:p>
        </p:txBody>
      </p:sp>
      <p:sp>
        <p:nvSpPr>
          <p:cNvPr id="4" name="question-id">
            <a:extLst xmlns:a="http://schemas.openxmlformats.org/drawingml/2006/main">
              <a:ext uri="{FF2B5EF4-FFF2-40B4-BE49-F238E27FC236}">
                <a16:creationId xmlns:a16="http://schemas.microsoft.com/office/drawing/2014/main" id="{8C3485F5-5AE6-420B-A190-E37A2230B17C}"/>
              </a:ext>
            </a:extLst>
          </p:cNvPr>
          <p:cNvSpPr>
            <a:spLocks xmlns:a="http://schemas.openxmlformats.org/drawingml/2006/main" noGrp="1"/>
          </p:cNvSpPr>
          <p:nvPr/>
        </p:nvSpPr>
        <p:spPr>
          <a:xfrm xmlns:a="http://schemas.openxmlformats.org/drawingml/2006/main">
            <a:off x="685800" y="828675"/>
            <a:ext cx="52387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00" b="0">
                <a:solidFill>
                  <a:srgbClr val="A9BBB7"/>
                </a:solidFill>
                <a:latin typeface="Inter"/>
                <a:ea typeface="Inter"/>
                <a:cs typeface="Inter"/>
              </a:defRPr>
            </a:defPPr>
          </a:lstStyle>
          <a:p xmlns:a="http://schemas.openxmlformats.org/drawingml/2006/main">
            <a:pPr>
              <a:defRPr sz="1200" b="0">
                <a:solidFill>
                  <a:srgbClr val="A9BBB7"/>
                </a:solidFill>
                <a:latin typeface="Inter"/>
                <a:ea typeface="Inter"/>
                <a:cs typeface="Inter"/>
              </a:defRPr>
            </a:pPr>
            <a:r>
              <a:rPr sz="1200" b="0">
                <a:solidFill>
                  <a:srgbClr val="A9BBB7"/>
                </a:solidFill>
                <a:latin typeface="Inter"/>
                <a:ea typeface="Inter"/>
                <a:cs typeface="Inter"/>
              </a:rPr>
              <a:t>NF-NCSC-MCSS-SC-01-Q1</a:t>
            </a:r>
          </a:p>
        </p:txBody>
      </p:sp>
      <p:sp>
        <p:nvSpPr>
          <p:cNvPr id="5" name="function">
            <a:extLst xmlns:a="http://schemas.openxmlformats.org/drawingml/2006/main">
              <a:ext uri="{FF2B5EF4-FFF2-40B4-BE49-F238E27FC236}">
                <a16:creationId xmlns:a16="http://schemas.microsoft.com/office/drawing/2014/main" id="{997956F1-E2AC-4139-B313-7C9B8696080C}"/>
              </a:ext>
            </a:extLst>
          </p:cNvPr>
          <p:cNvSpPr>
            <a:spLocks xmlns:a="http://schemas.openxmlformats.org/drawingml/2006/main" noGrp="1"/>
          </p:cNvSpPr>
          <p:nvPr/>
        </p:nvSpPr>
        <p:spPr>
          <a:xfrm xmlns:a="http://schemas.openxmlformats.org/drawingml/2006/main">
            <a:off x="6524625" y="828675"/>
            <a:ext cx="4981575"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1">
                <a:solidFill>
                  <a:srgbClr val="6CD8C9"/>
                </a:solidFill>
                <a:latin typeface="Inter"/>
                <a:ea typeface="Inter"/>
                <a:cs typeface="Inter"/>
              </a:defRPr>
            </a:defPPr>
          </a:lstStyle>
          <a:p xmlns:a="http://schemas.openxmlformats.org/drawingml/2006/main">
            <a:pPr algn="r">
              <a:defRPr sz="1275" b="1">
                <a:solidFill>
                  <a:srgbClr val="6CD8C9"/>
                </a:solidFill>
                <a:latin typeface="Inter"/>
                <a:ea typeface="Inter"/>
                <a:cs typeface="Inter"/>
              </a:defRPr>
            </a:pPr>
            <a:r>
              <a:rPr sz="1275" b="1">
                <a:solidFill>
                  <a:srgbClr val="6CD8C9"/>
                </a:solidFill>
                <a:latin typeface="Inter"/>
                <a:ea typeface="Inter"/>
                <a:cs typeface="Inter"/>
              </a:rPr>
              <a:t>Prevent and Protect</a:t>
            </a:r>
          </a:p>
        </p:txBody>
      </p:sp>
      <p:sp>
        <p:nvSpPr>
          <p:cNvPr id="6" name="question-prompt">
            <a:extLst xmlns:a="http://schemas.openxmlformats.org/drawingml/2006/main">
              <a:ext uri="{FF2B5EF4-FFF2-40B4-BE49-F238E27FC236}">
                <a16:creationId xmlns:a16="http://schemas.microsoft.com/office/drawing/2014/main" id="{155E79EB-FF70-450C-AEFA-F167FA2AEB79}"/>
              </a:ext>
            </a:extLst>
          </p:cNvPr>
          <p:cNvSpPr>
            <a:spLocks xmlns:a="http://schemas.openxmlformats.org/drawingml/2006/main" noGrp="1"/>
          </p:cNvSpPr>
          <p:nvPr/>
        </p:nvSpPr>
        <p:spPr>
          <a:xfrm xmlns:a="http://schemas.openxmlformats.org/drawingml/2006/main">
            <a:off x="685800" y="1285875"/>
            <a:ext cx="10820400" cy="1390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000" b="1">
                <a:solidFill>
                  <a:srgbClr val="F6FAF9"/>
                </a:solidFill>
                <a:latin typeface="Inter"/>
                <a:ea typeface="Inter"/>
                <a:cs typeface="Inter"/>
              </a:defRPr>
            </a:defPPr>
          </a:lstStyle>
          <a:p xmlns:a="http://schemas.openxmlformats.org/drawingml/2006/main">
            <a:pPr>
              <a:defRPr sz="3000" b="1">
                <a:solidFill>
                  <a:srgbClr val="F6FAF9"/>
                </a:solidFill>
                <a:latin typeface="Inter"/>
                <a:ea typeface="Inter"/>
                <a:cs typeface="Inter"/>
              </a:defRPr>
            </a:pPr>
            <a:r>
              <a:rPr sz="3000" b="1">
                <a:solidFill>
                  <a:srgbClr val="F6FAF9"/>
                </a:solidFill>
                <a:latin typeface="Inter"/>
                <a:ea typeface="Inter"/>
                <a:cs typeface="Inter"/>
              </a:rPr>
              <a:t>Are secure configuration baselines applied to new and existing systems, with exceptions reviewed when software changes?</a:t>
            </a:r>
          </a:p>
        </p:txBody>
      </p:sp>
      <p:sp>
        <p:nvSpPr>
          <p:cNvPr id="7" name="meaning-label">
            <a:extLst xmlns:a="http://schemas.openxmlformats.org/drawingml/2006/main">
              <a:ext uri="{FF2B5EF4-FFF2-40B4-BE49-F238E27FC236}">
                <a16:creationId xmlns:a16="http://schemas.microsoft.com/office/drawing/2014/main" id="{19590127-9638-411F-A143-DD8A8B710C5B}"/>
              </a:ext>
            </a:extLst>
          </p:cNvPr>
          <p:cNvSpPr>
            <a:spLocks xmlns:a="http://schemas.openxmlformats.org/drawingml/2006/main" noGrp="1"/>
          </p:cNvSpPr>
          <p:nvPr/>
        </p:nvSpPr>
        <p:spPr>
          <a:xfrm xmlns:a="http://schemas.openxmlformats.org/drawingml/2006/main">
            <a:off x="685800" y="2990850"/>
            <a:ext cx="50101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350" b="1">
                <a:solidFill>
                  <a:srgbClr val="6CD8C9"/>
                </a:solidFill>
                <a:latin typeface="Inter"/>
                <a:ea typeface="Inter"/>
                <a:cs typeface="Inter"/>
              </a:defRPr>
            </a:defPPr>
          </a:lstStyle>
          <a:p xmlns:a="http://schemas.openxmlformats.org/drawingml/2006/main">
            <a:pPr>
              <a:defRPr sz="1350" b="1">
                <a:solidFill>
                  <a:srgbClr val="6CD8C9"/>
                </a:solidFill>
                <a:latin typeface="Inter"/>
                <a:ea typeface="Inter"/>
                <a:cs typeface="Inter"/>
              </a:defRPr>
            </a:pPr>
            <a:r>
              <a:rPr sz="1350" b="1">
                <a:solidFill>
                  <a:srgbClr val="6CD8C9"/>
                </a:solidFill>
                <a:latin typeface="Inter"/>
                <a:ea typeface="Inter"/>
                <a:cs typeface="Inter"/>
              </a:rPr>
              <a:t>WHAT THIS MEANS</a:t>
            </a:r>
          </a:p>
        </p:txBody>
      </p:sp>
      <p:sp>
        <p:nvSpPr>
          <p:cNvPr id="8" name="meaning">
            <a:extLst xmlns:a="http://schemas.openxmlformats.org/drawingml/2006/main">
              <a:ext uri="{FF2B5EF4-FFF2-40B4-BE49-F238E27FC236}">
                <a16:creationId xmlns:a16="http://schemas.microsoft.com/office/drawing/2014/main" id="{2080D5E0-A15F-4BC8-A6C0-FA0164841AE3}"/>
              </a:ext>
            </a:extLst>
          </p:cNvPr>
          <p:cNvSpPr>
            <a:spLocks xmlns:a="http://schemas.openxmlformats.org/drawingml/2006/main" noGrp="1"/>
          </p:cNvSpPr>
          <p:nvPr/>
        </p:nvSpPr>
        <p:spPr>
          <a:xfrm xmlns:a="http://schemas.openxmlformats.org/drawingml/2006/main">
            <a:off x="685800" y="3343275"/>
            <a:ext cx="5010150" cy="1228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950" b="0">
                <a:solidFill>
                  <a:srgbClr val="D7E2DF"/>
                </a:solidFill>
                <a:latin typeface="Inter"/>
                <a:ea typeface="Inter"/>
                <a:cs typeface="Inter"/>
              </a:defRPr>
            </a:defPPr>
          </a:lstStyle>
          <a:p xmlns:a="http://schemas.openxmlformats.org/drawingml/2006/main">
            <a:pPr>
              <a:defRPr sz="1950" b="0">
                <a:solidFill>
                  <a:srgbClr val="D7E2DF"/>
                </a:solidFill>
                <a:latin typeface="Inter"/>
                <a:ea typeface="Inter"/>
                <a:cs typeface="Inter"/>
              </a:defRPr>
            </a:pPr>
            <a:r>
              <a:rPr sz="1950" b="0">
                <a:solidFill>
                  <a:srgbClr val="D7E2DF"/>
                </a:solidFill>
                <a:latin typeface="Inter"/>
                <a:ea typeface="Inter"/>
                <a:cs typeface="Inter"/>
              </a:rPr>
              <a:t>Systems use agreed secure settings. The team checks changes and keeps a record of exceptions.</a:t>
            </a:r>
          </a:p>
        </p:txBody>
      </p:sp>
      <p:sp>
        <p:nvSpPr>
          <p:cNvPr id="9" name="why-label">
            <a:extLst xmlns:a="http://schemas.openxmlformats.org/drawingml/2006/main">
              <a:ext uri="{FF2B5EF4-FFF2-40B4-BE49-F238E27FC236}">
                <a16:creationId xmlns:a16="http://schemas.microsoft.com/office/drawing/2014/main" id="{9D108C72-9BA7-4BDC-BEDD-8E35FED1D69F}"/>
              </a:ext>
            </a:extLst>
          </p:cNvPr>
          <p:cNvSpPr>
            <a:spLocks xmlns:a="http://schemas.openxmlformats.org/drawingml/2006/main" noGrp="1"/>
          </p:cNvSpPr>
          <p:nvPr/>
        </p:nvSpPr>
        <p:spPr>
          <a:xfrm xmlns:a="http://schemas.openxmlformats.org/drawingml/2006/main">
            <a:off x="685800" y="4714875"/>
            <a:ext cx="50101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350" b="1">
                <a:solidFill>
                  <a:srgbClr val="6CD8C9"/>
                </a:solidFill>
                <a:latin typeface="Inter"/>
                <a:ea typeface="Inter"/>
                <a:cs typeface="Inter"/>
              </a:defRPr>
            </a:defPPr>
          </a:lstStyle>
          <a:p xmlns:a="http://schemas.openxmlformats.org/drawingml/2006/main">
            <a:pPr>
              <a:defRPr sz="1350" b="1">
                <a:solidFill>
                  <a:srgbClr val="6CD8C9"/>
                </a:solidFill>
                <a:latin typeface="Inter"/>
                <a:ea typeface="Inter"/>
                <a:cs typeface="Inter"/>
              </a:defRPr>
            </a:pPr>
            <a:r>
              <a:rPr sz="1350" b="1">
                <a:solidFill>
                  <a:srgbClr val="6CD8C9"/>
                </a:solidFill>
                <a:latin typeface="Inter"/>
                <a:ea typeface="Inter"/>
                <a:cs typeface="Inter"/>
              </a:rPr>
              <a:t>WHY IT MATTERS</a:t>
            </a:r>
          </a:p>
        </p:txBody>
      </p:sp>
      <p:sp>
        <p:nvSpPr>
          <p:cNvPr id="10" name="why">
            <a:extLst xmlns:a="http://schemas.openxmlformats.org/drawingml/2006/main">
              <a:ext uri="{FF2B5EF4-FFF2-40B4-BE49-F238E27FC236}">
                <a16:creationId xmlns:a16="http://schemas.microsoft.com/office/drawing/2014/main" id="{18374E73-824F-4BB6-95B0-16636BCBDAE7}"/>
              </a:ext>
            </a:extLst>
          </p:cNvPr>
          <p:cNvSpPr>
            <a:spLocks xmlns:a="http://schemas.openxmlformats.org/drawingml/2006/main" noGrp="1"/>
          </p:cNvSpPr>
          <p:nvPr/>
        </p:nvSpPr>
        <p:spPr>
          <a:xfrm xmlns:a="http://schemas.openxmlformats.org/drawingml/2006/main">
            <a:off x="685800" y="5067300"/>
            <a:ext cx="50101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00" b="0">
                <a:solidFill>
                  <a:srgbClr val="D7E2DF"/>
                </a:solidFill>
                <a:latin typeface="Inter"/>
                <a:ea typeface="Inter"/>
                <a:cs typeface="Inter"/>
              </a:defRPr>
            </a:defPPr>
          </a:lstStyle>
          <a:p xmlns:a="http://schemas.openxmlformats.org/drawingml/2006/main">
            <a:pPr>
              <a:defRPr sz="1800" b="0">
                <a:solidFill>
                  <a:srgbClr val="D7E2DF"/>
                </a:solidFill>
                <a:latin typeface="Inter"/>
                <a:ea typeface="Inter"/>
                <a:cs typeface="Inter"/>
              </a:defRPr>
            </a:pPr>
            <a:r>
              <a:rPr sz="1800" b="0">
                <a:solidFill>
                  <a:srgbClr val="D7E2DF"/>
                </a:solidFill>
                <a:latin typeface="Inter"/>
                <a:ea typeface="Inter"/>
                <a:cs typeface="Inter"/>
              </a:rPr>
              <a:t>Default settings and unnoticed changes can create avoidable exposure.</a:t>
            </a:r>
          </a:p>
        </p:txBody>
      </p:sp>
      <p:sp>
        <p:nvSpPr>
          <p:cNvPr id="11" name="example-label">
            <a:extLst xmlns:a="http://schemas.openxmlformats.org/drawingml/2006/main">
              <a:ext uri="{FF2B5EF4-FFF2-40B4-BE49-F238E27FC236}">
                <a16:creationId xmlns:a16="http://schemas.microsoft.com/office/drawing/2014/main" id="{55CDFC49-E70A-41DD-A8A4-B49A88E8D28A}"/>
              </a:ext>
            </a:extLst>
          </p:cNvPr>
          <p:cNvSpPr>
            <a:spLocks xmlns:a="http://schemas.openxmlformats.org/drawingml/2006/main" noGrp="1"/>
          </p:cNvSpPr>
          <p:nvPr/>
        </p:nvSpPr>
        <p:spPr>
          <a:xfrm xmlns:a="http://schemas.openxmlformats.org/drawingml/2006/main">
            <a:off x="6572250" y="2990850"/>
            <a:ext cx="4933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350" b="1">
                <a:solidFill>
                  <a:srgbClr val="6CD8C9"/>
                </a:solidFill>
                <a:latin typeface="Inter"/>
                <a:ea typeface="Inter"/>
                <a:cs typeface="Inter"/>
              </a:defRPr>
            </a:defPPr>
          </a:lstStyle>
          <a:p xmlns:a="http://schemas.openxmlformats.org/drawingml/2006/main">
            <a:pPr>
              <a:defRPr sz="1350" b="1">
                <a:solidFill>
                  <a:srgbClr val="6CD8C9"/>
                </a:solidFill>
                <a:latin typeface="Inter"/>
                <a:ea typeface="Inter"/>
                <a:cs typeface="Inter"/>
              </a:defRPr>
            </a:pPr>
            <a:r>
              <a:rPr sz="1350" b="1">
                <a:solidFill>
                  <a:srgbClr val="6CD8C9"/>
                </a:solidFill>
                <a:latin typeface="Inter"/>
                <a:ea typeface="Inter"/>
                <a:cs typeface="Inter"/>
              </a:rPr>
              <a:t>EXAMPLE ANSWER: PARTIAL</a:t>
            </a:r>
          </a:p>
        </p:txBody>
      </p:sp>
      <p:sp>
        <p:nvSpPr>
          <p:cNvPr id="12" name="example">
            <a:extLst xmlns:a="http://schemas.openxmlformats.org/drawingml/2006/main">
              <a:ext uri="{FF2B5EF4-FFF2-40B4-BE49-F238E27FC236}">
                <a16:creationId xmlns:a16="http://schemas.microsoft.com/office/drawing/2014/main" id="{B5EE79B7-80CE-47EB-9846-DAB1C86A14B8}"/>
              </a:ext>
            </a:extLst>
          </p:cNvPr>
          <p:cNvSpPr>
            <a:spLocks xmlns:a="http://schemas.openxmlformats.org/drawingml/2006/main" noGrp="1"/>
          </p:cNvSpPr>
          <p:nvPr/>
        </p:nvSpPr>
        <p:spPr>
          <a:xfrm xmlns:a="http://schemas.openxmlformats.org/drawingml/2006/main">
            <a:off x="6572250" y="3343275"/>
            <a:ext cx="4933950" cy="1943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00" b="0">
                <a:solidFill>
                  <a:srgbClr val="F6FAF9"/>
                </a:solidFill>
                <a:latin typeface="Inter"/>
                <a:ea typeface="Inter"/>
                <a:cs typeface="Inter"/>
              </a:defRPr>
            </a:defPPr>
          </a:lstStyle>
          <a:p xmlns:a="http://schemas.openxmlformats.org/drawingml/2006/main">
            <a:pPr>
              <a:defRPr sz="2100" b="0">
                <a:solidFill>
                  <a:srgbClr val="F6FAF9"/>
                </a:solidFill>
                <a:latin typeface="Inter"/>
                <a:ea typeface="Inter"/>
                <a:cs typeface="Inter"/>
              </a:defRPr>
            </a:pPr>
            <a:r>
              <a:rPr sz="2100" b="0">
                <a:solidFill>
                  <a:srgbClr val="F6FAF9"/>
                </a:solidFill>
                <a:latin typeface="Inter"/>
                <a:ea typeface="Inter"/>
                <a:cs typeface="Inter"/>
              </a:rPr>
              <a:t>“We apply a standard setup to new laptops. Older devices and cloud settings haven’t had the same review.”</a:t>
            </a:r>
          </a:p>
        </p:txBody>
      </p:sp>
      <p:sp>
        <p:nvSpPr>
          <p:cNvPr id="13" name="evidence-label">
            <a:extLst xmlns:a="http://schemas.openxmlformats.org/drawingml/2006/main">
              <a:ext uri="{FF2B5EF4-FFF2-40B4-BE49-F238E27FC236}">
                <a16:creationId xmlns:a16="http://schemas.microsoft.com/office/drawing/2014/main" id="{1F19CEC6-21CE-4AD5-AD99-564D2885F6C3}"/>
              </a:ext>
            </a:extLst>
          </p:cNvPr>
          <p:cNvSpPr>
            <a:spLocks xmlns:a="http://schemas.openxmlformats.org/drawingml/2006/main" noGrp="1"/>
          </p:cNvSpPr>
          <p:nvPr/>
        </p:nvSpPr>
        <p:spPr>
          <a:xfrm xmlns:a="http://schemas.openxmlformats.org/drawingml/2006/main">
            <a:off x="6572250" y="5410200"/>
            <a:ext cx="4933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350" b="1">
                <a:solidFill>
                  <a:srgbClr val="6CD8C9"/>
                </a:solidFill>
                <a:latin typeface="Inter"/>
                <a:ea typeface="Inter"/>
                <a:cs typeface="Inter"/>
              </a:defRPr>
            </a:defPPr>
          </a:lstStyle>
          <a:p xmlns:a="http://schemas.openxmlformats.org/drawingml/2006/main">
            <a:pPr>
              <a:defRPr sz="1350" b="1">
                <a:solidFill>
                  <a:srgbClr val="6CD8C9"/>
                </a:solidFill>
                <a:latin typeface="Inter"/>
                <a:ea typeface="Inter"/>
                <a:cs typeface="Inter"/>
              </a:defRPr>
            </a:pPr>
            <a:r>
              <a:rPr sz="1350" b="1">
                <a:solidFill>
                  <a:srgbClr val="6CD8C9"/>
                </a:solidFill>
                <a:latin typeface="Inter"/>
                <a:ea typeface="Inter"/>
                <a:cs typeface="Inter"/>
              </a:rPr>
              <a:t>EVIDENCE TO DISCUSS</a:t>
            </a:r>
          </a:p>
        </p:txBody>
      </p:sp>
      <p:sp>
        <p:nvSpPr>
          <p:cNvPr id="14" name="evidence">
            <a:extLst xmlns:a="http://schemas.openxmlformats.org/drawingml/2006/main">
              <a:ext uri="{FF2B5EF4-FFF2-40B4-BE49-F238E27FC236}">
                <a16:creationId xmlns:a16="http://schemas.microsoft.com/office/drawing/2014/main" id="{FFC7D3FC-0991-4F54-87CB-9EEFFBB20427}"/>
              </a:ext>
            </a:extLst>
          </p:cNvPr>
          <p:cNvSpPr>
            <a:spLocks xmlns:a="http://schemas.openxmlformats.org/drawingml/2006/main" noGrp="1"/>
          </p:cNvSpPr>
          <p:nvPr/>
        </p:nvSpPr>
        <p:spPr>
          <a:xfrm xmlns:a="http://schemas.openxmlformats.org/drawingml/2006/main">
            <a:off x="6572250" y="5762625"/>
            <a:ext cx="493395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725" b="0">
                <a:solidFill>
                  <a:srgbClr val="D7E2DF"/>
                </a:solidFill>
                <a:latin typeface="Inter"/>
                <a:ea typeface="Inter"/>
                <a:cs typeface="Inter"/>
              </a:defRPr>
            </a:defPPr>
          </a:lstStyle>
          <a:p xmlns:a="http://schemas.openxmlformats.org/drawingml/2006/main">
            <a:pPr>
              <a:defRPr sz="1725" b="0">
                <a:solidFill>
                  <a:srgbClr val="D7E2DF"/>
                </a:solidFill>
                <a:latin typeface="Inter"/>
                <a:ea typeface="Inter"/>
                <a:cs typeface="Inter"/>
              </a:defRPr>
            </a:pPr>
            <a:r>
              <a:rPr sz="1725" b="0">
                <a:solidFill>
                  <a:srgbClr val="D7E2DF"/>
                </a:solidFill>
                <a:latin typeface="Inter"/>
                <a:ea typeface="Inter"/>
                <a:cs typeface="Inter"/>
              </a:rPr>
              <a:t>Device or tenant policy export</a:t>
            </a:r>
          </a:p>
          <a:p xmlns:a="http://schemas.openxmlformats.org/drawingml/2006/main">
            <a:pPr>
              <a:defRPr sz="1725" b="0">
                <a:solidFill>
                  <a:srgbClr val="D7E2DF"/>
                </a:solidFill>
                <a:latin typeface="Inter"/>
                <a:ea typeface="Inter"/>
                <a:cs typeface="Inter"/>
              </a:defRPr>
            </a:pPr>
            <a:r>
              <a:rPr sz="1725" b="0">
                <a:solidFill>
                  <a:srgbClr val="D7E2DF"/>
                </a:solidFill>
                <a:latin typeface="Inter"/>
                <a:ea typeface="Inter"/>
                <a:cs typeface="Inter"/>
              </a:rPr>
              <a:t>Configuration review record</a:t>
            </a:r>
          </a:p>
        </p:txBody>
      </p:sp>
    </p:spTree>
    <p:extLst>
      <p:ext uri="{BB962C8B-B14F-4D97-AF65-F5344CB8AC3E}">
        <p14:creationId xmlns:p14="http://schemas.microsoft.com/office/powerpoint/2010/main" val="2001983348"/>
      </p:ext>
    </p:extLst>
  </p:cSld>
</p:sld>
</file>

<file path=ppt/slides/slide8.xml><?xml version="1.0" encoding="utf-8"?>
<p:sld xmlns:p="http://schemas.openxmlformats.org/presentationml/2006/main">
  <p:cSld>
    <p:bg>
      <p:bgPr>
        <a:solidFill xmlns:a="http://schemas.openxmlformats.org/drawingml/2006/main">
          <a:srgbClr val="08100F"/>
        </a:solidFill>
      </p:bgPr>
    </p:bg>
    <p:spTree>
      <p:nvGrpSpPr>
        <p:cNvPr id="1" name=""/>
        <p:cNvGrpSpPr/>
        <p:nvPr/>
      </p:nvGrpSpPr>
      <p:grpSpPr>
        <a:xfrm xmlns:a="http://schemas.openxmlformats.org/drawingml/2006/main"/>
      </p:grpSpPr>
      <p:sp>
        <p:nvSpPr>
          <p:cNvPr id="15" name="brand">
            <a:extLst xmlns:a="http://schemas.openxmlformats.org/drawingml/2006/main">
              <a:ext uri="{FF2B5EF4-FFF2-40B4-BE49-F238E27FC236}">
                <a16:creationId xmlns:a16="http://schemas.microsoft.com/office/drawing/2014/main" id="{3A695DF3-866C-46F3-A8E9-9ED63A3B5EBA}"/>
              </a:ext>
            </a:extLst>
          </p:cNvPr>
          <p:cNvSpPr>
            <a:spLocks xmlns:a="http://schemas.openxmlformats.org/drawingml/2006/main" noGrp="1"/>
          </p:cNvSpPr>
          <p:nvPr/>
        </p:nvSpPr>
        <p:spPr>
          <a:xfrm xmlns:a="http://schemas.openxmlformats.org/drawingml/2006/main">
            <a:off x="685800" y="323850"/>
            <a:ext cx="2952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00" b="1">
                <a:solidFill>
                  <a:srgbClr val="F6FAF9"/>
                </a:solidFill>
                <a:latin typeface="Inter"/>
                <a:ea typeface="Inter"/>
                <a:cs typeface="Inter"/>
              </a:defRPr>
            </a:defPPr>
          </a:lstStyle>
          <a:p xmlns:a="http://schemas.openxmlformats.org/drawingml/2006/main">
            <a:pPr>
              <a:defRPr sz="1800" b="1">
                <a:solidFill>
                  <a:srgbClr val="F6FAF9"/>
                </a:solidFill>
                <a:latin typeface="Inter"/>
                <a:ea typeface="Inter"/>
                <a:cs typeface="Inter"/>
              </a:defRPr>
            </a:pPr>
            <a:r>
              <a:rPr sz="1800" b="1">
                <a:solidFill>
                  <a:srgbClr val="F6FAF9"/>
                </a:solidFill>
                <a:latin typeface="Inter"/>
                <a:ea typeface="Inter"/>
                <a:cs typeface="Inter"/>
              </a:rPr>
              <a:t>NO FRIES</a:t>
            </a:r>
          </a:p>
        </p:txBody>
      </p:sp>
      <p:sp>
        <p:nvSpPr>
          <p:cNvPr id="2" name="section">
            <a:extLst xmlns:a="http://schemas.openxmlformats.org/drawingml/2006/main">
              <a:ext uri="{FF2B5EF4-FFF2-40B4-BE49-F238E27FC236}">
                <a16:creationId xmlns:a16="http://schemas.microsoft.com/office/drawing/2014/main" id="{FCBE4DE4-CFBC-42B8-AC54-91A066790DD1}"/>
              </a:ext>
            </a:extLst>
          </p:cNvPr>
          <p:cNvSpPr>
            <a:spLocks xmlns:a="http://schemas.openxmlformats.org/drawingml/2006/main" noGrp="1"/>
          </p:cNvSpPr>
          <p:nvPr/>
        </p:nvSpPr>
        <p:spPr>
          <a:xfrm xmlns:a="http://schemas.openxmlformats.org/drawingml/2006/main">
            <a:off x="5524500" y="371475"/>
            <a:ext cx="59817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1">
                <a:solidFill>
                  <a:srgbClr val="6CD8C9"/>
                </a:solidFill>
                <a:latin typeface="Inter"/>
                <a:ea typeface="Inter"/>
                <a:cs typeface="Inter"/>
              </a:defRPr>
            </a:defPPr>
          </a:lstStyle>
          <a:p xmlns:a="http://schemas.openxmlformats.org/drawingml/2006/main">
            <a:pPr algn="r">
              <a:defRPr sz="1200" b="1">
                <a:solidFill>
                  <a:srgbClr val="6CD8C9"/>
                </a:solidFill>
                <a:latin typeface="Inter"/>
                <a:ea typeface="Inter"/>
                <a:cs typeface="Inter"/>
              </a:defRPr>
            </a:pPr>
            <a:r>
              <a:rPr sz="1200" b="1">
                <a:solidFill>
                  <a:srgbClr val="6CD8C9"/>
                </a:solidFill>
                <a:latin typeface="Inter"/>
                <a:ea typeface="Inter"/>
                <a:cs typeface="Inter"/>
              </a:rPr>
              <a:t>QUESTION 05 / 14</a:t>
            </a:r>
          </a:p>
        </p:txBody>
      </p:sp>
      <p:sp>
        <p:nvSpPr>
          <p:cNvPr id="3" name="page">
            <a:extLst xmlns:a="http://schemas.openxmlformats.org/drawingml/2006/main">
              <a:ext uri="{FF2B5EF4-FFF2-40B4-BE49-F238E27FC236}">
                <a16:creationId xmlns:a16="http://schemas.microsoft.com/office/drawing/2014/main" id="{CE5333F6-05AA-4DE2-AA9C-E033836B47FF}"/>
              </a:ext>
            </a:extLst>
          </p:cNvPr>
          <p:cNvSpPr>
            <a:spLocks xmlns:a="http://schemas.openxmlformats.org/drawingml/2006/main" noGrp="1"/>
          </p:cNvSpPr>
          <p:nvPr/>
        </p:nvSpPr>
        <p:spPr>
          <a:xfrm xmlns:a="http://schemas.openxmlformats.org/drawingml/2006/main">
            <a:off x="10934700" y="6429375"/>
            <a:ext cx="5715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A9BBB7"/>
                </a:solidFill>
                <a:latin typeface="Inter"/>
                <a:ea typeface="Inter"/>
                <a:cs typeface="Inter"/>
              </a:defRPr>
            </a:defPPr>
          </a:lstStyle>
          <a:p xmlns:a="http://schemas.openxmlformats.org/drawingml/2006/main">
            <a:pPr algn="r">
              <a:defRPr sz="1200" b="0">
                <a:solidFill>
                  <a:srgbClr val="A9BBB7"/>
                </a:solidFill>
                <a:latin typeface="Inter"/>
                <a:ea typeface="Inter"/>
                <a:cs typeface="Inter"/>
              </a:defRPr>
            </a:pPr>
            <a:r>
              <a:rPr sz="1200" b="0">
                <a:solidFill>
                  <a:srgbClr val="A9BBB7"/>
                </a:solidFill>
                <a:latin typeface="Inter"/>
                <a:ea typeface="Inter"/>
                <a:cs typeface="Inter"/>
              </a:rPr>
              <a:t>08</a:t>
            </a:r>
          </a:p>
        </p:txBody>
      </p:sp>
      <p:sp>
        <p:nvSpPr>
          <p:cNvPr id="4" name="question-id">
            <a:extLst xmlns:a="http://schemas.openxmlformats.org/drawingml/2006/main">
              <a:ext uri="{FF2B5EF4-FFF2-40B4-BE49-F238E27FC236}">
                <a16:creationId xmlns:a16="http://schemas.microsoft.com/office/drawing/2014/main" id="{30A08E7B-8291-47FB-AF15-AD12B18A710A}"/>
              </a:ext>
            </a:extLst>
          </p:cNvPr>
          <p:cNvSpPr>
            <a:spLocks xmlns:a="http://schemas.openxmlformats.org/drawingml/2006/main" noGrp="1"/>
          </p:cNvSpPr>
          <p:nvPr/>
        </p:nvSpPr>
        <p:spPr>
          <a:xfrm xmlns:a="http://schemas.openxmlformats.org/drawingml/2006/main">
            <a:off x="685800" y="828675"/>
            <a:ext cx="52387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00" b="0">
                <a:solidFill>
                  <a:srgbClr val="A9BBB7"/>
                </a:solidFill>
                <a:latin typeface="Inter"/>
                <a:ea typeface="Inter"/>
                <a:cs typeface="Inter"/>
              </a:defRPr>
            </a:defPPr>
          </a:lstStyle>
          <a:p xmlns:a="http://schemas.openxmlformats.org/drawingml/2006/main">
            <a:pPr>
              <a:defRPr sz="1200" b="0">
                <a:solidFill>
                  <a:srgbClr val="A9BBB7"/>
                </a:solidFill>
                <a:latin typeface="Inter"/>
                <a:ea typeface="Inter"/>
                <a:cs typeface="Inter"/>
              </a:defRPr>
            </a:pPr>
            <a:r>
              <a:rPr sz="1200" b="0">
                <a:solidFill>
                  <a:srgbClr val="A9BBB7"/>
                </a:solidFill>
                <a:latin typeface="Inter"/>
                <a:ea typeface="Inter"/>
                <a:cs typeface="Inter"/>
              </a:rPr>
              <a:t>NF-NCSC-MCSS-PA-01-Q1</a:t>
            </a:r>
          </a:p>
        </p:txBody>
      </p:sp>
      <p:sp>
        <p:nvSpPr>
          <p:cNvPr id="5" name="function">
            <a:extLst xmlns:a="http://schemas.openxmlformats.org/drawingml/2006/main">
              <a:ext uri="{FF2B5EF4-FFF2-40B4-BE49-F238E27FC236}">
                <a16:creationId xmlns:a16="http://schemas.microsoft.com/office/drawing/2014/main" id="{688A1AF4-DEC0-4A41-913B-0ACA8769F047}"/>
              </a:ext>
            </a:extLst>
          </p:cNvPr>
          <p:cNvSpPr>
            <a:spLocks xmlns:a="http://schemas.openxmlformats.org/drawingml/2006/main" noGrp="1"/>
          </p:cNvSpPr>
          <p:nvPr/>
        </p:nvSpPr>
        <p:spPr>
          <a:xfrm xmlns:a="http://schemas.openxmlformats.org/drawingml/2006/main">
            <a:off x="6524625" y="828675"/>
            <a:ext cx="4981575"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1">
                <a:solidFill>
                  <a:srgbClr val="6CD8C9"/>
                </a:solidFill>
                <a:latin typeface="Inter"/>
                <a:ea typeface="Inter"/>
                <a:cs typeface="Inter"/>
              </a:defRPr>
            </a:defPPr>
          </a:lstStyle>
          <a:p xmlns:a="http://schemas.openxmlformats.org/drawingml/2006/main">
            <a:pPr algn="r">
              <a:defRPr sz="1275" b="1">
                <a:solidFill>
                  <a:srgbClr val="6CD8C9"/>
                </a:solidFill>
                <a:latin typeface="Inter"/>
                <a:ea typeface="Inter"/>
                <a:cs typeface="Inter"/>
              </a:defRPr>
            </a:pPr>
            <a:r>
              <a:rPr sz="1275" b="1">
                <a:solidFill>
                  <a:srgbClr val="6CD8C9"/>
                </a:solidFill>
                <a:latin typeface="Inter"/>
                <a:ea typeface="Inter"/>
                <a:cs typeface="Inter"/>
              </a:rPr>
              <a:t>Prevent and Protect</a:t>
            </a:r>
          </a:p>
        </p:txBody>
      </p:sp>
      <p:sp>
        <p:nvSpPr>
          <p:cNvPr id="6" name="question-prompt">
            <a:extLst xmlns:a="http://schemas.openxmlformats.org/drawingml/2006/main">
              <a:ext uri="{FF2B5EF4-FFF2-40B4-BE49-F238E27FC236}">
                <a16:creationId xmlns:a16="http://schemas.microsoft.com/office/drawing/2014/main" id="{E7E2B5C0-22AD-40B2-B906-20DC6B771EA4}"/>
              </a:ext>
            </a:extLst>
          </p:cNvPr>
          <p:cNvSpPr>
            <a:spLocks xmlns:a="http://schemas.openxmlformats.org/drawingml/2006/main" noGrp="1"/>
          </p:cNvSpPr>
          <p:nvPr/>
        </p:nvSpPr>
        <p:spPr>
          <a:xfrm xmlns:a="http://schemas.openxmlformats.org/drawingml/2006/main">
            <a:off x="685800" y="1285875"/>
            <a:ext cx="10820400" cy="1390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000" b="1">
                <a:solidFill>
                  <a:srgbClr val="F6FAF9"/>
                </a:solidFill>
                <a:latin typeface="Inter"/>
                <a:ea typeface="Inter"/>
                <a:cs typeface="Inter"/>
              </a:defRPr>
            </a:defPPr>
          </a:lstStyle>
          <a:p xmlns:a="http://schemas.openxmlformats.org/drawingml/2006/main">
            <a:pPr>
              <a:defRPr sz="3000" b="1">
                <a:solidFill>
                  <a:srgbClr val="F6FAF9"/>
                </a:solidFill>
                <a:latin typeface="Inter"/>
                <a:ea typeface="Inter"/>
                <a:cs typeface="Inter"/>
              </a:defRPr>
            </a:pPr>
            <a:r>
              <a:rPr sz="3000" b="1">
                <a:solidFill>
                  <a:srgbClr val="F6FAF9"/>
                </a:solidFill>
                <a:latin typeface="Inter"/>
                <a:ea typeface="Inter"/>
                <a:cs typeface="Inter"/>
              </a:rPr>
              <a:t>Are patches prioritised, sourced, tested, deployed and verified through a repeatable process that includes rollback and retirement?</a:t>
            </a:r>
          </a:p>
        </p:txBody>
      </p:sp>
      <p:sp>
        <p:nvSpPr>
          <p:cNvPr id="7" name="meaning-label">
            <a:extLst xmlns:a="http://schemas.openxmlformats.org/drawingml/2006/main">
              <a:ext uri="{FF2B5EF4-FFF2-40B4-BE49-F238E27FC236}">
                <a16:creationId xmlns:a16="http://schemas.microsoft.com/office/drawing/2014/main" id="{BFA4F10C-02BA-4591-9451-04C058715013}"/>
              </a:ext>
            </a:extLst>
          </p:cNvPr>
          <p:cNvSpPr>
            <a:spLocks xmlns:a="http://schemas.openxmlformats.org/drawingml/2006/main" noGrp="1"/>
          </p:cNvSpPr>
          <p:nvPr/>
        </p:nvSpPr>
        <p:spPr>
          <a:xfrm xmlns:a="http://schemas.openxmlformats.org/drawingml/2006/main">
            <a:off x="685800" y="2990850"/>
            <a:ext cx="50101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350" b="1">
                <a:solidFill>
                  <a:srgbClr val="6CD8C9"/>
                </a:solidFill>
                <a:latin typeface="Inter"/>
                <a:ea typeface="Inter"/>
                <a:cs typeface="Inter"/>
              </a:defRPr>
            </a:defPPr>
          </a:lstStyle>
          <a:p xmlns:a="http://schemas.openxmlformats.org/drawingml/2006/main">
            <a:pPr>
              <a:defRPr sz="1350" b="1">
                <a:solidFill>
                  <a:srgbClr val="6CD8C9"/>
                </a:solidFill>
                <a:latin typeface="Inter"/>
                <a:ea typeface="Inter"/>
                <a:cs typeface="Inter"/>
              </a:defRPr>
            </a:pPr>
            <a:r>
              <a:rPr sz="1350" b="1">
                <a:solidFill>
                  <a:srgbClr val="6CD8C9"/>
                </a:solidFill>
                <a:latin typeface="Inter"/>
                <a:ea typeface="Inter"/>
                <a:cs typeface="Inter"/>
              </a:rPr>
              <a:t>WHAT THIS MEANS</a:t>
            </a:r>
          </a:p>
        </p:txBody>
      </p:sp>
      <p:sp>
        <p:nvSpPr>
          <p:cNvPr id="8" name="meaning">
            <a:extLst xmlns:a="http://schemas.openxmlformats.org/drawingml/2006/main">
              <a:ext uri="{FF2B5EF4-FFF2-40B4-BE49-F238E27FC236}">
                <a16:creationId xmlns:a16="http://schemas.microsoft.com/office/drawing/2014/main" id="{C787F49C-2E23-4131-A58D-AEBF83E0C9E4}"/>
              </a:ext>
            </a:extLst>
          </p:cNvPr>
          <p:cNvSpPr>
            <a:spLocks xmlns:a="http://schemas.openxmlformats.org/drawingml/2006/main" noGrp="1"/>
          </p:cNvSpPr>
          <p:nvPr/>
        </p:nvSpPr>
        <p:spPr>
          <a:xfrm xmlns:a="http://schemas.openxmlformats.org/drawingml/2006/main">
            <a:off x="685800" y="3343275"/>
            <a:ext cx="5010150" cy="1228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950" b="0">
                <a:solidFill>
                  <a:srgbClr val="D7E2DF"/>
                </a:solidFill>
                <a:latin typeface="Inter"/>
                <a:ea typeface="Inter"/>
                <a:cs typeface="Inter"/>
              </a:defRPr>
            </a:defPPr>
          </a:lstStyle>
          <a:p xmlns:a="http://schemas.openxmlformats.org/drawingml/2006/main">
            <a:pPr>
              <a:defRPr sz="1950" b="0">
                <a:solidFill>
                  <a:srgbClr val="D7E2DF"/>
                </a:solidFill>
                <a:latin typeface="Inter"/>
                <a:ea typeface="Inter"/>
                <a:cs typeface="Inter"/>
              </a:defRPr>
            </a:pPr>
            <a:r>
              <a:rPr sz="1950" b="0">
                <a:solidFill>
                  <a:srgbClr val="D7E2DF"/>
                </a:solidFill>
                <a:latin typeface="Inter"/>
                <a:ea typeface="Inter"/>
                <a:cs typeface="Inter"/>
              </a:rPr>
              <a:t>Patches follow a repeatable process, with priorities, checks, a way to undo problems and a plan for unsupported systems.</a:t>
            </a:r>
          </a:p>
        </p:txBody>
      </p:sp>
      <p:sp>
        <p:nvSpPr>
          <p:cNvPr id="9" name="why-label">
            <a:extLst xmlns:a="http://schemas.openxmlformats.org/drawingml/2006/main">
              <a:ext uri="{FF2B5EF4-FFF2-40B4-BE49-F238E27FC236}">
                <a16:creationId xmlns:a16="http://schemas.microsoft.com/office/drawing/2014/main" id="{BA989878-BF28-4E99-82D4-431DD98A187A}"/>
              </a:ext>
            </a:extLst>
          </p:cNvPr>
          <p:cNvSpPr>
            <a:spLocks xmlns:a="http://schemas.openxmlformats.org/drawingml/2006/main" noGrp="1"/>
          </p:cNvSpPr>
          <p:nvPr/>
        </p:nvSpPr>
        <p:spPr>
          <a:xfrm xmlns:a="http://schemas.openxmlformats.org/drawingml/2006/main">
            <a:off x="685800" y="4714875"/>
            <a:ext cx="50101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350" b="1">
                <a:solidFill>
                  <a:srgbClr val="6CD8C9"/>
                </a:solidFill>
                <a:latin typeface="Inter"/>
                <a:ea typeface="Inter"/>
                <a:cs typeface="Inter"/>
              </a:defRPr>
            </a:defPPr>
          </a:lstStyle>
          <a:p xmlns:a="http://schemas.openxmlformats.org/drawingml/2006/main">
            <a:pPr>
              <a:defRPr sz="1350" b="1">
                <a:solidFill>
                  <a:srgbClr val="6CD8C9"/>
                </a:solidFill>
                <a:latin typeface="Inter"/>
                <a:ea typeface="Inter"/>
                <a:cs typeface="Inter"/>
              </a:defRPr>
            </a:pPr>
            <a:r>
              <a:rPr sz="1350" b="1">
                <a:solidFill>
                  <a:srgbClr val="6CD8C9"/>
                </a:solidFill>
                <a:latin typeface="Inter"/>
                <a:ea typeface="Inter"/>
                <a:cs typeface="Inter"/>
              </a:rPr>
              <a:t>WHY IT MATTERS</a:t>
            </a:r>
          </a:p>
        </p:txBody>
      </p:sp>
      <p:sp>
        <p:nvSpPr>
          <p:cNvPr id="10" name="why">
            <a:extLst xmlns:a="http://schemas.openxmlformats.org/drawingml/2006/main">
              <a:ext uri="{FF2B5EF4-FFF2-40B4-BE49-F238E27FC236}">
                <a16:creationId xmlns:a16="http://schemas.microsoft.com/office/drawing/2014/main" id="{3D5261BF-388A-4D44-91BD-EAF89D503AB3}"/>
              </a:ext>
            </a:extLst>
          </p:cNvPr>
          <p:cNvSpPr>
            <a:spLocks xmlns:a="http://schemas.openxmlformats.org/drawingml/2006/main" noGrp="1"/>
          </p:cNvSpPr>
          <p:nvPr/>
        </p:nvSpPr>
        <p:spPr>
          <a:xfrm xmlns:a="http://schemas.openxmlformats.org/drawingml/2006/main">
            <a:off x="685800" y="5067300"/>
            <a:ext cx="50101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00" b="0">
                <a:solidFill>
                  <a:srgbClr val="D7E2DF"/>
                </a:solidFill>
                <a:latin typeface="Inter"/>
                <a:ea typeface="Inter"/>
                <a:cs typeface="Inter"/>
              </a:defRPr>
            </a:defPPr>
          </a:lstStyle>
          <a:p xmlns:a="http://schemas.openxmlformats.org/drawingml/2006/main">
            <a:pPr>
              <a:defRPr sz="1800" b="0">
                <a:solidFill>
                  <a:srgbClr val="D7E2DF"/>
                </a:solidFill>
                <a:latin typeface="Inter"/>
                <a:ea typeface="Inter"/>
                <a:cs typeface="Inter"/>
              </a:defRPr>
            </a:pPr>
            <a:r>
              <a:rPr sz="1800" b="0">
                <a:solidFill>
                  <a:srgbClr val="D7E2DF"/>
                </a:solidFill>
                <a:latin typeface="Inter"/>
                <a:ea typeface="Inter"/>
                <a:cs typeface="Inter"/>
              </a:rPr>
              <a:t>A patch needs to reach the right systems and work after installation.</a:t>
            </a:r>
          </a:p>
        </p:txBody>
      </p:sp>
      <p:sp>
        <p:nvSpPr>
          <p:cNvPr id="11" name="example-label">
            <a:extLst xmlns:a="http://schemas.openxmlformats.org/drawingml/2006/main">
              <a:ext uri="{FF2B5EF4-FFF2-40B4-BE49-F238E27FC236}">
                <a16:creationId xmlns:a16="http://schemas.microsoft.com/office/drawing/2014/main" id="{F9807A51-4DBB-4C55-B465-FCBC7A27863F}"/>
              </a:ext>
            </a:extLst>
          </p:cNvPr>
          <p:cNvSpPr>
            <a:spLocks xmlns:a="http://schemas.openxmlformats.org/drawingml/2006/main" noGrp="1"/>
          </p:cNvSpPr>
          <p:nvPr/>
        </p:nvSpPr>
        <p:spPr>
          <a:xfrm xmlns:a="http://schemas.openxmlformats.org/drawingml/2006/main">
            <a:off x="6572250" y="2990850"/>
            <a:ext cx="4933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350" b="1">
                <a:solidFill>
                  <a:srgbClr val="6CD8C9"/>
                </a:solidFill>
                <a:latin typeface="Inter"/>
                <a:ea typeface="Inter"/>
                <a:cs typeface="Inter"/>
              </a:defRPr>
            </a:defPPr>
          </a:lstStyle>
          <a:p xmlns:a="http://schemas.openxmlformats.org/drawingml/2006/main">
            <a:pPr>
              <a:defRPr sz="1350" b="1">
                <a:solidFill>
                  <a:srgbClr val="6CD8C9"/>
                </a:solidFill>
                <a:latin typeface="Inter"/>
                <a:ea typeface="Inter"/>
                <a:cs typeface="Inter"/>
              </a:defRPr>
            </a:pPr>
            <a:r>
              <a:rPr sz="1350" b="1">
                <a:solidFill>
                  <a:srgbClr val="6CD8C9"/>
                </a:solidFill>
                <a:latin typeface="Inter"/>
                <a:ea typeface="Inter"/>
                <a:cs typeface="Inter"/>
              </a:rPr>
              <a:t>EXAMPLE ANSWER: PARTIAL</a:t>
            </a:r>
          </a:p>
        </p:txBody>
      </p:sp>
      <p:sp>
        <p:nvSpPr>
          <p:cNvPr id="12" name="example">
            <a:extLst xmlns:a="http://schemas.openxmlformats.org/drawingml/2006/main">
              <a:ext uri="{FF2B5EF4-FFF2-40B4-BE49-F238E27FC236}">
                <a16:creationId xmlns:a16="http://schemas.microsoft.com/office/drawing/2014/main" id="{FFB82528-90EE-4B4D-BFC1-DDE3659588F5}"/>
              </a:ext>
            </a:extLst>
          </p:cNvPr>
          <p:cNvSpPr>
            <a:spLocks xmlns:a="http://schemas.openxmlformats.org/drawingml/2006/main" noGrp="1"/>
          </p:cNvSpPr>
          <p:nvPr/>
        </p:nvSpPr>
        <p:spPr>
          <a:xfrm xmlns:a="http://schemas.openxmlformats.org/drawingml/2006/main">
            <a:off x="6572250" y="3343275"/>
            <a:ext cx="4933950" cy="1943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00" b="0">
                <a:solidFill>
                  <a:srgbClr val="F6FAF9"/>
                </a:solidFill>
                <a:latin typeface="Inter"/>
                <a:ea typeface="Inter"/>
                <a:cs typeface="Inter"/>
              </a:defRPr>
            </a:defPPr>
          </a:lstStyle>
          <a:p xmlns:a="http://schemas.openxmlformats.org/drawingml/2006/main">
            <a:pPr>
              <a:defRPr sz="2100" b="0">
                <a:solidFill>
                  <a:srgbClr val="F6FAF9"/>
                </a:solidFill>
                <a:latin typeface="Inter"/>
                <a:ea typeface="Inter"/>
                <a:cs typeface="Inter"/>
              </a:defRPr>
            </a:pPr>
            <a:r>
              <a:rPr sz="2100" b="0">
                <a:solidFill>
                  <a:srgbClr val="F6FAF9"/>
                </a:solidFill>
                <a:latin typeface="Inter"/>
                <a:ea typeface="Inter"/>
                <a:cs typeface="Inter"/>
              </a:rPr>
              <a:t>“Laptops update automatically. We don’t yet verify third-party applications, firmware or overdue exceptions.”</a:t>
            </a:r>
          </a:p>
        </p:txBody>
      </p:sp>
      <p:sp>
        <p:nvSpPr>
          <p:cNvPr id="13" name="evidence-label">
            <a:extLst xmlns:a="http://schemas.openxmlformats.org/drawingml/2006/main">
              <a:ext uri="{FF2B5EF4-FFF2-40B4-BE49-F238E27FC236}">
                <a16:creationId xmlns:a16="http://schemas.microsoft.com/office/drawing/2014/main" id="{119AFD3E-680E-43D4-8B0A-260264C8D7E4}"/>
              </a:ext>
            </a:extLst>
          </p:cNvPr>
          <p:cNvSpPr>
            <a:spLocks xmlns:a="http://schemas.openxmlformats.org/drawingml/2006/main" noGrp="1"/>
          </p:cNvSpPr>
          <p:nvPr/>
        </p:nvSpPr>
        <p:spPr>
          <a:xfrm xmlns:a="http://schemas.openxmlformats.org/drawingml/2006/main">
            <a:off x="6572250" y="5410200"/>
            <a:ext cx="4933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350" b="1">
                <a:solidFill>
                  <a:srgbClr val="6CD8C9"/>
                </a:solidFill>
                <a:latin typeface="Inter"/>
                <a:ea typeface="Inter"/>
                <a:cs typeface="Inter"/>
              </a:defRPr>
            </a:defPPr>
          </a:lstStyle>
          <a:p xmlns:a="http://schemas.openxmlformats.org/drawingml/2006/main">
            <a:pPr>
              <a:defRPr sz="1350" b="1">
                <a:solidFill>
                  <a:srgbClr val="6CD8C9"/>
                </a:solidFill>
                <a:latin typeface="Inter"/>
                <a:ea typeface="Inter"/>
                <a:cs typeface="Inter"/>
              </a:defRPr>
            </a:pPr>
            <a:r>
              <a:rPr sz="1350" b="1">
                <a:solidFill>
                  <a:srgbClr val="6CD8C9"/>
                </a:solidFill>
                <a:latin typeface="Inter"/>
                <a:ea typeface="Inter"/>
                <a:cs typeface="Inter"/>
              </a:rPr>
              <a:t>EVIDENCE TO DISCUSS</a:t>
            </a:r>
          </a:p>
        </p:txBody>
      </p:sp>
      <p:sp>
        <p:nvSpPr>
          <p:cNvPr id="14" name="evidence">
            <a:extLst xmlns:a="http://schemas.openxmlformats.org/drawingml/2006/main">
              <a:ext uri="{FF2B5EF4-FFF2-40B4-BE49-F238E27FC236}">
                <a16:creationId xmlns:a16="http://schemas.microsoft.com/office/drawing/2014/main" id="{CCB19D70-246F-4263-9FCC-2DA1A654130D}"/>
              </a:ext>
            </a:extLst>
          </p:cNvPr>
          <p:cNvSpPr>
            <a:spLocks xmlns:a="http://schemas.openxmlformats.org/drawingml/2006/main" noGrp="1"/>
          </p:cNvSpPr>
          <p:nvPr/>
        </p:nvSpPr>
        <p:spPr>
          <a:xfrm xmlns:a="http://schemas.openxmlformats.org/drawingml/2006/main">
            <a:off x="6572250" y="5762625"/>
            <a:ext cx="493395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725" b="0">
                <a:solidFill>
                  <a:srgbClr val="D7E2DF"/>
                </a:solidFill>
                <a:latin typeface="Inter"/>
                <a:ea typeface="Inter"/>
                <a:cs typeface="Inter"/>
              </a:defRPr>
            </a:defPPr>
          </a:lstStyle>
          <a:p xmlns:a="http://schemas.openxmlformats.org/drawingml/2006/main">
            <a:pPr>
              <a:defRPr sz="1725" b="0">
                <a:solidFill>
                  <a:srgbClr val="D7E2DF"/>
                </a:solidFill>
                <a:latin typeface="Inter"/>
                <a:ea typeface="Inter"/>
                <a:cs typeface="Inter"/>
              </a:defRPr>
            </a:pPr>
            <a:r>
              <a:rPr sz="1725" b="0">
                <a:solidFill>
                  <a:srgbClr val="D7E2DF"/>
                </a:solidFill>
                <a:latin typeface="Inter"/>
                <a:ea typeface="Inter"/>
                <a:cs typeface="Inter"/>
              </a:rPr>
              <a:t>Patch compliance export</a:t>
            </a:r>
          </a:p>
          <a:p xmlns:a="http://schemas.openxmlformats.org/drawingml/2006/main">
            <a:pPr>
              <a:defRPr sz="1725" b="0">
                <a:solidFill>
                  <a:srgbClr val="D7E2DF"/>
                </a:solidFill>
                <a:latin typeface="Inter"/>
                <a:ea typeface="Inter"/>
                <a:cs typeface="Inter"/>
              </a:defRPr>
            </a:pPr>
            <a:r>
              <a:rPr sz="1725" b="0">
                <a:solidFill>
                  <a:srgbClr val="D7E2DF"/>
                </a:solidFill>
                <a:latin typeface="Inter"/>
                <a:ea typeface="Inter"/>
                <a:cs typeface="Inter"/>
              </a:rPr>
              <a:t>Exception register</a:t>
            </a:r>
          </a:p>
        </p:txBody>
      </p:sp>
    </p:spTree>
    <p:extLst>
      <p:ext uri="{BB962C8B-B14F-4D97-AF65-F5344CB8AC3E}">
        <p14:creationId xmlns:p14="http://schemas.microsoft.com/office/powerpoint/2010/main" val="1060643674"/>
      </p:ext>
    </p:extLst>
  </p:cSld>
</p:sld>
</file>

<file path=ppt/slides/slide9.xml><?xml version="1.0" encoding="utf-8"?>
<p:sld xmlns:p="http://schemas.openxmlformats.org/presentationml/2006/main">
  <p:cSld>
    <p:bg>
      <p:bgPr>
        <a:solidFill xmlns:a="http://schemas.openxmlformats.org/drawingml/2006/main">
          <a:srgbClr val="08100F"/>
        </a:solidFill>
      </p:bgPr>
    </p:bg>
    <p:spTree>
      <p:nvGrpSpPr>
        <p:cNvPr id="1" name=""/>
        <p:cNvGrpSpPr/>
        <p:nvPr/>
      </p:nvGrpSpPr>
      <p:grpSpPr>
        <a:xfrm xmlns:a="http://schemas.openxmlformats.org/drawingml/2006/main"/>
      </p:grpSpPr>
      <p:sp>
        <p:nvSpPr>
          <p:cNvPr id="15" name="brand">
            <a:extLst xmlns:a="http://schemas.openxmlformats.org/drawingml/2006/main">
              <a:ext uri="{FF2B5EF4-FFF2-40B4-BE49-F238E27FC236}">
                <a16:creationId xmlns:a16="http://schemas.microsoft.com/office/drawing/2014/main" id="{02F58F51-5022-4F74-99E1-288C43815D89}"/>
              </a:ext>
            </a:extLst>
          </p:cNvPr>
          <p:cNvSpPr>
            <a:spLocks xmlns:a="http://schemas.openxmlformats.org/drawingml/2006/main" noGrp="1"/>
          </p:cNvSpPr>
          <p:nvPr/>
        </p:nvSpPr>
        <p:spPr>
          <a:xfrm xmlns:a="http://schemas.openxmlformats.org/drawingml/2006/main">
            <a:off x="685800" y="323850"/>
            <a:ext cx="2952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00" b="1">
                <a:solidFill>
                  <a:srgbClr val="F6FAF9"/>
                </a:solidFill>
                <a:latin typeface="Inter"/>
                <a:ea typeface="Inter"/>
                <a:cs typeface="Inter"/>
              </a:defRPr>
            </a:defPPr>
          </a:lstStyle>
          <a:p xmlns:a="http://schemas.openxmlformats.org/drawingml/2006/main">
            <a:pPr>
              <a:defRPr sz="1800" b="1">
                <a:solidFill>
                  <a:srgbClr val="F6FAF9"/>
                </a:solidFill>
                <a:latin typeface="Inter"/>
                <a:ea typeface="Inter"/>
                <a:cs typeface="Inter"/>
              </a:defRPr>
            </a:pPr>
            <a:r>
              <a:rPr sz="1800" b="1">
                <a:solidFill>
                  <a:srgbClr val="F6FAF9"/>
                </a:solidFill>
                <a:latin typeface="Inter"/>
                <a:ea typeface="Inter"/>
                <a:cs typeface="Inter"/>
              </a:rPr>
              <a:t>NO FRIES</a:t>
            </a:r>
          </a:p>
        </p:txBody>
      </p:sp>
      <p:sp>
        <p:nvSpPr>
          <p:cNvPr id="2" name="section">
            <a:extLst xmlns:a="http://schemas.openxmlformats.org/drawingml/2006/main">
              <a:ext uri="{FF2B5EF4-FFF2-40B4-BE49-F238E27FC236}">
                <a16:creationId xmlns:a16="http://schemas.microsoft.com/office/drawing/2014/main" id="{F94802B7-1D61-4822-9D24-7D23BB275D88}"/>
              </a:ext>
            </a:extLst>
          </p:cNvPr>
          <p:cNvSpPr>
            <a:spLocks xmlns:a="http://schemas.openxmlformats.org/drawingml/2006/main" noGrp="1"/>
          </p:cNvSpPr>
          <p:nvPr/>
        </p:nvSpPr>
        <p:spPr>
          <a:xfrm xmlns:a="http://schemas.openxmlformats.org/drawingml/2006/main">
            <a:off x="5524500" y="371475"/>
            <a:ext cx="59817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1">
                <a:solidFill>
                  <a:srgbClr val="6CD8C9"/>
                </a:solidFill>
                <a:latin typeface="Inter"/>
                <a:ea typeface="Inter"/>
                <a:cs typeface="Inter"/>
              </a:defRPr>
            </a:defPPr>
          </a:lstStyle>
          <a:p xmlns:a="http://schemas.openxmlformats.org/drawingml/2006/main">
            <a:pPr algn="r">
              <a:defRPr sz="1200" b="1">
                <a:solidFill>
                  <a:srgbClr val="6CD8C9"/>
                </a:solidFill>
                <a:latin typeface="Inter"/>
                <a:ea typeface="Inter"/>
                <a:cs typeface="Inter"/>
              </a:defRPr>
            </a:pPr>
            <a:r>
              <a:rPr sz="1200" b="1">
                <a:solidFill>
                  <a:srgbClr val="6CD8C9"/>
                </a:solidFill>
                <a:latin typeface="Inter"/>
                <a:ea typeface="Inter"/>
                <a:cs typeface="Inter"/>
              </a:rPr>
              <a:t>QUESTION 06 / 14</a:t>
            </a:r>
          </a:p>
        </p:txBody>
      </p:sp>
      <p:sp>
        <p:nvSpPr>
          <p:cNvPr id="3" name="page">
            <a:extLst xmlns:a="http://schemas.openxmlformats.org/drawingml/2006/main">
              <a:ext uri="{FF2B5EF4-FFF2-40B4-BE49-F238E27FC236}">
                <a16:creationId xmlns:a16="http://schemas.microsoft.com/office/drawing/2014/main" id="{C42BB23D-2777-463B-AE36-40206EC487DF}"/>
              </a:ext>
            </a:extLst>
          </p:cNvPr>
          <p:cNvSpPr>
            <a:spLocks xmlns:a="http://schemas.openxmlformats.org/drawingml/2006/main" noGrp="1"/>
          </p:cNvSpPr>
          <p:nvPr/>
        </p:nvSpPr>
        <p:spPr>
          <a:xfrm xmlns:a="http://schemas.openxmlformats.org/drawingml/2006/main">
            <a:off x="10934700" y="6429375"/>
            <a:ext cx="5715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A9BBB7"/>
                </a:solidFill>
                <a:latin typeface="Inter"/>
                <a:ea typeface="Inter"/>
                <a:cs typeface="Inter"/>
              </a:defRPr>
            </a:defPPr>
          </a:lstStyle>
          <a:p xmlns:a="http://schemas.openxmlformats.org/drawingml/2006/main">
            <a:pPr algn="r">
              <a:defRPr sz="1200" b="0">
                <a:solidFill>
                  <a:srgbClr val="A9BBB7"/>
                </a:solidFill>
                <a:latin typeface="Inter"/>
                <a:ea typeface="Inter"/>
                <a:cs typeface="Inter"/>
              </a:defRPr>
            </a:pPr>
            <a:r>
              <a:rPr sz="1200" b="0">
                <a:solidFill>
                  <a:srgbClr val="A9BBB7"/>
                </a:solidFill>
                <a:latin typeface="Inter"/>
                <a:ea typeface="Inter"/>
                <a:cs typeface="Inter"/>
              </a:rPr>
              <a:t>09</a:t>
            </a:r>
          </a:p>
        </p:txBody>
      </p:sp>
      <p:sp>
        <p:nvSpPr>
          <p:cNvPr id="4" name="question-id">
            <a:extLst xmlns:a="http://schemas.openxmlformats.org/drawingml/2006/main">
              <a:ext uri="{FF2B5EF4-FFF2-40B4-BE49-F238E27FC236}">
                <a16:creationId xmlns:a16="http://schemas.microsoft.com/office/drawing/2014/main" id="{9CFF6820-1B3F-4CE2-B91D-6C42FA624B80}"/>
              </a:ext>
            </a:extLst>
          </p:cNvPr>
          <p:cNvSpPr>
            <a:spLocks xmlns:a="http://schemas.openxmlformats.org/drawingml/2006/main" noGrp="1"/>
          </p:cNvSpPr>
          <p:nvPr/>
        </p:nvSpPr>
        <p:spPr>
          <a:xfrm xmlns:a="http://schemas.openxmlformats.org/drawingml/2006/main">
            <a:off x="685800" y="828675"/>
            <a:ext cx="52387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00" b="0">
                <a:solidFill>
                  <a:srgbClr val="A9BBB7"/>
                </a:solidFill>
                <a:latin typeface="Inter"/>
                <a:ea typeface="Inter"/>
                <a:cs typeface="Inter"/>
              </a:defRPr>
            </a:defPPr>
          </a:lstStyle>
          <a:p xmlns:a="http://schemas.openxmlformats.org/drawingml/2006/main">
            <a:pPr>
              <a:defRPr sz="1200" b="0">
                <a:solidFill>
                  <a:srgbClr val="A9BBB7"/>
                </a:solidFill>
                <a:latin typeface="Inter"/>
                <a:ea typeface="Inter"/>
                <a:cs typeface="Inter"/>
              </a:defRPr>
            </a:pPr>
            <a:r>
              <a:rPr sz="1200" b="0">
                <a:solidFill>
                  <a:srgbClr val="A9BBB7"/>
                </a:solidFill>
                <a:latin typeface="Inter"/>
                <a:ea typeface="Inter"/>
                <a:cs typeface="Inter"/>
              </a:rPr>
              <a:t>NF-NCSC-MCSS-MF-01-Q1</a:t>
            </a:r>
          </a:p>
        </p:txBody>
      </p:sp>
      <p:sp>
        <p:nvSpPr>
          <p:cNvPr id="5" name="function">
            <a:extLst xmlns:a="http://schemas.openxmlformats.org/drawingml/2006/main">
              <a:ext uri="{FF2B5EF4-FFF2-40B4-BE49-F238E27FC236}">
                <a16:creationId xmlns:a16="http://schemas.microsoft.com/office/drawing/2014/main" id="{0786BDC9-69CB-49E4-B736-54608B412371}"/>
              </a:ext>
            </a:extLst>
          </p:cNvPr>
          <p:cNvSpPr>
            <a:spLocks xmlns:a="http://schemas.openxmlformats.org/drawingml/2006/main" noGrp="1"/>
          </p:cNvSpPr>
          <p:nvPr/>
        </p:nvSpPr>
        <p:spPr>
          <a:xfrm xmlns:a="http://schemas.openxmlformats.org/drawingml/2006/main">
            <a:off x="6524625" y="828675"/>
            <a:ext cx="4981575"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1">
                <a:solidFill>
                  <a:srgbClr val="6CD8C9"/>
                </a:solidFill>
                <a:latin typeface="Inter"/>
                <a:ea typeface="Inter"/>
                <a:cs typeface="Inter"/>
              </a:defRPr>
            </a:defPPr>
          </a:lstStyle>
          <a:p xmlns:a="http://schemas.openxmlformats.org/drawingml/2006/main">
            <a:pPr algn="r">
              <a:defRPr sz="1275" b="1">
                <a:solidFill>
                  <a:srgbClr val="6CD8C9"/>
                </a:solidFill>
                <a:latin typeface="Inter"/>
                <a:ea typeface="Inter"/>
                <a:cs typeface="Inter"/>
              </a:defRPr>
            </a:pPr>
            <a:r>
              <a:rPr sz="1275" b="1">
                <a:solidFill>
                  <a:srgbClr val="6CD8C9"/>
                </a:solidFill>
                <a:latin typeface="Inter"/>
                <a:ea typeface="Inter"/>
                <a:cs typeface="Inter"/>
              </a:rPr>
              <a:t>Prevent and Protect</a:t>
            </a:r>
          </a:p>
        </p:txBody>
      </p:sp>
      <p:sp>
        <p:nvSpPr>
          <p:cNvPr id="6" name="question-prompt">
            <a:extLst xmlns:a="http://schemas.openxmlformats.org/drawingml/2006/main">
              <a:ext uri="{FF2B5EF4-FFF2-40B4-BE49-F238E27FC236}">
                <a16:creationId xmlns:a16="http://schemas.microsoft.com/office/drawing/2014/main" id="{4826C437-83A7-4992-AC3F-6C9FAF5AA20E}"/>
              </a:ext>
            </a:extLst>
          </p:cNvPr>
          <p:cNvSpPr>
            <a:spLocks xmlns:a="http://schemas.openxmlformats.org/drawingml/2006/main" noGrp="1"/>
          </p:cNvSpPr>
          <p:nvPr/>
        </p:nvSpPr>
        <p:spPr>
          <a:xfrm xmlns:a="http://schemas.openxmlformats.org/drawingml/2006/main">
            <a:off x="685800" y="1285875"/>
            <a:ext cx="10820400" cy="1390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000" b="1">
                <a:solidFill>
                  <a:srgbClr val="F6FAF9"/>
                </a:solidFill>
                <a:latin typeface="Inter"/>
                <a:ea typeface="Inter"/>
                <a:cs typeface="Inter"/>
              </a:defRPr>
            </a:defPPr>
          </a:lstStyle>
          <a:p xmlns:a="http://schemas.openxmlformats.org/drawingml/2006/main">
            <a:pPr>
              <a:defRPr sz="3000" b="1">
                <a:solidFill>
                  <a:srgbClr val="F6FAF9"/>
                </a:solidFill>
                <a:latin typeface="Inter"/>
                <a:ea typeface="Inter"/>
                <a:cs typeface="Inter"/>
              </a:defRPr>
            </a:pPr>
            <a:r>
              <a:rPr sz="3000" b="1">
                <a:solidFill>
                  <a:srgbClr val="F6FAF9"/>
                </a:solidFill>
                <a:latin typeface="Inter"/>
                <a:ea typeface="Inter"/>
                <a:cs typeface="Inter"/>
              </a:rPr>
              <a:t>Is MFA enforced for critical, internet-accessible, privileged and relevant third-party access, with failures reviewed?</a:t>
            </a:r>
          </a:p>
        </p:txBody>
      </p:sp>
      <p:sp>
        <p:nvSpPr>
          <p:cNvPr id="7" name="meaning-label">
            <a:extLst xmlns:a="http://schemas.openxmlformats.org/drawingml/2006/main">
              <a:ext uri="{FF2B5EF4-FFF2-40B4-BE49-F238E27FC236}">
                <a16:creationId xmlns:a16="http://schemas.microsoft.com/office/drawing/2014/main" id="{051AAFA1-E5EE-4B6D-B66E-BBFF3E97F566}"/>
              </a:ext>
            </a:extLst>
          </p:cNvPr>
          <p:cNvSpPr>
            <a:spLocks xmlns:a="http://schemas.openxmlformats.org/drawingml/2006/main" noGrp="1"/>
          </p:cNvSpPr>
          <p:nvPr/>
        </p:nvSpPr>
        <p:spPr>
          <a:xfrm xmlns:a="http://schemas.openxmlformats.org/drawingml/2006/main">
            <a:off x="685800" y="2990850"/>
            <a:ext cx="50101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350" b="1">
                <a:solidFill>
                  <a:srgbClr val="6CD8C9"/>
                </a:solidFill>
                <a:latin typeface="Inter"/>
                <a:ea typeface="Inter"/>
                <a:cs typeface="Inter"/>
              </a:defRPr>
            </a:defPPr>
          </a:lstStyle>
          <a:p xmlns:a="http://schemas.openxmlformats.org/drawingml/2006/main">
            <a:pPr>
              <a:defRPr sz="1350" b="1">
                <a:solidFill>
                  <a:srgbClr val="6CD8C9"/>
                </a:solidFill>
                <a:latin typeface="Inter"/>
                <a:ea typeface="Inter"/>
                <a:cs typeface="Inter"/>
              </a:defRPr>
            </a:pPr>
            <a:r>
              <a:rPr sz="1350" b="1">
                <a:solidFill>
                  <a:srgbClr val="6CD8C9"/>
                </a:solidFill>
                <a:latin typeface="Inter"/>
                <a:ea typeface="Inter"/>
                <a:cs typeface="Inter"/>
              </a:rPr>
              <a:t>WHAT THIS MEANS</a:t>
            </a:r>
          </a:p>
        </p:txBody>
      </p:sp>
      <p:sp>
        <p:nvSpPr>
          <p:cNvPr id="8" name="meaning">
            <a:extLst xmlns:a="http://schemas.openxmlformats.org/drawingml/2006/main">
              <a:ext uri="{FF2B5EF4-FFF2-40B4-BE49-F238E27FC236}">
                <a16:creationId xmlns:a16="http://schemas.microsoft.com/office/drawing/2014/main" id="{3A2D9198-BEF4-44FA-B933-6EB919F28A5D}"/>
              </a:ext>
            </a:extLst>
          </p:cNvPr>
          <p:cNvSpPr>
            <a:spLocks xmlns:a="http://schemas.openxmlformats.org/drawingml/2006/main" noGrp="1"/>
          </p:cNvSpPr>
          <p:nvPr/>
        </p:nvSpPr>
        <p:spPr>
          <a:xfrm xmlns:a="http://schemas.openxmlformats.org/drawingml/2006/main">
            <a:off x="685800" y="3343275"/>
            <a:ext cx="5010150" cy="1228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950" b="0">
                <a:solidFill>
                  <a:srgbClr val="D7E2DF"/>
                </a:solidFill>
                <a:latin typeface="Inter"/>
                <a:ea typeface="Inter"/>
                <a:cs typeface="Inter"/>
              </a:defRPr>
            </a:defPPr>
          </a:lstStyle>
          <a:p xmlns:a="http://schemas.openxmlformats.org/drawingml/2006/main">
            <a:pPr>
              <a:defRPr sz="1950" b="0">
                <a:solidFill>
                  <a:srgbClr val="D7E2DF"/>
                </a:solidFill>
                <a:latin typeface="Inter"/>
                <a:ea typeface="Inter"/>
                <a:cs typeface="Inter"/>
              </a:defRPr>
            </a:pPr>
            <a:r>
              <a:rPr sz="1950" b="0">
                <a:solidFill>
                  <a:srgbClr val="D7E2DF"/>
                </a:solidFill>
                <a:latin typeface="Inter"/>
                <a:ea typeface="Inter"/>
                <a:cs typeface="Inter"/>
              </a:rPr>
              <a:t>Multi-factor authentication applies to important access, including administrators and relevant suppliers. The team reviews failures and exclusions.</a:t>
            </a:r>
          </a:p>
        </p:txBody>
      </p:sp>
      <p:sp>
        <p:nvSpPr>
          <p:cNvPr id="9" name="why-label">
            <a:extLst xmlns:a="http://schemas.openxmlformats.org/drawingml/2006/main">
              <a:ext uri="{FF2B5EF4-FFF2-40B4-BE49-F238E27FC236}">
                <a16:creationId xmlns:a16="http://schemas.microsoft.com/office/drawing/2014/main" id="{1BE078D2-6D73-49E2-8A93-75FA3E5AD4E9}"/>
              </a:ext>
            </a:extLst>
          </p:cNvPr>
          <p:cNvSpPr>
            <a:spLocks xmlns:a="http://schemas.openxmlformats.org/drawingml/2006/main" noGrp="1"/>
          </p:cNvSpPr>
          <p:nvPr/>
        </p:nvSpPr>
        <p:spPr>
          <a:xfrm xmlns:a="http://schemas.openxmlformats.org/drawingml/2006/main">
            <a:off x="685800" y="4714875"/>
            <a:ext cx="50101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350" b="1">
                <a:solidFill>
                  <a:srgbClr val="6CD8C9"/>
                </a:solidFill>
                <a:latin typeface="Inter"/>
                <a:ea typeface="Inter"/>
                <a:cs typeface="Inter"/>
              </a:defRPr>
            </a:defPPr>
          </a:lstStyle>
          <a:p xmlns:a="http://schemas.openxmlformats.org/drawingml/2006/main">
            <a:pPr>
              <a:defRPr sz="1350" b="1">
                <a:solidFill>
                  <a:srgbClr val="6CD8C9"/>
                </a:solidFill>
                <a:latin typeface="Inter"/>
                <a:ea typeface="Inter"/>
                <a:cs typeface="Inter"/>
              </a:defRPr>
            </a:pPr>
            <a:r>
              <a:rPr sz="1350" b="1">
                <a:solidFill>
                  <a:srgbClr val="6CD8C9"/>
                </a:solidFill>
                <a:latin typeface="Inter"/>
                <a:ea typeface="Inter"/>
                <a:cs typeface="Inter"/>
              </a:rPr>
              <a:t>WHY IT MATTERS</a:t>
            </a:r>
          </a:p>
        </p:txBody>
      </p:sp>
      <p:sp>
        <p:nvSpPr>
          <p:cNvPr id="10" name="why">
            <a:extLst xmlns:a="http://schemas.openxmlformats.org/drawingml/2006/main">
              <a:ext uri="{FF2B5EF4-FFF2-40B4-BE49-F238E27FC236}">
                <a16:creationId xmlns:a16="http://schemas.microsoft.com/office/drawing/2014/main" id="{EBB498A5-E4EF-418C-8B3E-92E96E1DA24E}"/>
              </a:ext>
            </a:extLst>
          </p:cNvPr>
          <p:cNvSpPr>
            <a:spLocks xmlns:a="http://schemas.openxmlformats.org/drawingml/2006/main" noGrp="1"/>
          </p:cNvSpPr>
          <p:nvPr/>
        </p:nvSpPr>
        <p:spPr>
          <a:xfrm xmlns:a="http://schemas.openxmlformats.org/drawingml/2006/main">
            <a:off x="685800" y="5067300"/>
            <a:ext cx="50101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00" b="0">
                <a:solidFill>
                  <a:srgbClr val="D7E2DF"/>
                </a:solidFill>
                <a:latin typeface="Inter"/>
                <a:ea typeface="Inter"/>
                <a:cs typeface="Inter"/>
              </a:defRPr>
            </a:defPPr>
          </a:lstStyle>
          <a:p xmlns:a="http://schemas.openxmlformats.org/drawingml/2006/main">
            <a:pPr>
              <a:defRPr sz="1800" b="0">
                <a:solidFill>
                  <a:srgbClr val="D7E2DF"/>
                </a:solidFill>
                <a:latin typeface="Inter"/>
                <a:ea typeface="Inter"/>
                <a:cs typeface="Inter"/>
              </a:defRPr>
            </a:pPr>
            <a:r>
              <a:rPr sz="1800" b="0">
                <a:solidFill>
                  <a:srgbClr val="D7E2DF"/>
                </a:solidFill>
                <a:latin typeface="Inter"/>
                <a:ea typeface="Inter"/>
                <a:cs typeface="Inter"/>
              </a:rPr>
              <a:t>A stolen password should be harder to turn into access to important systems.</a:t>
            </a:r>
          </a:p>
        </p:txBody>
      </p:sp>
      <p:sp>
        <p:nvSpPr>
          <p:cNvPr id="11" name="example-label">
            <a:extLst xmlns:a="http://schemas.openxmlformats.org/drawingml/2006/main">
              <a:ext uri="{FF2B5EF4-FFF2-40B4-BE49-F238E27FC236}">
                <a16:creationId xmlns:a16="http://schemas.microsoft.com/office/drawing/2014/main" id="{143DB471-1FB8-48C7-899F-32D7DE3F01A1}"/>
              </a:ext>
            </a:extLst>
          </p:cNvPr>
          <p:cNvSpPr>
            <a:spLocks xmlns:a="http://schemas.openxmlformats.org/drawingml/2006/main" noGrp="1"/>
          </p:cNvSpPr>
          <p:nvPr/>
        </p:nvSpPr>
        <p:spPr>
          <a:xfrm xmlns:a="http://schemas.openxmlformats.org/drawingml/2006/main">
            <a:off x="6572250" y="2990850"/>
            <a:ext cx="4933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350" b="1">
                <a:solidFill>
                  <a:srgbClr val="6CD8C9"/>
                </a:solidFill>
                <a:latin typeface="Inter"/>
                <a:ea typeface="Inter"/>
                <a:cs typeface="Inter"/>
              </a:defRPr>
            </a:defPPr>
          </a:lstStyle>
          <a:p xmlns:a="http://schemas.openxmlformats.org/drawingml/2006/main">
            <a:pPr>
              <a:defRPr sz="1350" b="1">
                <a:solidFill>
                  <a:srgbClr val="6CD8C9"/>
                </a:solidFill>
                <a:latin typeface="Inter"/>
                <a:ea typeface="Inter"/>
                <a:cs typeface="Inter"/>
              </a:defRPr>
            </a:pPr>
            <a:r>
              <a:rPr sz="1350" b="1">
                <a:solidFill>
                  <a:srgbClr val="6CD8C9"/>
                </a:solidFill>
                <a:latin typeface="Inter"/>
                <a:ea typeface="Inter"/>
                <a:cs typeface="Inter"/>
              </a:rPr>
              <a:t>EXAMPLE ANSWER: PARTIAL</a:t>
            </a:r>
          </a:p>
        </p:txBody>
      </p:sp>
      <p:sp>
        <p:nvSpPr>
          <p:cNvPr id="12" name="example">
            <a:extLst xmlns:a="http://schemas.openxmlformats.org/drawingml/2006/main">
              <a:ext uri="{FF2B5EF4-FFF2-40B4-BE49-F238E27FC236}">
                <a16:creationId xmlns:a16="http://schemas.microsoft.com/office/drawing/2014/main" id="{59747DA9-0F51-43FD-B83C-32444BD13D0F}"/>
              </a:ext>
            </a:extLst>
          </p:cNvPr>
          <p:cNvSpPr>
            <a:spLocks xmlns:a="http://schemas.openxmlformats.org/drawingml/2006/main" noGrp="1"/>
          </p:cNvSpPr>
          <p:nvPr/>
        </p:nvSpPr>
        <p:spPr>
          <a:xfrm xmlns:a="http://schemas.openxmlformats.org/drawingml/2006/main">
            <a:off x="6572250" y="3343275"/>
            <a:ext cx="4933950" cy="1943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00" b="0">
                <a:solidFill>
                  <a:srgbClr val="F6FAF9"/>
                </a:solidFill>
                <a:latin typeface="Inter"/>
                <a:ea typeface="Inter"/>
                <a:cs typeface="Inter"/>
              </a:defRPr>
            </a:defPPr>
          </a:lstStyle>
          <a:p xmlns:a="http://schemas.openxmlformats.org/drawingml/2006/main">
            <a:pPr>
              <a:defRPr sz="2100" b="0">
                <a:solidFill>
                  <a:srgbClr val="F6FAF9"/>
                </a:solidFill>
                <a:latin typeface="Inter"/>
                <a:ea typeface="Inter"/>
                <a:cs typeface="Inter"/>
              </a:defRPr>
            </a:pPr>
            <a:r>
              <a:rPr sz="2100" b="0">
                <a:solidFill>
                  <a:srgbClr val="F6FAF9"/>
                </a:solidFill>
                <a:latin typeface="Inter"/>
                <a:ea typeface="Inter"/>
                <a:cs typeface="Inter"/>
              </a:rPr>
              <a:t>“Email and remote access require MFA. We still need to check administrator accounts, finance services and supplier access.”</a:t>
            </a:r>
          </a:p>
        </p:txBody>
      </p:sp>
      <p:sp>
        <p:nvSpPr>
          <p:cNvPr id="13" name="evidence-label">
            <a:extLst xmlns:a="http://schemas.openxmlformats.org/drawingml/2006/main">
              <a:ext uri="{FF2B5EF4-FFF2-40B4-BE49-F238E27FC236}">
                <a16:creationId xmlns:a16="http://schemas.microsoft.com/office/drawing/2014/main" id="{98458B8F-5479-4A0F-8E00-966383C6A3F2}"/>
              </a:ext>
            </a:extLst>
          </p:cNvPr>
          <p:cNvSpPr>
            <a:spLocks xmlns:a="http://schemas.openxmlformats.org/drawingml/2006/main" noGrp="1"/>
          </p:cNvSpPr>
          <p:nvPr/>
        </p:nvSpPr>
        <p:spPr>
          <a:xfrm xmlns:a="http://schemas.openxmlformats.org/drawingml/2006/main">
            <a:off x="6572250" y="5410200"/>
            <a:ext cx="4933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350" b="1">
                <a:solidFill>
                  <a:srgbClr val="6CD8C9"/>
                </a:solidFill>
                <a:latin typeface="Inter"/>
                <a:ea typeface="Inter"/>
                <a:cs typeface="Inter"/>
              </a:defRPr>
            </a:defPPr>
          </a:lstStyle>
          <a:p xmlns:a="http://schemas.openxmlformats.org/drawingml/2006/main">
            <a:pPr>
              <a:defRPr sz="1350" b="1">
                <a:solidFill>
                  <a:srgbClr val="6CD8C9"/>
                </a:solidFill>
                <a:latin typeface="Inter"/>
                <a:ea typeface="Inter"/>
                <a:cs typeface="Inter"/>
              </a:defRPr>
            </a:pPr>
            <a:r>
              <a:rPr sz="1350" b="1">
                <a:solidFill>
                  <a:srgbClr val="6CD8C9"/>
                </a:solidFill>
                <a:latin typeface="Inter"/>
                <a:ea typeface="Inter"/>
                <a:cs typeface="Inter"/>
              </a:rPr>
              <a:t>EVIDENCE TO DISCUSS</a:t>
            </a:r>
          </a:p>
        </p:txBody>
      </p:sp>
      <p:sp>
        <p:nvSpPr>
          <p:cNvPr id="14" name="evidence">
            <a:extLst xmlns:a="http://schemas.openxmlformats.org/drawingml/2006/main">
              <a:ext uri="{FF2B5EF4-FFF2-40B4-BE49-F238E27FC236}">
                <a16:creationId xmlns:a16="http://schemas.microsoft.com/office/drawing/2014/main" id="{B20AE36D-8AE9-418C-80BF-71B76F0DD797}"/>
              </a:ext>
            </a:extLst>
          </p:cNvPr>
          <p:cNvSpPr>
            <a:spLocks xmlns:a="http://schemas.openxmlformats.org/drawingml/2006/main" noGrp="1"/>
          </p:cNvSpPr>
          <p:nvPr/>
        </p:nvSpPr>
        <p:spPr>
          <a:xfrm xmlns:a="http://schemas.openxmlformats.org/drawingml/2006/main">
            <a:off x="6572250" y="5762625"/>
            <a:ext cx="493395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725" b="0">
                <a:solidFill>
                  <a:srgbClr val="D7E2DF"/>
                </a:solidFill>
                <a:latin typeface="Inter"/>
                <a:ea typeface="Inter"/>
                <a:cs typeface="Inter"/>
              </a:defRPr>
            </a:defPPr>
          </a:lstStyle>
          <a:p xmlns:a="http://schemas.openxmlformats.org/drawingml/2006/main">
            <a:pPr>
              <a:defRPr sz="1725" b="0">
                <a:solidFill>
                  <a:srgbClr val="D7E2DF"/>
                </a:solidFill>
                <a:latin typeface="Inter"/>
                <a:ea typeface="Inter"/>
                <a:cs typeface="Inter"/>
              </a:defRPr>
            </a:pPr>
            <a:r>
              <a:rPr sz="1725" b="0">
                <a:solidFill>
                  <a:srgbClr val="D7E2DF"/>
                </a:solidFill>
                <a:latin typeface="Inter"/>
                <a:ea typeface="Inter"/>
                <a:cs typeface="Inter"/>
              </a:rPr>
              <a:t>MFA coverage report</a:t>
            </a:r>
          </a:p>
          <a:p xmlns:a="http://schemas.openxmlformats.org/drawingml/2006/main">
            <a:pPr>
              <a:defRPr sz="1725" b="0">
                <a:solidFill>
                  <a:srgbClr val="D7E2DF"/>
                </a:solidFill>
                <a:latin typeface="Inter"/>
                <a:ea typeface="Inter"/>
                <a:cs typeface="Inter"/>
              </a:defRPr>
            </a:pPr>
            <a:r>
              <a:rPr sz="1725" b="0">
                <a:solidFill>
                  <a:srgbClr val="D7E2DF"/>
                </a:solidFill>
                <a:latin typeface="Inter"/>
                <a:ea typeface="Inter"/>
                <a:cs typeface="Inter"/>
              </a:rPr>
              <a:t>Failed-authentication review</a:t>
            </a:r>
          </a:p>
        </p:txBody>
      </p:sp>
    </p:spTree>
    <p:extLst>
      <p:ext uri="{BB962C8B-B14F-4D97-AF65-F5344CB8AC3E}">
        <p14:creationId xmlns:p14="http://schemas.microsoft.com/office/powerpoint/2010/main" val="1991216252"/>
      </p:ext>
    </p:extLst>
  </p:cSld>
</p:sld>
</file>

<file path=ppt/slides/slide10.xml><?xml version="1.0" encoding="utf-8"?>
<p:sld xmlns:p="http://schemas.openxmlformats.org/presentationml/2006/main">
  <p:cSld>
    <p:bg>
      <p:bgPr>
        <a:solidFill xmlns:a="http://schemas.openxmlformats.org/drawingml/2006/main">
          <a:srgbClr val="08100F"/>
        </a:solidFill>
      </p:bgPr>
    </p:bg>
    <p:spTree>
      <p:nvGrpSpPr>
        <p:cNvPr id="1" name=""/>
        <p:cNvGrpSpPr/>
        <p:nvPr/>
      </p:nvGrpSpPr>
      <p:grpSpPr>
        <a:xfrm xmlns:a="http://schemas.openxmlformats.org/drawingml/2006/main"/>
      </p:grpSpPr>
      <p:sp>
        <p:nvSpPr>
          <p:cNvPr id="15" name="brand">
            <a:extLst xmlns:a="http://schemas.openxmlformats.org/drawingml/2006/main">
              <a:ext uri="{FF2B5EF4-FFF2-40B4-BE49-F238E27FC236}">
                <a16:creationId xmlns:a16="http://schemas.microsoft.com/office/drawing/2014/main" id="{FD0A9194-AF70-46CD-835E-7C4C97E2EC6F}"/>
              </a:ext>
            </a:extLst>
          </p:cNvPr>
          <p:cNvSpPr>
            <a:spLocks xmlns:a="http://schemas.openxmlformats.org/drawingml/2006/main" noGrp="1"/>
          </p:cNvSpPr>
          <p:nvPr/>
        </p:nvSpPr>
        <p:spPr>
          <a:xfrm xmlns:a="http://schemas.openxmlformats.org/drawingml/2006/main">
            <a:off x="685800" y="323850"/>
            <a:ext cx="2952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00" b="1">
                <a:solidFill>
                  <a:srgbClr val="F6FAF9"/>
                </a:solidFill>
                <a:latin typeface="Inter"/>
                <a:ea typeface="Inter"/>
                <a:cs typeface="Inter"/>
              </a:defRPr>
            </a:defPPr>
          </a:lstStyle>
          <a:p xmlns:a="http://schemas.openxmlformats.org/drawingml/2006/main">
            <a:pPr>
              <a:defRPr sz="1800" b="1">
                <a:solidFill>
                  <a:srgbClr val="F6FAF9"/>
                </a:solidFill>
                <a:latin typeface="Inter"/>
                <a:ea typeface="Inter"/>
                <a:cs typeface="Inter"/>
              </a:defRPr>
            </a:pPr>
            <a:r>
              <a:rPr sz="1800" b="1">
                <a:solidFill>
                  <a:srgbClr val="F6FAF9"/>
                </a:solidFill>
                <a:latin typeface="Inter"/>
                <a:ea typeface="Inter"/>
                <a:cs typeface="Inter"/>
              </a:rPr>
              <a:t>NO FRIES</a:t>
            </a:r>
          </a:p>
        </p:txBody>
      </p:sp>
      <p:sp>
        <p:nvSpPr>
          <p:cNvPr id="2" name="section">
            <a:extLst xmlns:a="http://schemas.openxmlformats.org/drawingml/2006/main">
              <a:ext uri="{FF2B5EF4-FFF2-40B4-BE49-F238E27FC236}">
                <a16:creationId xmlns:a16="http://schemas.microsoft.com/office/drawing/2014/main" id="{53EE9746-8C91-4BCE-B2D1-C76C10E08D0D}"/>
              </a:ext>
            </a:extLst>
          </p:cNvPr>
          <p:cNvSpPr>
            <a:spLocks xmlns:a="http://schemas.openxmlformats.org/drawingml/2006/main" noGrp="1"/>
          </p:cNvSpPr>
          <p:nvPr/>
        </p:nvSpPr>
        <p:spPr>
          <a:xfrm xmlns:a="http://schemas.openxmlformats.org/drawingml/2006/main">
            <a:off x="5524500" y="371475"/>
            <a:ext cx="59817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1">
                <a:solidFill>
                  <a:srgbClr val="6CD8C9"/>
                </a:solidFill>
                <a:latin typeface="Inter"/>
                <a:ea typeface="Inter"/>
                <a:cs typeface="Inter"/>
              </a:defRPr>
            </a:defPPr>
          </a:lstStyle>
          <a:p xmlns:a="http://schemas.openxmlformats.org/drawingml/2006/main">
            <a:pPr algn="r">
              <a:defRPr sz="1200" b="1">
                <a:solidFill>
                  <a:srgbClr val="6CD8C9"/>
                </a:solidFill>
                <a:latin typeface="Inter"/>
                <a:ea typeface="Inter"/>
                <a:cs typeface="Inter"/>
              </a:defRPr>
            </a:pPr>
            <a:r>
              <a:rPr sz="1200" b="1">
                <a:solidFill>
                  <a:srgbClr val="6CD8C9"/>
                </a:solidFill>
                <a:latin typeface="Inter"/>
                <a:ea typeface="Inter"/>
                <a:cs typeface="Inter"/>
              </a:rPr>
              <a:t>QUESTION 07 / 14</a:t>
            </a:r>
          </a:p>
        </p:txBody>
      </p:sp>
      <p:sp>
        <p:nvSpPr>
          <p:cNvPr id="3" name="page">
            <a:extLst xmlns:a="http://schemas.openxmlformats.org/drawingml/2006/main">
              <a:ext uri="{FF2B5EF4-FFF2-40B4-BE49-F238E27FC236}">
                <a16:creationId xmlns:a16="http://schemas.microsoft.com/office/drawing/2014/main" id="{AD8ADBEE-6BEA-4ADC-AA19-B692050A8897}"/>
              </a:ext>
            </a:extLst>
          </p:cNvPr>
          <p:cNvSpPr>
            <a:spLocks xmlns:a="http://schemas.openxmlformats.org/drawingml/2006/main" noGrp="1"/>
          </p:cNvSpPr>
          <p:nvPr/>
        </p:nvSpPr>
        <p:spPr>
          <a:xfrm xmlns:a="http://schemas.openxmlformats.org/drawingml/2006/main">
            <a:off x="10934700" y="6429375"/>
            <a:ext cx="5715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A9BBB7"/>
                </a:solidFill>
                <a:latin typeface="Inter"/>
                <a:ea typeface="Inter"/>
                <a:cs typeface="Inter"/>
              </a:defRPr>
            </a:defPPr>
          </a:lstStyle>
          <a:p xmlns:a="http://schemas.openxmlformats.org/drawingml/2006/main">
            <a:pPr algn="r">
              <a:defRPr sz="1200" b="0">
                <a:solidFill>
                  <a:srgbClr val="A9BBB7"/>
                </a:solidFill>
                <a:latin typeface="Inter"/>
                <a:ea typeface="Inter"/>
                <a:cs typeface="Inter"/>
              </a:defRPr>
            </a:pPr>
            <a:r>
              <a:rPr sz="1200" b="0">
                <a:solidFill>
                  <a:srgbClr val="A9BBB7"/>
                </a:solidFill>
                <a:latin typeface="Inter"/>
                <a:ea typeface="Inter"/>
                <a:cs typeface="Inter"/>
              </a:rPr>
              <a:t>10</a:t>
            </a:r>
          </a:p>
        </p:txBody>
      </p:sp>
      <p:sp>
        <p:nvSpPr>
          <p:cNvPr id="4" name="question-id">
            <a:extLst xmlns:a="http://schemas.openxmlformats.org/drawingml/2006/main">
              <a:ext uri="{FF2B5EF4-FFF2-40B4-BE49-F238E27FC236}">
                <a16:creationId xmlns:a16="http://schemas.microsoft.com/office/drawing/2014/main" id="{434557A4-50A6-4295-B985-BCEE38169A93}"/>
              </a:ext>
            </a:extLst>
          </p:cNvPr>
          <p:cNvSpPr>
            <a:spLocks xmlns:a="http://schemas.openxmlformats.org/drawingml/2006/main" noGrp="1"/>
          </p:cNvSpPr>
          <p:nvPr/>
        </p:nvSpPr>
        <p:spPr>
          <a:xfrm xmlns:a="http://schemas.openxmlformats.org/drawingml/2006/main">
            <a:off x="685800" y="828675"/>
            <a:ext cx="52387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00" b="0">
                <a:solidFill>
                  <a:srgbClr val="A9BBB7"/>
                </a:solidFill>
                <a:latin typeface="Inter"/>
                <a:ea typeface="Inter"/>
                <a:cs typeface="Inter"/>
              </a:defRPr>
            </a:defPPr>
          </a:lstStyle>
          <a:p xmlns:a="http://schemas.openxmlformats.org/drawingml/2006/main">
            <a:pPr>
              <a:defRPr sz="1200" b="0">
                <a:solidFill>
                  <a:srgbClr val="A9BBB7"/>
                </a:solidFill>
                <a:latin typeface="Inter"/>
                <a:ea typeface="Inter"/>
                <a:cs typeface="Inter"/>
              </a:defRPr>
            </a:pPr>
            <a:r>
              <a:rPr sz="1200" b="0">
                <a:solidFill>
                  <a:srgbClr val="A9BBB7"/>
                </a:solidFill>
                <a:latin typeface="Inter"/>
                <a:ea typeface="Inter"/>
                <a:cs typeface="Inter"/>
              </a:rPr>
              <a:t>NF-NCSC-MCSS-DU-01-Q1</a:t>
            </a:r>
          </a:p>
        </p:txBody>
      </p:sp>
      <p:sp>
        <p:nvSpPr>
          <p:cNvPr id="5" name="function">
            <a:extLst xmlns:a="http://schemas.openxmlformats.org/drawingml/2006/main">
              <a:ext uri="{FF2B5EF4-FFF2-40B4-BE49-F238E27FC236}">
                <a16:creationId xmlns:a16="http://schemas.microsoft.com/office/drawing/2014/main" id="{5E19CBF7-BF83-4395-8BA3-4A6A312A5145}"/>
              </a:ext>
            </a:extLst>
          </p:cNvPr>
          <p:cNvSpPr>
            <a:spLocks xmlns:a="http://schemas.openxmlformats.org/drawingml/2006/main" noGrp="1"/>
          </p:cNvSpPr>
          <p:nvPr/>
        </p:nvSpPr>
        <p:spPr>
          <a:xfrm xmlns:a="http://schemas.openxmlformats.org/drawingml/2006/main">
            <a:off x="6524625" y="828675"/>
            <a:ext cx="4981575"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1">
                <a:solidFill>
                  <a:srgbClr val="6CD8C9"/>
                </a:solidFill>
                <a:latin typeface="Inter"/>
                <a:ea typeface="Inter"/>
                <a:cs typeface="Inter"/>
              </a:defRPr>
            </a:defPPr>
          </a:lstStyle>
          <a:p xmlns:a="http://schemas.openxmlformats.org/drawingml/2006/main">
            <a:pPr algn="r">
              <a:defRPr sz="1275" b="1">
                <a:solidFill>
                  <a:srgbClr val="6CD8C9"/>
                </a:solidFill>
                <a:latin typeface="Inter"/>
                <a:ea typeface="Inter"/>
                <a:cs typeface="Inter"/>
              </a:defRPr>
            </a:pPr>
            <a:r>
              <a:rPr sz="1275" b="1">
                <a:solidFill>
                  <a:srgbClr val="6CD8C9"/>
                </a:solidFill>
                <a:latin typeface="Inter"/>
                <a:ea typeface="Inter"/>
                <a:cs typeface="Inter"/>
              </a:rPr>
              <a:t>Detect and Contain</a:t>
            </a:r>
          </a:p>
        </p:txBody>
      </p:sp>
      <p:sp>
        <p:nvSpPr>
          <p:cNvPr id="6" name="question-prompt">
            <a:extLst xmlns:a="http://schemas.openxmlformats.org/drawingml/2006/main">
              <a:ext uri="{FF2B5EF4-FFF2-40B4-BE49-F238E27FC236}">
                <a16:creationId xmlns:a16="http://schemas.microsoft.com/office/drawing/2014/main" id="{8BD4D563-1E86-49FC-B850-C552BA8D8173}"/>
              </a:ext>
            </a:extLst>
          </p:cNvPr>
          <p:cNvSpPr>
            <a:spLocks xmlns:a="http://schemas.openxmlformats.org/drawingml/2006/main" noGrp="1"/>
          </p:cNvSpPr>
          <p:nvPr/>
        </p:nvSpPr>
        <p:spPr>
          <a:xfrm xmlns:a="http://schemas.openxmlformats.org/drawingml/2006/main">
            <a:off x="685800" y="1285875"/>
            <a:ext cx="10820400" cy="1390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000" b="1">
                <a:solidFill>
                  <a:srgbClr val="F6FAF9"/>
                </a:solidFill>
                <a:latin typeface="Inter"/>
                <a:ea typeface="Inter"/>
                <a:cs typeface="Inter"/>
              </a:defRPr>
            </a:defPPr>
          </a:lstStyle>
          <a:p xmlns:a="http://schemas.openxmlformats.org/drawingml/2006/main">
            <a:pPr>
              <a:defRPr sz="3000" b="1">
                <a:solidFill>
                  <a:srgbClr val="F6FAF9"/>
                </a:solidFill>
                <a:latin typeface="Inter"/>
                <a:ea typeface="Inter"/>
                <a:cs typeface="Inter"/>
              </a:defRPr>
            </a:pPr>
            <a:r>
              <a:rPr sz="3000" b="1">
                <a:solidFill>
                  <a:srgbClr val="F6FAF9"/>
                </a:solidFill>
                <a:latin typeface="Inter"/>
                <a:ea typeface="Inter"/>
                <a:cs typeface="Inter"/>
              </a:rPr>
              <a:t>Are useful logs from critical and externally facing systems brought together, reviewed and turned into actionable alerts?</a:t>
            </a:r>
          </a:p>
        </p:txBody>
      </p:sp>
      <p:sp>
        <p:nvSpPr>
          <p:cNvPr id="7" name="meaning-label">
            <a:extLst xmlns:a="http://schemas.openxmlformats.org/drawingml/2006/main">
              <a:ext uri="{FF2B5EF4-FFF2-40B4-BE49-F238E27FC236}">
                <a16:creationId xmlns:a16="http://schemas.microsoft.com/office/drawing/2014/main" id="{A8E5AB6A-145D-4D8E-BFF0-820AC56A2AFE}"/>
              </a:ext>
            </a:extLst>
          </p:cNvPr>
          <p:cNvSpPr>
            <a:spLocks xmlns:a="http://schemas.openxmlformats.org/drawingml/2006/main" noGrp="1"/>
          </p:cNvSpPr>
          <p:nvPr/>
        </p:nvSpPr>
        <p:spPr>
          <a:xfrm xmlns:a="http://schemas.openxmlformats.org/drawingml/2006/main">
            <a:off x="685800" y="2990850"/>
            <a:ext cx="50101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350" b="1">
                <a:solidFill>
                  <a:srgbClr val="6CD8C9"/>
                </a:solidFill>
                <a:latin typeface="Inter"/>
                <a:ea typeface="Inter"/>
                <a:cs typeface="Inter"/>
              </a:defRPr>
            </a:defPPr>
          </a:lstStyle>
          <a:p xmlns:a="http://schemas.openxmlformats.org/drawingml/2006/main">
            <a:pPr>
              <a:defRPr sz="1350" b="1">
                <a:solidFill>
                  <a:srgbClr val="6CD8C9"/>
                </a:solidFill>
                <a:latin typeface="Inter"/>
                <a:ea typeface="Inter"/>
                <a:cs typeface="Inter"/>
              </a:defRPr>
            </a:pPr>
            <a:r>
              <a:rPr sz="1350" b="1">
                <a:solidFill>
                  <a:srgbClr val="6CD8C9"/>
                </a:solidFill>
                <a:latin typeface="Inter"/>
                <a:ea typeface="Inter"/>
                <a:cs typeface="Inter"/>
              </a:rPr>
              <a:t>WHAT THIS MEANS</a:t>
            </a:r>
          </a:p>
        </p:txBody>
      </p:sp>
      <p:sp>
        <p:nvSpPr>
          <p:cNvPr id="8" name="meaning">
            <a:extLst xmlns:a="http://schemas.openxmlformats.org/drawingml/2006/main">
              <a:ext uri="{FF2B5EF4-FFF2-40B4-BE49-F238E27FC236}">
                <a16:creationId xmlns:a16="http://schemas.microsoft.com/office/drawing/2014/main" id="{EFE9B15B-4E12-41C4-B885-AB425DBEFF4B}"/>
              </a:ext>
            </a:extLst>
          </p:cNvPr>
          <p:cNvSpPr>
            <a:spLocks xmlns:a="http://schemas.openxmlformats.org/drawingml/2006/main" noGrp="1"/>
          </p:cNvSpPr>
          <p:nvPr/>
        </p:nvSpPr>
        <p:spPr>
          <a:xfrm xmlns:a="http://schemas.openxmlformats.org/drawingml/2006/main">
            <a:off x="685800" y="3343275"/>
            <a:ext cx="5010150" cy="1228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950" b="0">
                <a:solidFill>
                  <a:srgbClr val="D7E2DF"/>
                </a:solidFill>
                <a:latin typeface="Inter"/>
                <a:ea typeface="Inter"/>
                <a:cs typeface="Inter"/>
              </a:defRPr>
            </a:defPPr>
          </a:lstStyle>
          <a:p xmlns:a="http://schemas.openxmlformats.org/drawingml/2006/main">
            <a:pPr>
              <a:defRPr sz="1950" b="0">
                <a:solidFill>
                  <a:srgbClr val="D7E2DF"/>
                </a:solidFill>
                <a:latin typeface="Inter"/>
                <a:ea typeface="Inter"/>
                <a:cs typeface="Inter"/>
              </a:defRPr>
            </a:pPr>
            <a:r>
              <a:rPr sz="1950" b="0">
                <a:solidFill>
                  <a:srgbClr val="D7E2DF"/>
                </a:solidFill>
                <a:latin typeface="Inter"/>
                <a:ea typeface="Inter"/>
                <a:cs typeface="Inter"/>
              </a:rPr>
              <a:t>Important systems send useful activity records to a place where someone reviews alerts and responds.</a:t>
            </a:r>
          </a:p>
        </p:txBody>
      </p:sp>
      <p:sp>
        <p:nvSpPr>
          <p:cNvPr id="9" name="why-label">
            <a:extLst xmlns:a="http://schemas.openxmlformats.org/drawingml/2006/main">
              <a:ext uri="{FF2B5EF4-FFF2-40B4-BE49-F238E27FC236}">
                <a16:creationId xmlns:a16="http://schemas.microsoft.com/office/drawing/2014/main" id="{F8997239-6666-4DBA-A65B-83E7C3924E12}"/>
              </a:ext>
            </a:extLst>
          </p:cNvPr>
          <p:cNvSpPr>
            <a:spLocks xmlns:a="http://schemas.openxmlformats.org/drawingml/2006/main" noGrp="1"/>
          </p:cNvSpPr>
          <p:nvPr/>
        </p:nvSpPr>
        <p:spPr>
          <a:xfrm xmlns:a="http://schemas.openxmlformats.org/drawingml/2006/main">
            <a:off x="685800" y="4714875"/>
            <a:ext cx="50101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350" b="1">
                <a:solidFill>
                  <a:srgbClr val="6CD8C9"/>
                </a:solidFill>
                <a:latin typeface="Inter"/>
                <a:ea typeface="Inter"/>
                <a:cs typeface="Inter"/>
              </a:defRPr>
            </a:defPPr>
          </a:lstStyle>
          <a:p xmlns:a="http://schemas.openxmlformats.org/drawingml/2006/main">
            <a:pPr>
              <a:defRPr sz="1350" b="1">
                <a:solidFill>
                  <a:srgbClr val="6CD8C9"/>
                </a:solidFill>
                <a:latin typeface="Inter"/>
                <a:ea typeface="Inter"/>
                <a:cs typeface="Inter"/>
              </a:defRPr>
            </a:pPr>
            <a:r>
              <a:rPr sz="1350" b="1">
                <a:solidFill>
                  <a:srgbClr val="6CD8C9"/>
                </a:solidFill>
                <a:latin typeface="Inter"/>
                <a:ea typeface="Inter"/>
                <a:cs typeface="Inter"/>
              </a:rPr>
              <a:t>WHY IT MATTERS</a:t>
            </a:r>
          </a:p>
        </p:txBody>
      </p:sp>
      <p:sp>
        <p:nvSpPr>
          <p:cNvPr id="10" name="why">
            <a:extLst xmlns:a="http://schemas.openxmlformats.org/drawingml/2006/main">
              <a:ext uri="{FF2B5EF4-FFF2-40B4-BE49-F238E27FC236}">
                <a16:creationId xmlns:a16="http://schemas.microsoft.com/office/drawing/2014/main" id="{3EFD98D4-E897-490F-B8F8-4996D7E143B8}"/>
              </a:ext>
            </a:extLst>
          </p:cNvPr>
          <p:cNvSpPr>
            <a:spLocks xmlns:a="http://schemas.openxmlformats.org/drawingml/2006/main" noGrp="1"/>
          </p:cNvSpPr>
          <p:nvPr/>
        </p:nvSpPr>
        <p:spPr>
          <a:xfrm xmlns:a="http://schemas.openxmlformats.org/drawingml/2006/main">
            <a:off x="685800" y="5067300"/>
            <a:ext cx="50101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00" b="0">
                <a:solidFill>
                  <a:srgbClr val="D7E2DF"/>
                </a:solidFill>
                <a:latin typeface="Inter"/>
                <a:ea typeface="Inter"/>
                <a:cs typeface="Inter"/>
              </a:defRPr>
            </a:defPPr>
          </a:lstStyle>
          <a:p xmlns:a="http://schemas.openxmlformats.org/drawingml/2006/main">
            <a:pPr>
              <a:defRPr sz="1800" b="0">
                <a:solidFill>
                  <a:srgbClr val="D7E2DF"/>
                </a:solidFill>
                <a:latin typeface="Inter"/>
                <a:ea typeface="Inter"/>
                <a:cs typeface="Inter"/>
              </a:defRPr>
            </a:pPr>
            <a:r>
              <a:rPr sz="1800" b="0">
                <a:solidFill>
                  <a:srgbClr val="D7E2DF"/>
                </a:solidFill>
                <a:latin typeface="Inter"/>
                <a:ea typeface="Inter"/>
                <a:cs typeface="Inter"/>
              </a:rPr>
              <a:t>An alert helps only when someone can investigate it and act in time.</a:t>
            </a:r>
          </a:p>
        </p:txBody>
      </p:sp>
      <p:sp>
        <p:nvSpPr>
          <p:cNvPr id="11" name="example-label">
            <a:extLst xmlns:a="http://schemas.openxmlformats.org/drawingml/2006/main">
              <a:ext uri="{FF2B5EF4-FFF2-40B4-BE49-F238E27FC236}">
                <a16:creationId xmlns:a16="http://schemas.microsoft.com/office/drawing/2014/main" id="{7887770B-E7EE-480B-8B8F-2784E7943ABB}"/>
              </a:ext>
            </a:extLst>
          </p:cNvPr>
          <p:cNvSpPr>
            <a:spLocks xmlns:a="http://schemas.openxmlformats.org/drawingml/2006/main" noGrp="1"/>
          </p:cNvSpPr>
          <p:nvPr/>
        </p:nvSpPr>
        <p:spPr>
          <a:xfrm xmlns:a="http://schemas.openxmlformats.org/drawingml/2006/main">
            <a:off x="6572250" y="2990850"/>
            <a:ext cx="4933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350" b="1">
                <a:solidFill>
                  <a:srgbClr val="6CD8C9"/>
                </a:solidFill>
                <a:latin typeface="Inter"/>
                <a:ea typeface="Inter"/>
                <a:cs typeface="Inter"/>
              </a:defRPr>
            </a:defPPr>
          </a:lstStyle>
          <a:p xmlns:a="http://schemas.openxmlformats.org/drawingml/2006/main">
            <a:pPr>
              <a:defRPr sz="1350" b="1">
                <a:solidFill>
                  <a:srgbClr val="6CD8C9"/>
                </a:solidFill>
                <a:latin typeface="Inter"/>
                <a:ea typeface="Inter"/>
                <a:cs typeface="Inter"/>
              </a:defRPr>
            </a:pPr>
            <a:r>
              <a:rPr sz="1350" b="1">
                <a:solidFill>
                  <a:srgbClr val="6CD8C9"/>
                </a:solidFill>
                <a:latin typeface="Inter"/>
                <a:ea typeface="Inter"/>
                <a:cs typeface="Inter"/>
              </a:rPr>
              <a:t>EXAMPLE ANSWER: UNKNOWN</a:t>
            </a:r>
          </a:p>
        </p:txBody>
      </p:sp>
      <p:sp>
        <p:nvSpPr>
          <p:cNvPr id="12" name="example">
            <a:extLst xmlns:a="http://schemas.openxmlformats.org/drawingml/2006/main">
              <a:ext uri="{FF2B5EF4-FFF2-40B4-BE49-F238E27FC236}">
                <a16:creationId xmlns:a16="http://schemas.microsoft.com/office/drawing/2014/main" id="{F3C981AD-9B2F-4AB6-A681-45794B841F77}"/>
              </a:ext>
            </a:extLst>
          </p:cNvPr>
          <p:cNvSpPr>
            <a:spLocks xmlns:a="http://schemas.openxmlformats.org/drawingml/2006/main" noGrp="1"/>
          </p:cNvSpPr>
          <p:nvPr/>
        </p:nvSpPr>
        <p:spPr>
          <a:xfrm xmlns:a="http://schemas.openxmlformats.org/drawingml/2006/main">
            <a:off x="6572250" y="3343275"/>
            <a:ext cx="4933950" cy="1943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00" b="0">
                <a:solidFill>
                  <a:srgbClr val="F6FAF9"/>
                </a:solidFill>
                <a:latin typeface="Inter"/>
                <a:ea typeface="Inter"/>
                <a:cs typeface="Inter"/>
              </a:defRPr>
            </a:defPPr>
          </a:lstStyle>
          <a:p xmlns:a="http://schemas.openxmlformats.org/drawingml/2006/main">
            <a:pPr>
              <a:defRPr sz="2100" b="0">
                <a:solidFill>
                  <a:srgbClr val="F6FAF9"/>
                </a:solidFill>
                <a:latin typeface="Inter"/>
                <a:ea typeface="Inter"/>
                <a:cs typeface="Inter"/>
              </a:defRPr>
            </a:pPr>
            <a:r>
              <a:rPr sz="2100" b="0">
                <a:solidFill>
                  <a:srgbClr val="F6FAF9"/>
                </a:solidFill>
                <a:latin typeface="Inter"/>
                <a:ea typeface="Inter"/>
                <a:cs typeface="Inter"/>
              </a:rPr>
              <a:t>“Our provider handles monitoring. We haven’t confirmed which systems send logs or who responds after hours.”</a:t>
            </a:r>
          </a:p>
        </p:txBody>
      </p:sp>
      <p:sp>
        <p:nvSpPr>
          <p:cNvPr id="13" name="evidence-label">
            <a:extLst xmlns:a="http://schemas.openxmlformats.org/drawingml/2006/main">
              <a:ext uri="{FF2B5EF4-FFF2-40B4-BE49-F238E27FC236}">
                <a16:creationId xmlns:a16="http://schemas.microsoft.com/office/drawing/2014/main" id="{8C21F1B2-033C-4B07-AC5E-5E8ABBF2FA7D}"/>
              </a:ext>
            </a:extLst>
          </p:cNvPr>
          <p:cNvSpPr>
            <a:spLocks xmlns:a="http://schemas.openxmlformats.org/drawingml/2006/main" noGrp="1"/>
          </p:cNvSpPr>
          <p:nvPr/>
        </p:nvSpPr>
        <p:spPr>
          <a:xfrm xmlns:a="http://schemas.openxmlformats.org/drawingml/2006/main">
            <a:off x="6572250" y="5410200"/>
            <a:ext cx="4933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350" b="1">
                <a:solidFill>
                  <a:srgbClr val="6CD8C9"/>
                </a:solidFill>
                <a:latin typeface="Inter"/>
                <a:ea typeface="Inter"/>
                <a:cs typeface="Inter"/>
              </a:defRPr>
            </a:defPPr>
          </a:lstStyle>
          <a:p xmlns:a="http://schemas.openxmlformats.org/drawingml/2006/main">
            <a:pPr>
              <a:defRPr sz="1350" b="1">
                <a:solidFill>
                  <a:srgbClr val="6CD8C9"/>
                </a:solidFill>
                <a:latin typeface="Inter"/>
                <a:ea typeface="Inter"/>
                <a:cs typeface="Inter"/>
              </a:defRPr>
            </a:pPr>
            <a:r>
              <a:rPr sz="1350" b="1">
                <a:solidFill>
                  <a:srgbClr val="6CD8C9"/>
                </a:solidFill>
                <a:latin typeface="Inter"/>
                <a:ea typeface="Inter"/>
                <a:cs typeface="Inter"/>
              </a:rPr>
              <a:t>EVIDENCE TO DISCUSS</a:t>
            </a:r>
          </a:p>
        </p:txBody>
      </p:sp>
      <p:sp>
        <p:nvSpPr>
          <p:cNvPr id="14" name="evidence">
            <a:extLst xmlns:a="http://schemas.openxmlformats.org/drawingml/2006/main">
              <a:ext uri="{FF2B5EF4-FFF2-40B4-BE49-F238E27FC236}">
                <a16:creationId xmlns:a16="http://schemas.microsoft.com/office/drawing/2014/main" id="{3E8052B7-97FA-41F0-B809-60154FEF18F2}"/>
              </a:ext>
            </a:extLst>
          </p:cNvPr>
          <p:cNvSpPr>
            <a:spLocks xmlns:a="http://schemas.openxmlformats.org/drawingml/2006/main" noGrp="1"/>
          </p:cNvSpPr>
          <p:nvPr/>
        </p:nvSpPr>
        <p:spPr>
          <a:xfrm xmlns:a="http://schemas.openxmlformats.org/drawingml/2006/main">
            <a:off x="6572250" y="5762625"/>
            <a:ext cx="493395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725" b="0">
                <a:solidFill>
                  <a:srgbClr val="D7E2DF"/>
                </a:solidFill>
                <a:latin typeface="Inter"/>
                <a:ea typeface="Inter"/>
                <a:cs typeface="Inter"/>
              </a:defRPr>
            </a:defPPr>
          </a:lstStyle>
          <a:p xmlns:a="http://schemas.openxmlformats.org/drawingml/2006/main">
            <a:pPr>
              <a:defRPr sz="1725" b="0">
                <a:solidFill>
                  <a:srgbClr val="D7E2DF"/>
                </a:solidFill>
                <a:latin typeface="Inter"/>
                <a:ea typeface="Inter"/>
                <a:cs typeface="Inter"/>
              </a:defRPr>
            </a:pPr>
            <a:r>
              <a:rPr sz="1725" b="0">
                <a:solidFill>
                  <a:srgbClr val="D7E2DF"/>
                </a:solidFill>
                <a:latin typeface="Inter"/>
                <a:ea typeface="Inter"/>
                <a:cs typeface="Inter"/>
              </a:rPr>
              <a:t>Central logging coverage</a:t>
            </a:r>
          </a:p>
          <a:p xmlns:a="http://schemas.openxmlformats.org/drawingml/2006/main">
            <a:pPr>
              <a:defRPr sz="1725" b="0">
                <a:solidFill>
                  <a:srgbClr val="D7E2DF"/>
                </a:solidFill>
                <a:latin typeface="Inter"/>
                <a:ea typeface="Inter"/>
                <a:cs typeface="Inter"/>
              </a:defRPr>
            </a:pPr>
            <a:r>
              <a:rPr sz="1725" b="0">
                <a:solidFill>
                  <a:srgbClr val="D7E2DF"/>
                </a:solidFill>
                <a:latin typeface="Inter"/>
                <a:ea typeface="Inter"/>
                <a:cs typeface="Inter"/>
              </a:rPr>
              <a:t>Alert-to-ticket and response samples</a:t>
            </a:r>
          </a:p>
        </p:txBody>
      </p:sp>
    </p:spTree>
    <p:extLst>
      <p:ext uri="{BB962C8B-B14F-4D97-AF65-F5344CB8AC3E}">
        <p14:creationId xmlns:p14="http://schemas.microsoft.com/office/powerpoint/2010/main" val="1495340832"/>
      </p:ext>
    </p:extLst>
  </p:cSld>
</p:sld>
</file>

<file path=ppt/slides/slide11.xml><?xml version="1.0" encoding="utf-8"?>
<p:sld xmlns:p="http://schemas.openxmlformats.org/presentationml/2006/main">
  <p:cSld>
    <p:bg>
      <p:bgPr>
        <a:solidFill xmlns:a="http://schemas.openxmlformats.org/drawingml/2006/main">
          <a:srgbClr val="08100F"/>
        </a:solidFill>
      </p:bgPr>
    </p:bg>
    <p:spTree>
      <p:nvGrpSpPr>
        <p:cNvPr id="1" name=""/>
        <p:cNvGrpSpPr/>
        <p:nvPr/>
      </p:nvGrpSpPr>
      <p:grpSpPr>
        <a:xfrm xmlns:a="http://schemas.openxmlformats.org/drawingml/2006/main"/>
      </p:grpSpPr>
      <p:sp>
        <p:nvSpPr>
          <p:cNvPr id="15" name="brand">
            <a:extLst xmlns:a="http://schemas.openxmlformats.org/drawingml/2006/main">
              <a:ext uri="{FF2B5EF4-FFF2-40B4-BE49-F238E27FC236}">
                <a16:creationId xmlns:a16="http://schemas.microsoft.com/office/drawing/2014/main" id="{AE2F981D-3EF8-42AA-BF35-9EA016A4C0EB}"/>
              </a:ext>
            </a:extLst>
          </p:cNvPr>
          <p:cNvSpPr>
            <a:spLocks xmlns:a="http://schemas.openxmlformats.org/drawingml/2006/main" noGrp="1"/>
          </p:cNvSpPr>
          <p:nvPr/>
        </p:nvSpPr>
        <p:spPr>
          <a:xfrm xmlns:a="http://schemas.openxmlformats.org/drawingml/2006/main">
            <a:off x="685800" y="323850"/>
            <a:ext cx="2952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00" b="1">
                <a:solidFill>
                  <a:srgbClr val="F6FAF9"/>
                </a:solidFill>
                <a:latin typeface="Inter"/>
                <a:ea typeface="Inter"/>
                <a:cs typeface="Inter"/>
              </a:defRPr>
            </a:defPPr>
          </a:lstStyle>
          <a:p xmlns:a="http://schemas.openxmlformats.org/drawingml/2006/main">
            <a:pPr>
              <a:defRPr sz="1800" b="1">
                <a:solidFill>
                  <a:srgbClr val="F6FAF9"/>
                </a:solidFill>
                <a:latin typeface="Inter"/>
                <a:ea typeface="Inter"/>
                <a:cs typeface="Inter"/>
              </a:defRPr>
            </a:pPr>
            <a:r>
              <a:rPr sz="1800" b="1">
                <a:solidFill>
                  <a:srgbClr val="F6FAF9"/>
                </a:solidFill>
                <a:latin typeface="Inter"/>
                <a:ea typeface="Inter"/>
                <a:cs typeface="Inter"/>
              </a:rPr>
              <a:t>NO FRIES</a:t>
            </a:r>
          </a:p>
        </p:txBody>
      </p:sp>
      <p:sp>
        <p:nvSpPr>
          <p:cNvPr id="2" name="section">
            <a:extLst xmlns:a="http://schemas.openxmlformats.org/drawingml/2006/main">
              <a:ext uri="{FF2B5EF4-FFF2-40B4-BE49-F238E27FC236}">
                <a16:creationId xmlns:a16="http://schemas.microsoft.com/office/drawing/2014/main" id="{358DA436-C03C-43B1-9C8F-54102AE64B7A}"/>
              </a:ext>
            </a:extLst>
          </p:cNvPr>
          <p:cNvSpPr>
            <a:spLocks xmlns:a="http://schemas.openxmlformats.org/drawingml/2006/main" noGrp="1"/>
          </p:cNvSpPr>
          <p:nvPr/>
        </p:nvSpPr>
        <p:spPr>
          <a:xfrm xmlns:a="http://schemas.openxmlformats.org/drawingml/2006/main">
            <a:off x="5524500" y="371475"/>
            <a:ext cx="59817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1">
                <a:solidFill>
                  <a:srgbClr val="6CD8C9"/>
                </a:solidFill>
                <a:latin typeface="Inter"/>
                <a:ea typeface="Inter"/>
                <a:cs typeface="Inter"/>
              </a:defRPr>
            </a:defPPr>
          </a:lstStyle>
          <a:p xmlns:a="http://schemas.openxmlformats.org/drawingml/2006/main">
            <a:pPr algn="r">
              <a:defRPr sz="1200" b="1">
                <a:solidFill>
                  <a:srgbClr val="6CD8C9"/>
                </a:solidFill>
                <a:latin typeface="Inter"/>
                <a:ea typeface="Inter"/>
                <a:cs typeface="Inter"/>
              </a:defRPr>
            </a:pPr>
            <a:r>
              <a:rPr sz="1200" b="1">
                <a:solidFill>
                  <a:srgbClr val="6CD8C9"/>
                </a:solidFill>
                <a:latin typeface="Inter"/>
                <a:ea typeface="Inter"/>
                <a:cs typeface="Inter"/>
              </a:rPr>
              <a:t>QUESTION 08 / 14</a:t>
            </a:r>
          </a:p>
        </p:txBody>
      </p:sp>
      <p:sp>
        <p:nvSpPr>
          <p:cNvPr id="3" name="page">
            <a:extLst xmlns:a="http://schemas.openxmlformats.org/drawingml/2006/main">
              <a:ext uri="{FF2B5EF4-FFF2-40B4-BE49-F238E27FC236}">
                <a16:creationId xmlns:a16="http://schemas.microsoft.com/office/drawing/2014/main" id="{FD36F522-6E6D-4074-A75F-85A026DD8E1B}"/>
              </a:ext>
            </a:extLst>
          </p:cNvPr>
          <p:cNvSpPr>
            <a:spLocks xmlns:a="http://schemas.openxmlformats.org/drawingml/2006/main" noGrp="1"/>
          </p:cNvSpPr>
          <p:nvPr/>
        </p:nvSpPr>
        <p:spPr>
          <a:xfrm xmlns:a="http://schemas.openxmlformats.org/drawingml/2006/main">
            <a:off x="10934700" y="6429375"/>
            <a:ext cx="5715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A9BBB7"/>
                </a:solidFill>
                <a:latin typeface="Inter"/>
                <a:ea typeface="Inter"/>
                <a:cs typeface="Inter"/>
              </a:defRPr>
            </a:defPPr>
          </a:lstStyle>
          <a:p xmlns:a="http://schemas.openxmlformats.org/drawingml/2006/main">
            <a:pPr algn="r">
              <a:defRPr sz="1200" b="0">
                <a:solidFill>
                  <a:srgbClr val="A9BBB7"/>
                </a:solidFill>
                <a:latin typeface="Inter"/>
                <a:ea typeface="Inter"/>
                <a:cs typeface="Inter"/>
              </a:defRPr>
            </a:pPr>
            <a:r>
              <a:rPr sz="1200" b="0">
                <a:solidFill>
                  <a:srgbClr val="A9BBB7"/>
                </a:solidFill>
                <a:latin typeface="Inter"/>
                <a:ea typeface="Inter"/>
                <a:cs typeface="Inter"/>
              </a:rPr>
              <a:t>11</a:t>
            </a:r>
          </a:p>
        </p:txBody>
      </p:sp>
      <p:sp>
        <p:nvSpPr>
          <p:cNvPr id="4" name="question-id">
            <a:extLst xmlns:a="http://schemas.openxmlformats.org/drawingml/2006/main">
              <a:ext uri="{FF2B5EF4-FFF2-40B4-BE49-F238E27FC236}">
                <a16:creationId xmlns:a16="http://schemas.microsoft.com/office/drawing/2014/main" id="{967017AD-5D61-4170-8267-9B00E78B0B8D}"/>
              </a:ext>
            </a:extLst>
          </p:cNvPr>
          <p:cNvSpPr>
            <a:spLocks xmlns:a="http://schemas.openxmlformats.org/drawingml/2006/main" noGrp="1"/>
          </p:cNvSpPr>
          <p:nvPr/>
        </p:nvSpPr>
        <p:spPr>
          <a:xfrm xmlns:a="http://schemas.openxmlformats.org/drawingml/2006/main">
            <a:off x="685800" y="828675"/>
            <a:ext cx="52387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00" b="0">
                <a:solidFill>
                  <a:srgbClr val="A9BBB7"/>
                </a:solidFill>
                <a:latin typeface="Inter"/>
                <a:ea typeface="Inter"/>
                <a:cs typeface="Inter"/>
              </a:defRPr>
            </a:defPPr>
          </a:lstStyle>
          <a:p xmlns:a="http://schemas.openxmlformats.org/drawingml/2006/main">
            <a:pPr>
              <a:defRPr sz="1200" b="0">
                <a:solidFill>
                  <a:srgbClr val="A9BBB7"/>
                </a:solidFill>
                <a:latin typeface="Inter"/>
                <a:ea typeface="Inter"/>
                <a:cs typeface="Inter"/>
              </a:defRPr>
            </a:pPr>
            <a:r>
              <a:rPr sz="1200" b="0">
                <a:solidFill>
                  <a:srgbClr val="A9BBB7"/>
                </a:solidFill>
                <a:latin typeface="Inter"/>
                <a:ea typeface="Inter"/>
                <a:cs typeface="Inter"/>
              </a:rPr>
              <a:t>NF-NCSC-MCSS-LP-01-Q1</a:t>
            </a:r>
          </a:p>
        </p:txBody>
      </p:sp>
      <p:sp>
        <p:nvSpPr>
          <p:cNvPr id="5" name="function">
            <a:extLst xmlns:a="http://schemas.openxmlformats.org/drawingml/2006/main">
              <a:ext uri="{FF2B5EF4-FFF2-40B4-BE49-F238E27FC236}">
                <a16:creationId xmlns:a16="http://schemas.microsoft.com/office/drawing/2014/main" id="{7F98458D-45ED-4C86-9ABD-0B5ED80FD2B0}"/>
              </a:ext>
            </a:extLst>
          </p:cNvPr>
          <p:cNvSpPr>
            <a:spLocks xmlns:a="http://schemas.openxmlformats.org/drawingml/2006/main" noGrp="1"/>
          </p:cNvSpPr>
          <p:nvPr/>
        </p:nvSpPr>
        <p:spPr>
          <a:xfrm xmlns:a="http://schemas.openxmlformats.org/drawingml/2006/main">
            <a:off x="6524625" y="828675"/>
            <a:ext cx="4981575"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1">
                <a:solidFill>
                  <a:srgbClr val="6CD8C9"/>
                </a:solidFill>
                <a:latin typeface="Inter"/>
                <a:ea typeface="Inter"/>
                <a:cs typeface="Inter"/>
              </a:defRPr>
            </a:defPPr>
          </a:lstStyle>
          <a:p xmlns:a="http://schemas.openxmlformats.org/drawingml/2006/main">
            <a:pPr algn="r">
              <a:defRPr sz="1275" b="1">
                <a:solidFill>
                  <a:srgbClr val="6CD8C9"/>
                </a:solidFill>
                <a:latin typeface="Inter"/>
                <a:ea typeface="Inter"/>
                <a:cs typeface="Inter"/>
              </a:defRPr>
            </a:pPr>
            <a:r>
              <a:rPr sz="1275" b="1">
                <a:solidFill>
                  <a:srgbClr val="6CD8C9"/>
                </a:solidFill>
                <a:latin typeface="Inter"/>
                <a:ea typeface="Inter"/>
                <a:cs typeface="Inter"/>
              </a:rPr>
              <a:t>Prevent and Protect</a:t>
            </a:r>
          </a:p>
        </p:txBody>
      </p:sp>
      <p:sp>
        <p:nvSpPr>
          <p:cNvPr id="6" name="question-prompt">
            <a:extLst xmlns:a="http://schemas.openxmlformats.org/drawingml/2006/main">
              <a:ext uri="{FF2B5EF4-FFF2-40B4-BE49-F238E27FC236}">
                <a16:creationId xmlns:a16="http://schemas.microsoft.com/office/drawing/2014/main" id="{28F513EC-D7D5-4162-A9E7-6ADFD02A4C49}"/>
              </a:ext>
            </a:extLst>
          </p:cNvPr>
          <p:cNvSpPr>
            <a:spLocks xmlns:a="http://schemas.openxmlformats.org/drawingml/2006/main" noGrp="1"/>
          </p:cNvSpPr>
          <p:nvPr/>
        </p:nvSpPr>
        <p:spPr>
          <a:xfrm xmlns:a="http://schemas.openxmlformats.org/drawingml/2006/main">
            <a:off x="685800" y="1285875"/>
            <a:ext cx="10820400" cy="1390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000" b="1">
                <a:solidFill>
                  <a:srgbClr val="F6FAF9"/>
                </a:solidFill>
                <a:latin typeface="Inter"/>
                <a:ea typeface="Inter"/>
                <a:cs typeface="Inter"/>
              </a:defRPr>
            </a:defPPr>
          </a:lstStyle>
          <a:p xmlns:a="http://schemas.openxmlformats.org/drawingml/2006/main">
            <a:pPr>
              <a:defRPr sz="3000" b="1">
                <a:solidFill>
                  <a:srgbClr val="F6FAF9"/>
                </a:solidFill>
                <a:latin typeface="Inter"/>
                <a:ea typeface="Inter"/>
                <a:cs typeface="Inter"/>
              </a:defRPr>
            </a:pPr>
            <a:r>
              <a:rPr sz="3000" b="1">
                <a:solidFill>
                  <a:srgbClr val="F6FAF9"/>
                </a:solidFill>
                <a:latin typeface="Inter"/>
                <a:ea typeface="Inter"/>
                <a:cs typeface="Inter"/>
              </a:rPr>
              <a:t>Is access limited to what each person needs, with separate privileged accounts and repeatable joiner, mover, leaver and review processes?</a:t>
            </a:r>
          </a:p>
        </p:txBody>
      </p:sp>
      <p:sp>
        <p:nvSpPr>
          <p:cNvPr id="7" name="meaning-label">
            <a:extLst xmlns:a="http://schemas.openxmlformats.org/drawingml/2006/main">
              <a:ext uri="{FF2B5EF4-FFF2-40B4-BE49-F238E27FC236}">
                <a16:creationId xmlns:a16="http://schemas.microsoft.com/office/drawing/2014/main" id="{47EF4E68-3DCC-4000-A6DF-7888BA446017}"/>
              </a:ext>
            </a:extLst>
          </p:cNvPr>
          <p:cNvSpPr>
            <a:spLocks xmlns:a="http://schemas.openxmlformats.org/drawingml/2006/main" noGrp="1"/>
          </p:cNvSpPr>
          <p:nvPr/>
        </p:nvSpPr>
        <p:spPr>
          <a:xfrm xmlns:a="http://schemas.openxmlformats.org/drawingml/2006/main">
            <a:off x="685800" y="2990850"/>
            <a:ext cx="50101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350" b="1">
                <a:solidFill>
                  <a:srgbClr val="6CD8C9"/>
                </a:solidFill>
                <a:latin typeface="Inter"/>
                <a:ea typeface="Inter"/>
                <a:cs typeface="Inter"/>
              </a:defRPr>
            </a:defPPr>
          </a:lstStyle>
          <a:p xmlns:a="http://schemas.openxmlformats.org/drawingml/2006/main">
            <a:pPr>
              <a:defRPr sz="1350" b="1">
                <a:solidFill>
                  <a:srgbClr val="6CD8C9"/>
                </a:solidFill>
                <a:latin typeface="Inter"/>
                <a:ea typeface="Inter"/>
                <a:cs typeface="Inter"/>
              </a:defRPr>
            </a:pPr>
            <a:r>
              <a:rPr sz="1350" b="1">
                <a:solidFill>
                  <a:srgbClr val="6CD8C9"/>
                </a:solidFill>
                <a:latin typeface="Inter"/>
                <a:ea typeface="Inter"/>
                <a:cs typeface="Inter"/>
              </a:rPr>
              <a:t>WHAT THIS MEANS</a:t>
            </a:r>
          </a:p>
        </p:txBody>
      </p:sp>
      <p:sp>
        <p:nvSpPr>
          <p:cNvPr id="8" name="meaning">
            <a:extLst xmlns:a="http://schemas.openxmlformats.org/drawingml/2006/main">
              <a:ext uri="{FF2B5EF4-FFF2-40B4-BE49-F238E27FC236}">
                <a16:creationId xmlns:a16="http://schemas.microsoft.com/office/drawing/2014/main" id="{30002363-0928-4268-8A42-20EE2D6C96CD}"/>
              </a:ext>
            </a:extLst>
          </p:cNvPr>
          <p:cNvSpPr>
            <a:spLocks xmlns:a="http://schemas.openxmlformats.org/drawingml/2006/main" noGrp="1"/>
          </p:cNvSpPr>
          <p:nvPr/>
        </p:nvSpPr>
        <p:spPr>
          <a:xfrm xmlns:a="http://schemas.openxmlformats.org/drawingml/2006/main">
            <a:off x="685800" y="3343275"/>
            <a:ext cx="5010150" cy="1228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950" b="0">
                <a:solidFill>
                  <a:srgbClr val="D7E2DF"/>
                </a:solidFill>
                <a:latin typeface="Inter"/>
                <a:ea typeface="Inter"/>
                <a:cs typeface="Inter"/>
              </a:defRPr>
            </a:defPPr>
          </a:lstStyle>
          <a:p xmlns:a="http://schemas.openxmlformats.org/drawingml/2006/main">
            <a:pPr>
              <a:defRPr sz="1950" b="0">
                <a:solidFill>
                  <a:srgbClr val="D7E2DF"/>
                </a:solidFill>
                <a:latin typeface="Inter"/>
                <a:ea typeface="Inter"/>
                <a:cs typeface="Inter"/>
              </a:defRPr>
            </a:pPr>
            <a:r>
              <a:rPr sz="1950" b="0">
                <a:solidFill>
                  <a:srgbClr val="D7E2DF"/>
                </a:solidFill>
                <a:latin typeface="Inter"/>
                <a:ea typeface="Inter"/>
                <a:cs typeface="Inter"/>
              </a:rPr>
              <a:t>People receive only the access they need. Administrator access stays separate, and access changes when people join, move or leave.</a:t>
            </a:r>
          </a:p>
        </p:txBody>
      </p:sp>
      <p:sp>
        <p:nvSpPr>
          <p:cNvPr id="9" name="why-label">
            <a:extLst xmlns:a="http://schemas.openxmlformats.org/drawingml/2006/main">
              <a:ext uri="{FF2B5EF4-FFF2-40B4-BE49-F238E27FC236}">
                <a16:creationId xmlns:a16="http://schemas.microsoft.com/office/drawing/2014/main" id="{85FC4732-95EA-48FB-808B-348D84D0965C}"/>
              </a:ext>
            </a:extLst>
          </p:cNvPr>
          <p:cNvSpPr>
            <a:spLocks xmlns:a="http://schemas.openxmlformats.org/drawingml/2006/main" noGrp="1"/>
          </p:cNvSpPr>
          <p:nvPr/>
        </p:nvSpPr>
        <p:spPr>
          <a:xfrm xmlns:a="http://schemas.openxmlformats.org/drawingml/2006/main">
            <a:off x="685800" y="4714875"/>
            <a:ext cx="50101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350" b="1">
                <a:solidFill>
                  <a:srgbClr val="6CD8C9"/>
                </a:solidFill>
                <a:latin typeface="Inter"/>
                <a:ea typeface="Inter"/>
                <a:cs typeface="Inter"/>
              </a:defRPr>
            </a:defPPr>
          </a:lstStyle>
          <a:p xmlns:a="http://schemas.openxmlformats.org/drawingml/2006/main">
            <a:pPr>
              <a:defRPr sz="1350" b="1">
                <a:solidFill>
                  <a:srgbClr val="6CD8C9"/>
                </a:solidFill>
                <a:latin typeface="Inter"/>
                <a:ea typeface="Inter"/>
                <a:cs typeface="Inter"/>
              </a:defRPr>
            </a:pPr>
            <a:r>
              <a:rPr sz="1350" b="1">
                <a:solidFill>
                  <a:srgbClr val="6CD8C9"/>
                </a:solidFill>
                <a:latin typeface="Inter"/>
                <a:ea typeface="Inter"/>
                <a:cs typeface="Inter"/>
              </a:rPr>
              <a:t>WHY IT MATTERS</a:t>
            </a:r>
          </a:p>
        </p:txBody>
      </p:sp>
      <p:sp>
        <p:nvSpPr>
          <p:cNvPr id="10" name="why">
            <a:extLst xmlns:a="http://schemas.openxmlformats.org/drawingml/2006/main">
              <a:ext uri="{FF2B5EF4-FFF2-40B4-BE49-F238E27FC236}">
                <a16:creationId xmlns:a16="http://schemas.microsoft.com/office/drawing/2014/main" id="{9FD91DEF-26DA-4998-81C0-ABFD8EB95D11}"/>
              </a:ext>
            </a:extLst>
          </p:cNvPr>
          <p:cNvSpPr>
            <a:spLocks xmlns:a="http://schemas.openxmlformats.org/drawingml/2006/main" noGrp="1"/>
          </p:cNvSpPr>
          <p:nvPr/>
        </p:nvSpPr>
        <p:spPr>
          <a:xfrm xmlns:a="http://schemas.openxmlformats.org/drawingml/2006/main">
            <a:off x="685800" y="5067300"/>
            <a:ext cx="50101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00" b="0">
                <a:solidFill>
                  <a:srgbClr val="D7E2DF"/>
                </a:solidFill>
                <a:latin typeface="Inter"/>
                <a:ea typeface="Inter"/>
                <a:cs typeface="Inter"/>
              </a:defRPr>
            </a:defPPr>
          </a:lstStyle>
          <a:p xmlns:a="http://schemas.openxmlformats.org/drawingml/2006/main">
            <a:pPr>
              <a:defRPr sz="1800" b="0">
                <a:solidFill>
                  <a:srgbClr val="D7E2DF"/>
                </a:solidFill>
                <a:latin typeface="Inter"/>
                <a:ea typeface="Inter"/>
                <a:cs typeface="Inter"/>
              </a:defRPr>
            </a:pPr>
            <a:r>
              <a:rPr sz="1800" b="0">
                <a:solidFill>
                  <a:srgbClr val="D7E2DF"/>
                </a:solidFill>
                <a:latin typeface="Inter"/>
                <a:ea typeface="Inter"/>
                <a:cs typeface="Inter"/>
              </a:rPr>
              <a:t>Limited access reduces accidental changes and the reach of a compromised account.</a:t>
            </a:r>
          </a:p>
        </p:txBody>
      </p:sp>
      <p:sp>
        <p:nvSpPr>
          <p:cNvPr id="11" name="example-label">
            <a:extLst xmlns:a="http://schemas.openxmlformats.org/drawingml/2006/main">
              <a:ext uri="{FF2B5EF4-FFF2-40B4-BE49-F238E27FC236}">
                <a16:creationId xmlns:a16="http://schemas.microsoft.com/office/drawing/2014/main" id="{91629806-A183-49B4-888F-08C61B0174C5}"/>
              </a:ext>
            </a:extLst>
          </p:cNvPr>
          <p:cNvSpPr>
            <a:spLocks xmlns:a="http://schemas.openxmlformats.org/drawingml/2006/main" noGrp="1"/>
          </p:cNvSpPr>
          <p:nvPr/>
        </p:nvSpPr>
        <p:spPr>
          <a:xfrm xmlns:a="http://schemas.openxmlformats.org/drawingml/2006/main">
            <a:off x="6572250" y="2990850"/>
            <a:ext cx="4933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350" b="1">
                <a:solidFill>
                  <a:srgbClr val="6CD8C9"/>
                </a:solidFill>
                <a:latin typeface="Inter"/>
                <a:ea typeface="Inter"/>
                <a:cs typeface="Inter"/>
              </a:defRPr>
            </a:defPPr>
          </a:lstStyle>
          <a:p xmlns:a="http://schemas.openxmlformats.org/drawingml/2006/main">
            <a:pPr>
              <a:defRPr sz="1350" b="1">
                <a:solidFill>
                  <a:srgbClr val="6CD8C9"/>
                </a:solidFill>
                <a:latin typeface="Inter"/>
                <a:ea typeface="Inter"/>
                <a:cs typeface="Inter"/>
              </a:defRPr>
            </a:pPr>
            <a:r>
              <a:rPr sz="1350" b="1">
                <a:solidFill>
                  <a:srgbClr val="6CD8C9"/>
                </a:solidFill>
                <a:latin typeface="Inter"/>
                <a:ea typeface="Inter"/>
                <a:cs typeface="Inter"/>
              </a:rPr>
              <a:t>EXAMPLE ANSWER: PARTIAL</a:t>
            </a:r>
          </a:p>
        </p:txBody>
      </p:sp>
      <p:sp>
        <p:nvSpPr>
          <p:cNvPr id="12" name="example">
            <a:extLst xmlns:a="http://schemas.openxmlformats.org/drawingml/2006/main">
              <a:ext uri="{FF2B5EF4-FFF2-40B4-BE49-F238E27FC236}">
                <a16:creationId xmlns:a16="http://schemas.microsoft.com/office/drawing/2014/main" id="{B9E47BF2-E464-490C-830D-ECE8B47685D9}"/>
              </a:ext>
            </a:extLst>
          </p:cNvPr>
          <p:cNvSpPr>
            <a:spLocks xmlns:a="http://schemas.openxmlformats.org/drawingml/2006/main" noGrp="1"/>
          </p:cNvSpPr>
          <p:nvPr/>
        </p:nvSpPr>
        <p:spPr>
          <a:xfrm xmlns:a="http://schemas.openxmlformats.org/drawingml/2006/main">
            <a:off x="6572250" y="3343275"/>
            <a:ext cx="4933950" cy="1943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00" b="0">
                <a:solidFill>
                  <a:srgbClr val="F6FAF9"/>
                </a:solidFill>
                <a:latin typeface="Inter"/>
                <a:ea typeface="Inter"/>
                <a:cs typeface="Inter"/>
              </a:defRPr>
            </a:defPPr>
          </a:lstStyle>
          <a:p xmlns:a="http://schemas.openxmlformats.org/drawingml/2006/main">
            <a:pPr>
              <a:defRPr sz="2100" b="0">
                <a:solidFill>
                  <a:srgbClr val="F6FAF9"/>
                </a:solidFill>
                <a:latin typeface="Inter"/>
                <a:ea typeface="Inter"/>
                <a:cs typeface="Inter"/>
              </a:defRPr>
            </a:pPr>
            <a:r>
              <a:rPr sz="2100" b="0">
                <a:solidFill>
                  <a:srgbClr val="F6FAF9"/>
                </a:solidFill>
                <a:latin typeface="Inter"/>
                <a:ea typeface="Inter"/>
                <a:cs typeface="Inter"/>
              </a:rPr>
              <a:t>“Leavers lose access promptly. Some staff still use administrator accounts for daily work, and reviews are irregular.”</a:t>
            </a:r>
          </a:p>
        </p:txBody>
      </p:sp>
      <p:sp>
        <p:nvSpPr>
          <p:cNvPr id="13" name="evidence-label">
            <a:extLst xmlns:a="http://schemas.openxmlformats.org/drawingml/2006/main">
              <a:ext uri="{FF2B5EF4-FFF2-40B4-BE49-F238E27FC236}">
                <a16:creationId xmlns:a16="http://schemas.microsoft.com/office/drawing/2014/main" id="{873CEED4-B165-44C2-80BC-6AED3ACD4EF5}"/>
              </a:ext>
            </a:extLst>
          </p:cNvPr>
          <p:cNvSpPr>
            <a:spLocks xmlns:a="http://schemas.openxmlformats.org/drawingml/2006/main" noGrp="1"/>
          </p:cNvSpPr>
          <p:nvPr/>
        </p:nvSpPr>
        <p:spPr>
          <a:xfrm xmlns:a="http://schemas.openxmlformats.org/drawingml/2006/main">
            <a:off x="6572250" y="5410200"/>
            <a:ext cx="4933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350" b="1">
                <a:solidFill>
                  <a:srgbClr val="6CD8C9"/>
                </a:solidFill>
                <a:latin typeface="Inter"/>
                <a:ea typeface="Inter"/>
                <a:cs typeface="Inter"/>
              </a:defRPr>
            </a:defPPr>
          </a:lstStyle>
          <a:p xmlns:a="http://schemas.openxmlformats.org/drawingml/2006/main">
            <a:pPr>
              <a:defRPr sz="1350" b="1">
                <a:solidFill>
                  <a:srgbClr val="6CD8C9"/>
                </a:solidFill>
                <a:latin typeface="Inter"/>
                <a:ea typeface="Inter"/>
                <a:cs typeface="Inter"/>
              </a:defRPr>
            </a:pPr>
            <a:r>
              <a:rPr sz="1350" b="1">
                <a:solidFill>
                  <a:srgbClr val="6CD8C9"/>
                </a:solidFill>
                <a:latin typeface="Inter"/>
                <a:ea typeface="Inter"/>
                <a:cs typeface="Inter"/>
              </a:rPr>
              <a:t>EVIDENCE TO DISCUSS</a:t>
            </a:r>
          </a:p>
        </p:txBody>
      </p:sp>
      <p:sp>
        <p:nvSpPr>
          <p:cNvPr id="14" name="evidence">
            <a:extLst xmlns:a="http://schemas.openxmlformats.org/drawingml/2006/main">
              <a:ext uri="{FF2B5EF4-FFF2-40B4-BE49-F238E27FC236}">
                <a16:creationId xmlns:a16="http://schemas.microsoft.com/office/drawing/2014/main" id="{C78032E2-4E74-47F6-9F20-0EF48313FD39}"/>
              </a:ext>
            </a:extLst>
          </p:cNvPr>
          <p:cNvSpPr>
            <a:spLocks xmlns:a="http://schemas.openxmlformats.org/drawingml/2006/main" noGrp="1"/>
          </p:cNvSpPr>
          <p:nvPr/>
        </p:nvSpPr>
        <p:spPr>
          <a:xfrm xmlns:a="http://schemas.openxmlformats.org/drawingml/2006/main">
            <a:off x="6572250" y="5762625"/>
            <a:ext cx="493395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725" b="0">
                <a:solidFill>
                  <a:srgbClr val="D7E2DF"/>
                </a:solidFill>
                <a:latin typeface="Inter"/>
                <a:ea typeface="Inter"/>
                <a:cs typeface="Inter"/>
              </a:defRPr>
            </a:defPPr>
          </a:lstStyle>
          <a:p xmlns:a="http://schemas.openxmlformats.org/drawingml/2006/main">
            <a:pPr>
              <a:defRPr sz="1725" b="0">
                <a:solidFill>
                  <a:srgbClr val="D7E2DF"/>
                </a:solidFill>
                <a:latin typeface="Inter"/>
                <a:ea typeface="Inter"/>
                <a:cs typeface="Inter"/>
              </a:defRPr>
            </a:pPr>
            <a:r>
              <a:rPr sz="1725" b="0">
                <a:solidFill>
                  <a:srgbClr val="D7E2DF"/>
                </a:solidFill>
                <a:latin typeface="Inter"/>
                <a:ea typeface="Inter"/>
                <a:cs typeface="Inter"/>
              </a:rPr>
              <a:t>Access review</a:t>
            </a:r>
          </a:p>
          <a:p xmlns:a="http://schemas.openxmlformats.org/drawingml/2006/main">
            <a:pPr>
              <a:defRPr sz="1725" b="0">
                <a:solidFill>
                  <a:srgbClr val="D7E2DF"/>
                </a:solidFill>
                <a:latin typeface="Inter"/>
                <a:ea typeface="Inter"/>
                <a:cs typeface="Inter"/>
              </a:defRPr>
            </a:pPr>
            <a:r>
              <a:rPr sz="1725" b="0">
                <a:solidFill>
                  <a:srgbClr val="D7E2DF"/>
                </a:solidFill>
                <a:latin typeface="Inter"/>
                <a:ea typeface="Inter"/>
                <a:cs typeface="Inter"/>
              </a:rPr>
              <a:t>Joiner-mover-leaver records</a:t>
            </a:r>
          </a:p>
        </p:txBody>
      </p:sp>
    </p:spTree>
    <p:extLst>
      <p:ext uri="{BB962C8B-B14F-4D97-AF65-F5344CB8AC3E}">
        <p14:creationId xmlns:p14="http://schemas.microsoft.com/office/powerpoint/2010/main" val="2050985386"/>
      </p:ext>
    </p:extLst>
  </p:cSld>
</p:sld>
</file>

<file path=ppt/slides/slide12.xml><?xml version="1.0" encoding="utf-8"?>
<p:sld xmlns:p="http://schemas.openxmlformats.org/presentationml/2006/main">
  <p:cSld>
    <p:bg>
      <p:bgPr>
        <a:solidFill xmlns:a="http://schemas.openxmlformats.org/drawingml/2006/main">
          <a:srgbClr val="08100F"/>
        </a:solidFill>
      </p:bgPr>
    </p:bg>
    <p:spTree>
      <p:nvGrpSpPr>
        <p:cNvPr id="1" name=""/>
        <p:cNvGrpSpPr/>
        <p:nvPr/>
      </p:nvGrpSpPr>
      <p:grpSpPr>
        <a:xfrm xmlns:a="http://schemas.openxmlformats.org/drawingml/2006/main"/>
      </p:grpSpPr>
      <p:sp>
        <p:nvSpPr>
          <p:cNvPr id="15" name="brand">
            <a:extLst xmlns:a="http://schemas.openxmlformats.org/drawingml/2006/main">
              <a:ext uri="{FF2B5EF4-FFF2-40B4-BE49-F238E27FC236}">
                <a16:creationId xmlns:a16="http://schemas.microsoft.com/office/drawing/2014/main" id="{C1AE4D55-9036-46A6-BECE-034E9F45A9D0}"/>
              </a:ext>
            </a:extLst>
          </p:cNvPr>
          <p:cNvSpPr>
            <a:spLocks xmlns:a="http://schemas.openxmlformats.org/drawingml/2006/main" noGrp="1"/>
          </p:cNvSpPr>
          <p:nvPr/>
        </p:nvSpPr>
        <p:spPr>
          <a:xfrm xmlns:a="http://schemas.openxmlformats.org/drawingml/2006/main">
            <a:off x="685800" y="323850"/>
            <a:ext cx="2952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00" b="1">
                <a:solidFill>
                  <a:srgbClr val="F6FAF9"/>
                </a:solidFill>
                <a:latin typeface="Inter"/>
                <a:ea typeface="Inter"/>
                <a:cs typeface="Inter"/>
              </a:defRPr>
            </a:defPPr>
          </a:lstStyle>
          <a:p xmlns:a="http://schemas.openxmlformats.org/drawingml/2006/main">
            <a:pPr>
              <a:defRPr sz="1800" b="1">
                <a:solidFill>
                  <a:srgbClr val="F6FAF9"/>
                </a:solidFill>
                <a:latin typeface="Inter"/>
                <a:ea typeface="Inter"/>
                <a:cs typeface="Inter"/>
              </a:defRPr>
            </a:pPr>
            <a:r>
              <a:rPr sz="1800" b="1">
                <a:solidFill>
                  <a:srgbClr val="F6FAF9"/>
                </a:solidFill>
                <a:latin typeface="Inter"/>
                <a:ea typeface="Inter"/>
                <a:cs typeface="Inter"/>
              </a:rPr>
              <a:t>NO FRIES</a:t>
            </a:r>
          </a:p>
        </p:txBody>
      </p:sp>
      <p:sp>
        <p:nvSpPr>
          <p:cNvPr id="2" name="section">
            <a:extLst xmlns:a="http://schemas.openxmlformats.org/drawingml/2006/main">
              <a:ext uri="{FF2B5EF4-FFF2-40B4-BE49-F238E27FC236}">
                <a16:creationId xmlns:a16="http://schemas.microsoft.com/office/drawing/2014/main" id="{E1DA26DD-9742-4B60-907D-D165AADB382E}"/>
              </a:ext>
            </a:extLst>
          </p:cNvPr>
          <p:cNvSpPr>
            <a:spLocks xmlns:a="http://schemas.openxmlformats.org/drawingml/2006/main" noGrp="1"/>
          </p:cNvSpPr>
          <p:nvPr/>
        </p:nvSpPr>
        <p:spPr>
          <a:xfrm xmlns:a="http://schemas.openxmlformats.org/drawingml/2006/main">
            <a:off x="5524500" y="371475"/>
            <a:ext cx="59817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1">
                <a:solidFill>
                  <a:srgbClr val="6CD8C9"/>
                </a:solidFill>
                <a:latin typeface="Inter"/>
                <a:ea typeface="Inter"/>
                <a:cs typeface="Inter"/>
              </a:defRPr>
            </a:defPPr>
          </a:lstStyle>
          <a:p xmlns:a="http://schemas.openxmlformats.org/drawingml/2006/main">
            <a:pPr algn="r">
              <a:defRPr sz="1200" b="1">
                <a:solidFill>
                  <a:srgbClr val="6CD8C9"/>
                </a:solidFill>
                <a:latin typeface="Inter"/>
                <a:ea typeface="Inter"/>
                <a:cs typeface="Inter"/>
              </a:defRPr>
            </a:pPr>
            <a:r>
              <a:rPr sz="1200" b="1">
                <a:solidFill>
                  <a:srgbClr val="6CD8C9"/>
                </a:solidFill>
                <a:latin typeface="Inter"/>
                <a:ea typeface="Inter"/>
                <a:cs typeface="Inter"/>
              </a:rPr>
              <a:t>QUESTION 09 / 14</a:t>
            </a:r>
          </a:p>
        </p:txBody>
      </p:sp>
      <p:sp>
        <p:nvSpPr>
          <p:cNvPr id="3" name="page">
            <a:extLst xmlns:a="http://schemas.openxmlformats.org/drawingml/2006/main">
              <a:ext uri="{FF2B5EF4-FFF2-40B4-BE49-F238E27FC236}">
                <a16:creationId xmlns:a16="http://schemas.microsoft.com/office/drawing/2014/main" id="{F67A1DB3-E53F-4F5D-BB4E-9B0723D65969}"/>
              </a:ext>
            </a:extLst>
          </p:cNvPr>
          <p:cNvSpPr>
            <a:spLocks xmlns:a="http://schemas.openxmlformats.org/drawingml/2006/main" noGrp="1"/>
          </p:cNvSpPr>
          <p:nvPr/>
        </p:nvSpPr>
        <p:spPr>
          <a:xfrm xmlns:a="http://schemas.openxmlformats.org/drawingml/2006/main">
            <a:off x="10934700" y="6429375"/>
            <a:ext cx="5715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A9BBB7"/>
                </a:solidFill>
                <a:latin typeface="Inter"/>
                <a:ea typeface="Inter"/>
                <a:cs typeface="Inter"/>
              </a:defRPr>
            </a:defPPr>
          </a:lstStyle>
          <a:p xmlns:a="http://schemas.openxmlformats.org/drawingml/2006/main">
            <a:pPr algn="r">
              <a:defRPr sz="1200" b="0">
                <a:solidFill>
                  <a:srgbClr val="A9BBB7"/>
                </a:solidFill>
                <a:latin typeface="Inter"/>
                <a:ea typeface="Inter"/>
                <a:cs typeface="Inter"/>
              </a:defRPr>
            </a:pPr>
            <a:r>
              <a:rPr sz="1200" b="0">
                <a:solidFill>
                  <a:srgbClr val="A9BBB7"/>
                </a:solidFill>
                <a:latin typeface="Inter"/>
                <a:ea typeface="Inter"/>
                <a:cs typeface="Inter"/>
              </a:rPr>
              <a:t>12</a:t>
            </a:r>
          </a:p>
        </p:txBody>
      </p:sp>
      <p:sp>
        <p:nvSpPr>
          <p:cNvPr id="4" name="question-id">
            <a:extLst xmlns:a="http://schemas.openxmlformats.org/drawingml/2006/main">
              <a:ext uri="{FF2B5EF4-FFF2-40B4-BE49-F238E27FC236}">
                <a16:creationId xmlns:a16="http://schemas.microsoft.com/office/drawing/2014/main" id="{3AC3CA90-AC1B-40EF-B95F-5FB2685485EC}"/>
              </a:ext>
            </a:extLst>
          </p:cNvPr>
          <p:cNvSpPr>
            <a:spLocks xmlns:a="http://schemas.openxmlformats.org/drawingml/2006/main" noGrp="1"/>
          </p:cNvSpPr>
          <p:nvPr/>
        </p:nvSpPr>
        <p:spPr>
          <a:xfrm xmlns:a="http://schemas.openxmlformats.org/drawingml/2006/main">
            <a:off x="685800" y="828675"/>
            <a:ext cx="52387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00" b="0">
                <a:solidFill>
                  <a:srgbClr val="A9BBB7"/>
                </a:solidFill>
                <a:latin typeface="Inter"/>
                <a:ea typeface="Inter"/>
                <a:cs typeface="Inter"/>
              </a:defRPr>
            </a:defPPr>
          </a:lstStyle>
          <a:p xmlns:a="http://schemas.openxmlformats.org/drawingml/2006/main">
            <a:pPr>
              <a:defRPr sz="1200" b="0">
                <a:solidFill>
                  <a:srgbClr val="A9BBB7"/>
                </a:solidFill>
                <a:latin typeface="Inter"/>
                <a:ea typeface="Inter"/>
                <a:cs typeface="Inter"/>
              </a:defRPr>
            </a:pPr>
            <a:r>
              <a:rPr sz="1200" b="0">
                <a:solidFill>
                  <a:srgbClr val="A9BBB7"/>
                </a:solidFill>
                <a:latin typeface="Inter"/>
                <a:ea typeface="Inter"/>
                <a:cs typeface="Inter"/>
              </a:rPr>
              <a:t>NF-NCSC-MCSS-DR-01-Q1</a:t>
            </a:r>
          </a:p>
        </p:txBody>
      </p:sp>
      <p:sp>
        <p:nvSpPr>
          <p:cNvPr id="5" name="function">
            <a:extLst xmlns:a="http://schemas.openxmlformats.org/drawingml/2006/main">
              <a:ext uri="{FF2B5EF4-FFF2-40B4-BE49-F238E27FC236}">
                <a16:creationId xmlns:a16="http://schemas.microsoft.com/office/drawing/2014/main" id="{8B989DAF-4A7B-47E8-B82D-142B43C66116}"/>
              </a:ext>
            </a:extLst>
          </p:cNvPr>
          <p:cNvSpPr>
            <a:spLocks xmlns:a="http://schemas.openxmlformats.org/drawingml/2006/main" noGrp="1"/>
          </p:cNvSpPr>
          <p:nvPr/>
        </p:nvSpPr>
        <p:spPr>
          <a:xfrm xmlns:a="http://schemas.openxmlformats.org/drawingml/2006/main">
            <a:off x="6524625" y="828675"/>
            <a:ext cx="4981575"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1">
                <a:solidFill>
                  <a:srgbClr val="6CD8C9"/>
                </a:solidFill>
                <a:latin typeface="Inter"/>
                <a:ea typeface="Inter"/>
                <a:cs typeface="Inter"/>
              </a:defRPr>
            </a:defPPr>
          </a:lstStyle>
          <a:p xmlns:a="http://schemas.openxmlformats.org/drawingml/2006/main">
            <a:pPr algn="r">
              <a:defRPr sz="1275" b="1">
                <a:solidFill>
                  <a:srgbClr val="6CD8C9"/>
                </a:solidFill>
                <a:latin typeface="Inter"/>
                <a:ea typeface="Inter"/>
                <a:cs typeface="Inter"/>
              </a:defRPr>
            </a:pPr>
            <a:r>
              <a:rPr sz="1275" b="1">
                <a:solidFill>
                  <a:srgbClr val="6CD8C9"/>
                </a:solidFill>
                <a:latin typeface="Inter"/>
                <a:ea typeface="Inter"/>
                <a:cs typeface="Inter"/>
              </a:rPr>
              <a:t>Respond and Recover</a:t>
            </a:r>
          </a:p>
        </p:txBody>
      </p:sp>
      <p:sp>
        <p:nvSpPr>
          <p:cNvPr id="6" name="question-prompt">
            <a:extLst xmlns:a="http://schemas.openxmlformats.org/drawingml/2006/main">
              <a:ext uri="{FF2B5EF4-FFF2-40B4-BE49-F238E27FC236}">
                <a16:creationId xmlns:a16="http://schemas.microsoft.com/office/drawing/2014/main" id="{D96A93EE-2BD3-4FBF-BC63-A0B3BA7E8E72}"/>
              </a:ext>
            </a:extLst>
          </p:cNvPr>
          <p:cNvSpPr>
            <a:spLocks xmlns:a="http://schemas.openxmlformats.org/drawingml/2006/main" noGrp="1"/>
          </p:cNvSpPr>
          <p:nvPr/>
        </p:nvSpPr>
        <p:spPr>
          <a:xfrm xmlns:a="http://schemas.openxmlformats.org/drawingml/2006/main">
            <a:off x="685800" y="1285875"/>
            <a:ext cx="10820400" cy="1390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000" b="1">
                <a:solidFill>
                  <a:srgbClr val="F6FAF9"/>
                </a:solidFill>
                <a:latin typeface="Inter"/>
                <a:ea typeface="Inter"/>
                <a:cs typeface="Inter"/>
              </a:defRPr>
            </a:defPPr>
          </a:lstStyle>
          <a:p xmlns:a="http://schemas.openxmlformats.org/drawingml/2006/main">
            <a:pPr>
              <a:defRPr sz="3000" b="1">
                <a:solidFill>
                  <a:srgbClr val="F6FAF9"/>
                </a:solidFill>
                <a:latin typeface="Inter"/>
                <a:ea typeface="Inter"/>
                <a:cs typeface="Inter"/>
              </a:defRPr>
            </a:pPr>
            <a:r>
              <a:rPr sz="3000" b="1">
                <a:solidFill>
                  <a:srgbClr val="F6FAF9"/>
                </a:solidFill>
                <a:latin typeface="Inter"/>
                <a:ea typeface="Inter"/>
                <a:cs typeface="Inter"/>
              </a:rPr>
              <a:t>Are critical systems and data backed up to defined recovery requirements, with protected copies and sampled restore tests?</a:t>
            </a:r>
          </a:p>
        </p:txBody>
      </p:sp>
      <p:sp>
        <p:nvSpPr>
          <p:cNvPr id="7" name="meaning-label">
            <a:extLst xmlns:a="http://schemas.openxmlformats.org/drawingml/2006/main">
              <a:ext uri="{FF2B5EF4-FFF2-40B4-BE49-F238E27FC236}">
                <a16:creationId xmlns:a16="http://schemas.microsoft.com/office/drawing/2014/main" id="{9154B2C2-4D2C-4AC2-ABFD-6F0CB624072D}"/>
              </a:ext>
            </a:extLst>
          </p:cNvPr>
          <p:cNvSpPr>
            <a:spLocks xmlns:a="http://schemas.openxmlformats.org/drawingml/2006/main" noGrp="1"/>
          </p:cNvSpPr>
          <p:nvPr/>
        </p:nvSpPr>
        <p:spPr>
          <a:xfrm xmlns:a="http://schemas.openxmlformats.org/drawingml/2006/main">
            <a:off x="685800" y="2990850"/>
            <a:ext cx="50101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350" b="1">
                <a:solidFill>
                  <a:srgbClr val="6CD8C9"/>
                </a:solidFill>
                <a:latin typeface="Inter"/>
                <a:ea typeface="Inter"/>
                <a:cs typeface="Inter"/>
              </a:defRPr>
            </a:defPPr>
          </a:lstStyle>
          <a:p xmlns:a="http://schemas.openxmlformats.org/drawingml/2006/main">
            <a:pPr>
              <a:defRPr sz="1350" b="1">
                <a:solidFill>
                  <a:srgbClr val="6CD8C9"/>
                </a:solidFill>
                <a:latin typeface="Inter"/>
                <a:ea typeface="Inter"/>
                <a:cs typeface="Inter"/>
              </a:defRPr>
            </a:pPr>
            <a:r>
              <a:rPr sz="1350" b="1">
                <a:solidFill>
                  <a:srgbClr val="6CD8C9"/>
                </a:solidFill>
                <a:latin typeface="Inter"/>
                <a:ea typeface="Inter"/>
                <a:cs typeface="Inter"/>
              </a:rPr>
              <a:t>WHAT THIS MEANS</a:t>
            </a:r>
          </a:p>
        </p:txBody>
      </p:sp>
      <p:sp>
        <p:nvSpPr>
          <p:cNvPr id="8" name="meaning">
            <a:extLst xmlns:a="http://schemas.openxmlformats.org/drawingml/2006/main">
              <a:ext uri="{FF2B5EF4-FFF2-40B4-BE49-F238E27FC236}">
                <a16:creationId xmlns:a16="http://schemas.microsoft.com/office/drawing/2014/main" id="{B4938F09-92B2-45C2-81A0-DF8D02133779}"/>
              </a:ext>
            </a:extLst>
          </p:cNvPr>
          <p:cNvSpPr>
            <a:spLocks xmlns:a="http://schemas.openxmlformats.org/drawingml/2006/main" noGrp="1"/>
          </p:cNvSpPr>
          <p:nvPr/>
        </p:nvSpPr>
        <p:spPr>
          <a:xfrm xmlns:a="http://schemas.openxmlformats.org/drawingml/2006/main">
            <a:off x="685800" y="3343275"/>
            <a:ext cx="5010150" cy="1228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950" b="0">
                <a:solidFill>
                  <a:srgbClr val="D7E2DF"/>
                </a:solidFill>
                <a:latin typeface="Inter"/>
                <a:ea typeface="Inter"/>
                <a:cs typeface="Inter"/>
              </a:defRPr>
            </a:defPPr>
          </a:lstStyle>
          <a:p xmlns:a="http://schemas.openxmlformats.org/drawingml/2006/main">
            <a:pPr>
              <a:defRPr sz="1950" b="0">
                <a:solidFill>
                  <a:srgbClr val="D7E2DF"/>
                </a:solidFill>
                <a:latin typeface="Inter"/>
                <a:ea typeface="Inter"/>
                <a:cs typeface="Inter"/>
              </a:defRPr>
            </a:pPr>
            <a:r>
              <a:rPr sz="1950" b="0">
                <a:solidFill>
                  <a:srgbClr val="D7E2DF"/>
                </a:solidFill>
                <a:latin typeface="Inter"/>
                <a:ea typeface="Inter"/>
                <a:cs typeface="Inter"/>
              </a:rPr>
              <a:t>Backups cover important data and systems. Protected copies and restore tests show whether recovery can meet business needs.</a:t>
            </a:r>
          </a:p>
        </p:txBody>
      </p:sp>
      <p:sp>
        <p:nvSpPr>
          <p:cNvPr id="9" name="why-label">
            <a:extLst xmlns:a="http://schemas.openxmlformats.org/drawingml/2006/main">
              <a:ext uri="{FF2B5EF4-FFF2-40B4-BE49-F238E27FC236}">
                <a16:creationId xmlns:a16="http://schemas.microsoft.com/office/drawing/2014/main" id="{327F001A-4F36-4D17-BD57-ED9FA1084BF8}"/>
              </a:ext>
            </a:extLst>
          </p:cNvPr>
          <p:cNvSpPr>
            <a:spLocks xmlns:a="http://schemas.openxmlformats.org/drawingml/2006/main" noGrp="1"/>
          </p:cNvSpPr>
          <p:nvPr/>
        </p:nvSpPr>
        <p:spPr>
          <a:xfrm xmlns:a="http://schemas.openxmlformats.org/drawingml/2006/main">
            <a:off x="685800" y="4714875"/>
            <a:ext cx="50101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350" b="1">
                <a:solidFill>
                  <a:srgbClr val="6CD8C9"/>
                </a:solidFill>
                <a:latin typeface="Inter"/>
                <a:ea typeface="Inter"/>
                <a:cs typeface="Inter"/>
              </a:defRPr>
            </a:defPPr>
          </a:lstStyle>
          <a:p xmlns:a="http://schemas.openxmlformats.org/drawingml/2006/main">
            <a:pPr>
              <a:defRPr sz="1350" b="1">
                <a:solidFill>
                  <a:srgbClr val="6CD8C9"/>
                </a:solidFill>
                <a:latin typeface="Inter"/>
                <a:ea typeface="Inter"/>
                <a:cs typeface="Inter"/>
              </a:defRPr>
            </a:pPr>
            <a:r>
              <a:rPr sz="1350" b="1">
                <a:solidFill>
                  <a:srgbClr val="6CD8C9"/>
                </a:solidFill>
                <a:latin typeface="Inter"/>
                <a:ea typeface="Inter"/>
                <a:cs typeface="Inter"/>
              </a:rPr>
              <a:t>WHY IT MATTERS</a:t>
            </a:r>
          </a:p>
        </p:txBody>
      </p:sp>
      <p:sp>
        <p:nvSpPr>
          <p:cNvPr id="10" name="why">
            <a:extLst xmlns:a="http://schemas.openxmlformats.org/drawingml/2006/main">
              <a:ext uri="{FF2B5EF4-FFF2-40B4-BE49-F238E27FC236}">
                <a16:creationId xmlns:a16="http://schemas.microsoft.com/office/drawing/2014/main" id="{865D8DF0-988E-44A3-A1E4-BD5FEC76655C}"/>
              </a:ext>
            </a:extLst>
          </p:cNvPr>
          <p:cNvSpPr>
            <a:spLocks xmlns:a="http://schemas.openxmlformats.org/drawingml/2006/main" noGrp="1"/>
          </p:cNvSpPr>
          <p:nvPr/>
        </p:nvSpPr>
        <p:spPr>
          <a:xfrm xmlns:a="http://schemas.openxmlformats.org/drawingml/2006/main">
            <a:off x="685800" y="5067300"/>
            <a:ext cx="50101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00" b="0">
                <a:solidFill>
                  <a:srgbClr val="D7E2DF"/>
                </a:solidFill>
                <a:latin typeface="Inter"/>
                <a:ea typeface="Inter"/>
                <a:cs typeface="Inter"/>
              </a:defRPr>
            </a:defPPr>
          </a:lstStyle>
          <a:p xmlns:a="http://schemas.openxmlformats.org/drawingml/2006/main">
            <a:pPr>
              <a:defRPr sz="1800" b="0">
                <a:solidFill>
                  <a:srgbClr val="D7E2DF"/>
                </a:solidFill>
                <a:latin typeface="Inter"/>
                <a:ea typeface="Inter"/>
                <a:cs typeface="Inter"/>
              </a:defRPr>
            </a:pPr>
            <a:r>
              <a:rPr sz="1800" b="0">
                <a:solidFill>
                  <a:srgbClr val="D7E2DF"/>
                </a:solidFill>
                <a:latin typeface="Inter"/>
                <a:ea typeface="Inter"/>
                <a:cs typeface="Inter"/>
              </a:rPr>
              <a:t>A successful backup job does not establish that the business can recover.</a:t>
            </a:r>
          </a:p>
        </p:txBody>
      </p:sp>
      <p:sp>
        <p:nvSpPr>
          <p:cNvPr id="11" name="example-label">
            <a:extLst xmlns:a="http://schemas.openxmlformats.org/drawingml/2006/main">
              <a:ext uri="{FF2B5EF4-FFF2-40B4-BE49-F238E27FC236}">
                <a16:creationId xmlns:a16="http://schemas.microsoft.com/office/drawing/2014/main" id="{2E8B49F3-D62F-4221-A5F7-8060CC619293}"/>
              </a:ext>
            </a:extLst>
          </p:cNvPr>
          <p:cNvSpPr>
            <a:spLocks xmlns:a="http://schemas.openxmlformats.org/drawingml/2006/main" noGrp="1"/>
          </p:cNvSpPr>
          <p:nvPr/>
        </p:nvSpPr>
        <p:spPr>
          <a:xfrm xmlns:a="http://schemas.openxmlformats.org/drawingml/2006/main">
            <a:off x="6572250" y="2990850"/>
            <a:ext cx="4933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350" b="1">
                <a:solidFill>
                  <a:srgbClr val="6CD8C9"/>
                </a:solidFill>
                <a:latin typeface="Inter"/>
                <a:ea typeface="Inter"/>
                <a:cs typeface="Inter"/>
              </a:defRPr>
            </a:defPPr>
          </a:lstStyle>
          <a:p xmlns:a="http://schemas.openxmlformats.org/drawingml/2006/main">
            <a:pPr>
              <a:defRPr sz="1350" b="1">
                <a:solidFill>
                  <a:srgbClr val="6CD8C9"/>
                </a:solidFill>
                <a:latin typeface="Inter"/>
                <a:ea typeface="Inter"/>
                <a:cs typeface="Inter"/>
              </a:defRPr>
            </a:pPr>
            <a:r>
              <a:rPr sz="1350" b="1">
                <a:solidFill>
                  <a:srgbClr val="6CD8C9"/>
                </a:solidFill>
                <a:latin typeface="Inter"/>
                <a:ea typeface="Inter"/>
                <a:cs typeface="Inter"/>
              </a:rPr>
              <a:t>EXAMPLE ANSWER: PARTIAL</a:t>
            </a:r>
          </a:p>
        </p:txBody>
      </p:sp>
      <p:sp>
        <p:nvSpPr>
          <p:cNvPr id="12" name="example">
            <a:extLst xmlns:a="http://schemas.openxmlformats.org/drawingml/2006/main">
              <a:ext uri="{FF2B5EF4-FFF2-40B4-BE49-F238E27FC236}">
                <a16:creationId xmlns:a16="http://schemas.microsoft.com/office/drawing/2014/main" id="{FB7F4DBF-C9B3-467D-891E-1B30FB4E1F41}"/>
              </a:ext>
            </a:extLst>
          </p:cNvPr>
          <p:cNvSpPr>
            <a:spLocks xmlns:a="http://schemas.openxmlformats.org/drawingml/2006/main" noGrp="1"/>
          </p:cNvSpPr>
          <p:nvPr/>
        </p:nvSpPr>
        <p:spPr>
          <a:xfrm xmlns:a="http://schemas.openxmlformats.org/drawingml/2006/main">
            <a:off x="6572250" y="3343275"/>
            <a:ext cx="4933950" cy="1943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00" b="0">
                <a:solidFill>
                  <a:srgbClr val="F6FAF9"/>
                </a:solidFill>
                <a:latin typeface="Inter"/>
                <a:ea typeface="Inter"/>
                <a:cs typeface="Inter"/>
              </a:defRPr>
            </a:defPPr>
          </a:lstStyle>
          <a:p xmlns:a="http://schemas.openxmlformats.org/drawingml/2006/main">
            <a:pPr>
              <a:defRPr sz="2100" b="0">
                <a:solidFill>
                  <a:srgbClr val="F6FAF9"/>
                </a:solidFill>
                <a:latin typeface="Inter"/>
                <a:ea typeface="Inter"/>
                <a:cs typeface="Inter"/>
              </a:defRPr>
            </a:pPr>
            <a:r>
              <a:rPr sz="2100" b="0">
                <a:solidFill>
                  <a:srgbClr val="F6FAF9"/>
                </a:solidFill>
                <a:latin typeface="Inter"/>
                <a:ea typeface="Inter"/>
                <a:cs typeface="Inter"/>
              </a:rPr>
              <a:t>“Backups run every night. We haven’t recently restored a sample or checked recovery time against what the business needs.”</a:t>
            </a:r>
          </a:p>
        </p:txBody>
      </p:sp>
      <p:sp>
        <p:nvSpPr>
          <p:cNvPr id="13" name="evidence-label">
            <a:extLst xmlns:a="http://schemas.openxmlformats.org/drawingml/2006/main">
              <a:ext uri="{FF2B5EF4-FFF2-40B4-BE49-F238E27FC236}">
                <a16:creationId xmlns:a16="http://schemas.microsoft.com/office/drawing/2014/main" id="{05AD94ED-9AEB-46AC-8F52-73E18CC0267C}"/>
              </a:ext>
            </a:extLst>
          </p:cNvPr>
          <p:cNvSpPr>
            <a:spLocks xmlns:a="http://schemas.openxmlformats.org/drawingml/2006/main" noGrp="1"/>
          </p:cNvSpPr>
          <p:nvPr/>
        </p:nvSpPr>
        <p:spPr>
          <a:xfrm xmlns:a="http://schemas.openxmlformats.org/drawingml/2006/main">
            <a:off x="6572250" y="5410200"/>
            <a:ext cx="4933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350" b="1">
                <a:solidFill>
                  <a:srgbClr val="6CD8C9"/>
                </a:solidFill>
                <a:latin typeface="Inter"/>
                <a:ea typeface="Inter"/>
                <a:cs typeface="Inter"/>
              </a:defRPr>
            </a:defPPr>
          </a:lstStyle>
          <a:p xmlns:a="http://schemas.openxmlformats.org/drawingml/2006/main">
            <a:pPr>
              <a:defRPr sz="1350" b="1">
                <a:solidFill>
                  <a:srgbClr val="6CD8C9"/>
                </a:solidFill>
                <a:latin typeface="Inter"/>
                <a:ea typeface="Inter"/>
                <a:cs typeface="Inter"/>
              </a:defRPr>
            </a:pPr>
            <a:r>
              <a:rPr sz="1350" b="1">
                <a:solidFill>
                  <a:srgbClr val="6CD8C9"/>
                </a:solidFill>
                <a:latin typeface="Inter"/>
                <a:ea typeface="Inter"/>
                <a:cs typeface="Inter"/>
              </a:rPr>
              <a:t>EVIDENCE TO DISCUSS</a:t>
            </a:r>
          </a:p>
        </p:txBody>
      </p:sp>
      <p:sp>
        <p:nvSpPr>
          <p:cNvPr id="14" name="evidence">
            <a:extLst xmlns:a="http://schemas.openxmlformats.org/drawingml/2006/main">
              <a:ext uri="{FF2B5EF4-FFF2-40B4-BE49-F238E27FC236}">
                <a16:creationId xmlns:a16="http://schemas.microsoft.com/office/drawing/2014/main" id="{AEBCB659-EC29-4CFE-A328-03A6059B9A30}"/>
              </a:ext>
            </a:extLst>
          </p:cNvPr>
          <p:cNvSpPr>
            <a:spLocks xmlns:a="http://schemas.openxmlformats.org/drawingml/2006/main" noGrp="1"/>
          </p:cNvSpPr>
          <p:nvPr/>
        </p:nvSpPr>
        <p:spPr>
          <a:xfrm xmlns:a="http://schemas.openxmlformats.org/drawingml/2006/main">
            <a:off x="6572250" y="5762625"/>
            <a:ext cx="493395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725" b="0">
                <a:solidFill>
                  <a:srgbClr val="D7E2DF"/>
                </a:solidFill>
                <a:latin typeface="Inter"/>
                <a:ea typeface="Inter"/>
                <a:cs typeface="Inter"/>
              </a:defRPr>
            </a:defPPr>
          </a:lstStyle>
          <a:p xmlns:a="http://schemas.openxmlformats.org/drawingml/2006/main">
            <a:pPr>
              <a:defRPr sz="1725" b="0">
                <a:solidFill>
                  <a:srgbClr val="D7E2DF"/>
                </a:solidFill>
                <a:latin typeface="Inter"/>
                <a:ea typeface="Inter"/>
                <a:cs typeface="Inter"/>
              </a:defRPr>
            </a:pPr>
            <a:r>
              <a:rPr sz="1725" b="0">
                <a:solidFill>
                  <a:srgbClr val="D7E2DF"/>
                </a:solidFill>
                <a:latin typeface="Inter"/>
                <a:ea typeface="Inter"/>
                <a:cs typeface="Inter"/>
              </a:rPr>
              <a:t>Backup scope and retention</a:t>
            </a:r>
          </a:p>
          <a:p xmlns:a="http://schemas.openxmlformats.org/drawingml/2006/main">
            <a:pPr>
              <a:defRPr sz="1725" b="0">
                <a:solidFill>
                  <a:srgbClr val="D7E2DF"/>
                </a:solidFill>
                <a:latin typeface="Inter"/>
                <a:ea typeface="Inter"/>
                <a:cs typeface="Inter"/>
              </a:defRPr>
            </a:pPr>
            <a:r>
              <a:rPr sz="1725" b="0">
                <a:solidFill>
                  <a:srgbClr val="D7E2DF"/>
                </a:solidFill>
                <a:latin typeface="Inter"/>
                <a:ea typeface="Inter"/>
                <a:cs typeface="Inter"/>
              </a:rPr>
              <a:t>Restore test record</a:t>
            </a:r>
          </a:p>
        </p:txBody>
      </p:sp>
    </p:spTree>
    <p:extLst>
      <p:ext uri="{BB962C8B-B14F-4D97-AF65-F5344CB8AC3E}">
        <p14:creationId xmlns:p14="http://schemas.microsoft.com/office/powerpoint/2010/main" val="2004853159"/>
      </p:ext>
    </p:extLst>
  </p:cSld>
</p:sld>
</file>

<file path=ppt/slides/slide13.xml><?xml version="1.0" encoding="utf-8"?>
<p:sld xmlns:p="http://schemas.openxmlformats.org/presentationml/2006/main">
  <p:cSld>
    <p:bg>
      <p:bgPr>
        <a:solidFill xmlns:a="http://schemas.openxmlformats.org/drawingml/2006/main">
          <a:srgbClr val="08100F"/>
        </a:solidFill>
      </p:bgPr>
    </p:bg>
    <p:spTree>
      <p:nvGrpSpPr>
        <p:cNvPr id="1" name=""/>
        <p:cNvGrpSpPr/>
        <p:nvPr/>
      </p:nvGrpSpPr>
      <p:grpSpPr>
        <a:xfrm xmlns:a="http://schemas.openxmlformats.org/drawingml/2006/main"/>
      </p:grpSpPr>
      <p:sp>
        <p:nvSpPr>
          <p:cNvPr id="15" name="brand">
            <a:extLst xmlns:a="http://schemas.openxmlformats.org/drawingml/2006/main">
              <a:ext uri="{FF2B5EF4-FFF2-40B4-BE49-F238E27FC236}">
                <a16:creationId xmlns:a16="http://schemas.microsoft.com/office/drawing/2014/main" id="{CF185203-EA75-4D54-A78A-4BCBE39FEF41}"/>
              </a:ext>
            </a:extLst>
          </p:cNvPr>
          <p:cNvSpPr>
            <a:spLocks xmlns:a="http://schemas.openxmlformats.org/drawingml/2006/main" noGrp="1"/>
          </p:cNvSpPr>
          <p:nvPr/>
        </p:nvSpPr>
        <p:spPr>
          <a:xfrm xmlns:a="http://schemas.openxmlformats.org/drawingml/2006/main">
            <a:off x="685800" y="323850"/>
            <a:ext cx="2952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00" b="1">
                <a:solidFill>
                  <a:srgbClr val="F6FAF9"/>
                </a:solidFill>
                <a:latin typeface="Inter"/>
                <a:ea typeface="Inter"/>
                <a:cs typeface="Inter"/>
              </a:defRPr>
            </a:defPPr>
          </a:lstStyle>
          <a:p xmlns:a="http://schemas.openxmlformats.org/drawingml/2006/main">
            <a:pPr>
              <a:defRPr sz="1800" b="1">
                <a:solidFill>
                  <a:srgbClr val="F6FAF9"/>
                </a:solidFill>
                <a:latin typeface="Inter"/>
                <a:ea typeface="Inter"/>
                <a:cs typeface="Inter"/>
              </a:defRPr>
            </a:pPr>
            <a:r>
              <a:rPr sz="1800" b="1">
                <a:solidFill>
                  <a:srgbClr val="F6FAF9"/>
                </a:solidFill>
                <a:latin typeface="Inter"/>
                <a:ea typeface="Inter"/>
                <a:cs typeface="Inter"/>
              </a:rPr>
              <a:t>NO FRIES</a:t>
            </a:r>
          </a:p>
        </p:txBody>
      </p:sp>
      <p:sp>
        <p:nvSpPr>
          <p:cNvPr id="2" name="section">
            <a:extLst xmlns:a="http://schemas.openxmlformats.org/drawingml/2006/main">
              <a:ext uri="{FF2B5EF4-FFF2-40B4-BE49-F238E27FC236}">
                <a16:creationId xmlns:a16="http://schemas.microsoft.com/office/drawing/2014/main" id="{E7779DA0-6530-4ABC-B88C-14836A6F45F6}"/>
              </a:ext>
            </a:extLst>
          </p:cNvPr>
          <p:cNvSpPr>
            <a:spLocks xmlns:a="http://schemas.openxmlformats.org/drawingml/2006/main" noGrp="1"/>
          </p:cNvSpPr>
          <p:nvPr/>
        </p:nvSpPr>
        <p:spPr>
          <a:xfrm xmlns:a="http://schemas.openxmlformats.org/drawingml/2006/main">
            <a:off x="5524500" y="371475"/>
            <a:ext cx="59817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1">
                <a:solidFill>
                  <a:srgbClr val="6CD8C9"/>
                </a:solidFill>
                <a:latin typeface="Inter"/>
                <a:ea typeface="Inter"/>
                <a:cs typeface="Inter"/>
              </a:defRPr>
            </a:defPPr>
          </a:lstStyle>
          <a:p xmlns:a="http://schemas.openxmlformats.org/drawingml/2006/main">
            <a:pPr algn="r">
              <a:defRPr sz="1200" b="1">
                <a:solidFill>
                  <a:srgbClr val="6CD8C9"/>
                </a:solidFill>
                <a:latin typeface="Inter"/>
                <a:ea typeface="Inter"/>
                <a:cs typeface="Inter"/>
              </a:defRPr>
            </a:pPr>
            <a:r>
              <a:rPr sz="1200" b="1">
                <a:solidFill>
                  <a:srgbClr val="6CD8C9"/>
                </a:solidFill>
                <a:latin typeface="Inter"/>
                <a:ea typeface="Inter"/>
                <a:cs typeface="Inter"/>
              </a:rPr>
              <a:t>QUESTION 10 / 14</a:t>
            </a:r>
          </a:p>
        </p:txBody>
      </p:sp>
      <p:sp>
        <p:nvSpPr>
          <p:cNvPr id="3" name="page">
            <a:extLst xmlns:a="http://schemas.openxmlformats.org/drawingml/2006/main">
              <a:ext uri="{FF2B5EF4-FFF2-40B4-BE49-F238E27FC236}">
                <a16:creationId xmlns:a16="http://schemas.microsoft.com/office/drawing/2014/main" id="{A7F8255B-317A-4C4C-B010-5BCC488B22D5}"/>
              </a:ext>
            </a:extLst>
          </p:cNvPr>
          <p:cNvSpPr>
            <a:spLocks xmlns:a="http://schemas.openxmlformats.org/drawingml/2006/main" noGrp="1"/>
          </p:cNvSpPr>
          <p:nvPr/>
        </p:nvSpPr>
        <p:spPr>
          <a:xfrm xmlns:a="http://schemas.openxmlformats.org/drawingml/2006/main">
            <a:off x="10934700" y="6429375"/>
            <a:ext cx="5715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A9BBB7"/>
                </a:solidFill>
                <a:latin typeface="Inter"/>
                <a:ea typeface="Inter"/>
                <a:cs typeface="Inter"/>
              </a:defRPr>
            </a:defPPr>
          </a:lstStyle>
          <a:p xmlns:a="http://schemas.openxmlformats.org/drawingml/2006/main">
            <a:pPr algn="r">
              <a:defRPr sz="1200" b="0">
                <a:solidFill>
                  <a:srgbClr val="A9BBB7"/>
                </a:solidFill>
                <a:latin typeface="Inter"/>
                <a:ea typeface="Inter"/>
                <a:cs typeface="Inter"/>
              </a:defRPr>
            </a:pPr>
            <a:r>
              <a:rPr sz="1200" b="0">
                <a:solidFill>
                  <a:srgbClr val="A9BBB7"/>
                </a:solidFill>
                <a:latin typeface="Inter"/>
                <a:ea typeface="Inter"/>
                <a:cs typeface="Inter"/>
              </a:rPr>
              <a:t>13</a:t>
            </a:r>
          </a:p>
        </p:txBody>
      </p:sp>
      <p:sp>
        <p:nvSpPr>
          <p:cNvPr id="4" name="question-id">
            <a:extLst xmlns:a="http://schemas.openxmlformats.org/drawingml/2006/main">
              <a:ext uri="{FF2B5EF4-FFF2-40B4-BE49-F238E27FC236}">
                <a16:creationId xmlns:a16="http://schemas.microsoft.com/office/drawing/2014/main" id="{1EC9DC1C-5A0E-4935-8989-58099062DD81}"/>
              </a:ext>
            </a:extLst>
          </p:cNvPr>
          <p:cNvSpPr>
            <a:spLocks xmlns:a="http://schemas.openxmlformats.org/drawingml/2006/main" noGrp="1"/>
          </p:cNvSpPr>
          <p:nvPr/>
        </p:nvSpPr>
        <p:spPr>
          <a:xfrm xmlns:a="http://schemas.openxmlformats.org/drawingml/2006/main">
            <a:off x="685800" y="828675"/>
            <a:ext cx="52387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00" b="0">
                <a:solidFill>
                  <a:srgbClr val="A9BBB7"/>
                </a:solidFill>
                <a:latin typeface="Inter"/>
                <a:ea typeface="Inter"/>
                <a:cs typeface="Inter"/>
              </a:defRPr>
            </a:defPPr>
          </a:lstStyle>
          <a:p xmlns:a="http://schemas.openxmlformats.org/drawingml/2006/main">
            <a:pPr>
              <a:defRPr sz="1200" b="0">
                <a:solidFill>
                  <a:srgbClr val="A9BBB7"/>
                </a:solidFill>
                <a:latin typeface="Inter"/>
                <a:ea typeface="Inter"/>
                <a:cs typeface="Inter"/>
              </a:defRPr>
            </a:pPr>
            <a:r>
              <a:rPr sz="1200" b="0">
                <a:solidFill>
                  <a:srgbClr val="A9BBB7"/>
                </a:solidFill>
                <a:latin typeface="Inter"/>
                <a:ea typeface="Inter"/>
                <a:cs typeface="Inter"/>
              </a:rPr>
              <a:t>NF-NCSC-MCSS-RP-01-Q1</a:t>
            </a:r>
          </a:p>
        </p:txBody>
      </p:sp>
      <p:sp>
        <p:nvSpPr>
          <p:cNvPr id="5" name="function">
            <a:extLst xmlns:a="http://schemas.openxmlformats.org/drawingml/2006/main">
              <a:ext uri="{FF2B5EF4-FFF2-40B4-BE49-F238E27FC236}">
                <a16:creationId xmlns:a16="http://schemas.microsoft.com/office/drawing/2014/main" id="{2A8E4476-4A1C-46FD-8E54-2A9BC92786C4}"/>
              </a:ext>
            </a:extLst>
          </p:cNvPr>
          <p:cNvSpPr>
            <a:spLocks xmlns:a="http://schemas.openxmlformats.org/drawingml/2006/main" noGrp="1"/>
          </p:cNvSpPr>
          <p:nvPr/>
        </p:nvSpPr>
        <p:spPr>
          <a:xfrm xmlns:a="http://schemas.openxmlformats.org/drawingml/2006/main">
            <a:off x="6524625" y="828675"/>
            <a:ext cx="4981575"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1">
                <a:solidFill>
                  <a:srgbClr val="6CD8C9"/>
                </a:solidFill>
                <a:latin typeface="Inter"/>
                <a:ea typeface="Inter"/>
                <a:cs typeface="Inter"/>
              </a:defRPr>
            </a:defPPr>
          </a:lstStyle>
          <a:p xmlns:a="http://schemas.openxmlformats.org/drawingml/2006/main">
            <a:pPr algn="r">
              <a:defRPr sz="1275" b="1">
                <a:solidFill>
                  <a:srgbClr val="6CD8C9"/>
                </a:solidFill>
                <a:latin typeface="Inter"/>
                <a:ea typeface="Inter"/>
                <a:cs typeface="Inter"/>
              </a:defRPr>
            </a:pPr>
            <a:r>
              <a:rPr sz="1275" b="1">
                <a:solidFill>
                  <a:srgbClr val="6CD8C9"/>
                </a:solidFill>
                <a:latin typeface="Inter"/>
                <a:ea typeface="Inter"/>
                <a:cs typeface="Inter"/>
              </a:rPr>
              <a:t>Respond and Recover</a:t>
            </a:r>
          </a:p>
        </p:txBody>
      </p:sp>
      <p:sp>
        <p:nvSpPr>
          <p:cNvPr id="6" name="question-prompt">
            <a:extLst xmlns:a="http://schemas.openxmlformats.org/drawingml/2006/main">
              <a:ext uri="{FF2B5EF4-FFF2-40B4-BE49-F238E27FC236}">
                <a16:creationId xmlns:a16="http://schemas.microsoft.com/office/drawing/2014/main" id="{9FEB1A29-31E8-4E5F-BD49-DA2FB1B80DEA}"/>
              </a:ext>
            </a:extLst>
          </p:cNvPr>
          <p:cNvSpPr>
            <a:spLocks xmlns:a="http://schemas.openxmlformats.org/drawingml/2006/main" noGrp="1"/>
          </p:cNvSpPr>
          <p:nvPr/>
        </p:nvSpPr>
        <p:spPr>
          <a:xfrm xmlns:a="http://schemas.openxmlformats.org/drawingml/2006/main">
            <a:off x="685800" y="1285875"/>
            <a:ext cx="10820400" cy="1390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000" b="1">
                <a:solidFill>
                  <a:srgbClr val="F6FAF9"/>
                </a:solidFill>
                <a:latin typeface="Inter"/>
                <a:ea typeface="Inter"/>
                <a:cs typeface="Inter"/>
              </a:defRPr>
            </a:defPPr>
          </a:lstStyle>
          <a:p xmlns:a="http://schemas.openxmlformats.org/drawingml/2006/main">
            <a:pPr>
              <a:defRPr sz="3000" b="1">
                <a:solidFill>
                  <a:srgbClr val="F6FAF9"/>
                </a:solidFill>
                <a:latin typeface="Inter"/>
                <a:ea typeface="Inter"/>
                <a:cs typeface="Inter"/>
              </a:defRPr>
            </a:pPr>
            <a:r>
              <a:rPr sz="3000" b="1">
                <a:solidFill>
                  <a:srgbClr val="F6FAF9"/>
                </a:solidFill>
                <a:latin typeface="Inter"/>
                <a:ea typeface="Inter"/>
                <a:cs typeface="Inter"/>
              </a:rPr>
              <a:t>Is there a risk-based incident response plan with named responsibilities, management support, contact paths and lessons from exercises or incidents?</a:t>
            </a:r>
          </a:p>
        </p:txBody>
      </p:sp>
      <p:sp>
        <p:nvSpPr>
          <p:cNvPr id="7" name="meaning-label">
            <a:extLst xmlns:a="http://schemas.openxmlformats.org/drawingml/2006/main">
              <a:ext uri="{FF2B5EF4-FFF2-40B4-BE49-F238E27FC236}">
                <a16:creationId xmlns:a16="http://schemas.microsoft.com/office/drawing/2014/main" id="{0E6AEDE7-A77D-4D0A-8E09-1852742A3131}"/>
              </a:ext>
            </a:extLst>
          </p:cNvPr>
          <p:cNvSpPr>
            <a:spLocks xmlns:a="http://schemas.openxmlformats.org/drawingml/2006/main" noGrp="1"/>
          </p:cNvSpPr>
          <p:nvPr/>
        </p:nvSpPr>
        <p:spPr>
          <a:xfrm xmlns:a="http://schemas.openxmlformats.org/drawingml/2006/main">
            <a:off x="685800" y="2990850"/>
            <a:ext cx="50101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350" b="1">
                <a:solidFill>
                  <a:srgbClr val="6CD8C9"/>
                </a:solidFill>
                <a:latin typeface="Inter"/>
                <a:ea typeface="Inter"/>
                <a:cs typeface="Inter"/>
              </a:defRPr>
            </a:defPPr>
          </a:lstStyle>
          <a:p xmlns:a="http://schemas.openxmlformats.org/drawingml/2006/main">
            <a:pPr>
              <a:defRPr sz="1350" b="1">
                <a:solidFill>
                  <a:srgbClr val="6CD8C9"/>
                </a:solidFill>
                <a:latin typeface="Inter"/>
                <a:ea typeface="Inter"/>
                <a:cs typeface="Inter"/>
              </a:defRPr>
            </a:pPr>
            <a:r>
              <a:rPr sz="1350" b="1">
                <a:solidFill>
                  <a:srgbClr val="6CD8C9"/>
                </a:solidFill>
                <a:latin typeface="Inter"/>
                <a:ea typeface="Inter"/>
                <a:cs typeface="Inter"/>
              </a:rPr>
              <a:t>WHAT THIS MEANS</a:t>
            </a:r>
          </a:p>
        </p:txBody>
      </p:sp>
      <p:sp>
        <p:nvSpPr>
          <p:cNvPr id="8" name="meaning">
            <a:extLst xmlns:a="http://schemas.openxmlformats.org/drawingml/2006/main">
              <a:ext uri="{FF2B5EF4-FFF2-40B4-BE49-F238E27FC236}">
                <a16:creationId xmlns:a16="http://schemas.microsoft.com/office/drawing/2014/main" id="{FB926FC6-EF61-4EA7-8C37-6076B2ABB5BA}"/>
              </a:ext>
            </a:extLst>
          </p:cNvPr>
          <p:cNvSpPr>
            <a:spLocks xmlns:a="http://schemas.openxmlformats.org/drawingml/2006/main" noGrp="1"/>
          </p:cNvSpPr>
          <p:nvPr/>
        </p:nvSpPr>
        <p:spPr>
          <a:xfrm xmlns:a="http://schemas.openxmlformats.org/drawingml/2006/main">
            <a:off x="685800" y="3343275"/>
            <a:ext cx="5010150" cy="1228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950" b="0">
                <a:solidFill>
                  <a:srgbClr val="D7E2DF"/>
                </a:solidFill>
                <a:latin typeface="Inter"/>
                <a:ea typeface="Inter"/>
                <a:cs typeface="Inter"/>
              </a:defRPr>
            </a:defPPr>
          </a:lstStyle>
          <a:p xmlns:a="http://schemas.openxmlformats.org/drawingml/2006/main">
            <a:pPr>
              <a:defRPr sz="1950" b="0">
                <a:solidFill>
                  <a:srgbClr val="D7E2DF"/>
                </a:solidFill>
                <a:latin typeface="Inter"/>
                <a:ea typeface="Inter"/>
                <a:cs typeface="Inter"/>
              </a:defRPr>
            </a:pPr>
            <a:r>
              <a:rPr sz="1950" b="0">
                <a:solidFill>
                  <a:srgbClr val="D7E2DF"/>
                </a:solidFill>
                <a:latin typeface="Inter"/>
                <a:ea typeface="Inter"/>
                <a:cs typeface="Inter"/>
              </a:rPr>
              <a:t>A usable incident plan names the people, contact paths and first steps. Exercises or real incidents help improve it.</a:t>
            </a:r>
          </a:p>
        </p:txBody>
      </p:sp>
      <p:sp>
        <p:nvSpPr>
          <p:cNvPr id="9" name="why-label">
            <a:extLst xmlns:a="http://schemas.openxmlformats.org/drawingml/2006/main">
              <a:ext uri="{FF2B5EF4-FFF2-40B4-BE49-F238E27FC236}">
                <a16:creationId xmlns:a16="http://schemas.microsoft.com/office/drawing/2014/main" id="{1D3CC094-3C6B-4D12-AAA6-212DB338A0AF}"/>
              </a:ext>
            </a:extLst>
          </p:cNvPr>
          <p:cNvSpPr>
            <a:spLocks xmlns:a="http://schemas.openxmlformats.org/drawingml/2006/main" noGrp="1"/>
          </p:cNvSpPr>
          <p:nvPr/>
        </p:nvSpPr>
        <p:spPr>
          <a:xfrm xmlns:a="http://schemas.openxmlformats.org/drawingml/2006/main">
            <a:off x="685800" y="4714875"/>
            <a:ext cx="50101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350" b="1">
                <a:solidFill>
                  <a:srgbClr val="6CD8C9"/>
                </a:solidFill>
                <a:latin typeface="Inter"/>
                <a:ea typeface="Inter"/>
                <a:cs typeface="Inter"/>
              </a:defRPr>
            </a:defPPr>
          </a:lstStyle>
          <a:p xmlns:a="http://schemas.openxmlformats.org/drawingml/2006/main">
            <a:pPr>
              <a:defRPr sz="1350" b="1">
                <a:solidFill>
                  <a:srgbClr val="6CD8C9"/>
                </a:solidFill>
                <a:latin typeface="Inter"/>
                <a:ea typeface="Inter"/>
                <a:cs typeface="Inter"/>
              </a:defRPr>
            </a:pPr>
            <a:r>
              <a:rPr sz="1350" b="1">
                <a:solidFill>
                  <a:srgbClr val="6CD8C9"/>
                </a:solidFill>
                <a:latin typeface="Inter"/>
                <a:ea typeface="Inter"/>
                <a:cs typeface="Inter"/>
              </a:rPr>
              <a:t>WHY IT MATTERS</a:t>
            </a:r>
          </a:p>
        </p:txBody>
      </p:sp>
      <p:sp>
        <p:nvSpPr>
          <p:cNvPr id="10" name="why">
            <a:extLst xmlns:a="http://schemas.openxmlformats.org/drawingml/2006/main">
              <a:ext uri="{FF2B5EF4-FFF2-40B4-BE49-F238E27FC236}">
                <a16:creationId xmlns:a16="http://schemas.microsoft.com/office/drawing/2014/main" id="{B6998C7C-AC03-4DC1-B898-791969AB5863}"/>
              </a:ext>
            </a:extLst>
          </p:cNvPr>
          <p:cNvSpPr>
            <a:spLocks xmlns:a="http://schemas.openxmlformats.org/drawingml/2006/main" noGrp="1"/>
          </p:cNvSpPr>
          <p:nvPr/>
        </p:nvSpPr>
        <p:spPr>
          <a:xfrm xmlns:a="http://schemas.openxmlformats.org/drawingml/2006/main">
            <a:off x="685800" y="5067300"/>
            <a:ext cx="50101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00" b="0">
                <a:solidFill>
                  <a:srgbClr val="D7E2DF"/>
                </a:solidFill>
                <a:latin typeface="Inter"/>
                <a:ea typeface="Inter"/>
                <a:cs typeface="Inter"/>
              </a:defRPr>
            </a:defPPr>
          </a:lstStyle>
          <a:p xmlns:a="http://schemas.openxmlformats.org/drawingml/2006/main">
            <a:pPr>
              <a:defRPr sz="1800" b="0">
                <a:solidFill>
                  <a:srgbClr val="D7E2DF"/>
                </a:solidFill>
                <a:latin typeface="Inter"/>
                <a:ea typeface="Inter"/>
                <a:cs typeface="Inter"/>
              </a:defRPr>
            </a:pPr>
            <a:r>
              <a:rPr sz="1800" b="0">
                <a:solidFill>
                  <a:srgbClr val="D7E2DF"/>
                </a:solidFill>
                <a:latin typeface="Inter"/>
                <a:ea typeface="Inter"/>
                <a:cs typeface="Inter"/>
              </a:rPr>
              <a:t>Clear responsibilities reduce delay when an incident disrupts normal work.</a:t>
            </a:r>
          </a:p>
        </p:txBody>
      </p:sp>
      <p:sp>
        <p:nvSpPr>
          <p:cNvPr id="11" name="example-label">
            <a:extLst xmlns:a="http://schemas.openxmlformats.org/drawingml/2006/main">
              <a:ext uri="{FF2B5EF4-FFF2-40B4-BE49-F238E27FC236}">
                <a16:creationId xmlns:a16="http://schemas.microsoft.com/office/drawing/2014/main" id="{7033904B-7FA6-4902-9429-4A53B364254E}"/>
              </a:ext>
            </a:extLst>
          </p:cNvPr>
          <p:cNvSpPr>
            <a:spLocks xmlns:a="http://schemas.openxmlformats.org/drawingml/2006/main" noGrp="1"/>
          </p:cNvSpPr>
          <p:nvPr/>
        </p:nvSpPr>
        <p:spPr>
          <a:xfrm xmlns:a="http://schemas.openxmlformats.org/drawingml/2006/main">
            <a:off x="6572250" y="2990850"/>
            <a:ext cx="4933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350" b="1">
                <a:solidFill>
                  <a:srgbClr val="6CD8C9"/>
                </a:solidFill>
                <a:latin typeface="Inter"/>
                <a:ea typeface="Inter"/>
                <a:cs typeface="Inter"/>
              </a:defRPr>
            </a:defPPr>
          </a:lstStyle>
          <a:p xmlns:a="http://schemas.openxmlformats.org/drawingml/2006/main">
            <a:pPr>
              <a:defRPr sz="1350" b="1">
                <a:solidFill>
                  <a:srgbClr val="6CD8C9"/>
                </a:solidFill>
                <a:latin typeface="Inter"/>
                <a:ea typeface="Inter"/>
                <a:cs typeface="Inter"/>
              </a:defRPr>
            </a:pPr>
            <a:r>
              <a:rPr sz="1350" b="1">
                <a:solidFill>
                  <a:srgbClr val="6CD8C9"/>
                </a:solidFill>
                <a:latin typeface="Inter"/>
                <a:ea typeface="Inter"/>
                <a:cs typeface="Inter"/>
              </a:rPr>
              <a:t>EXAMPLE ANSWER: PARTIAL</a:t>
            </a:r>
          </a:p>
        </p:txBody>
      </p:sp>
      <p:sp>
        <p:nvSpPr>
          <p:cNvPr id="12" name="example">
            <a:extLst xmlns:a="http://schemas.openxmlformats.org/drawingml/2006/main">
              <a:ext uri="{FF2B5EF4-FFF2-40B4-BE49-F238E27FC236}">
                <a16:creationId xmlns:a16="http://schemas.microsoft.com/office/drawing/2014/main" id="{068697A7-DCF4-4857-AFF6-5697243B76A0}"/>
              </a:ext>
            </a:extLst>
          </p:cNvPr>
          <p:cNvSpPr>
            <a:spLocks xmlns:a="http://schemas.openxmlformats.org/drawingml/2006/main" noGrp="1"/>
          </p:cNvSpPr>
          <p:nvPr/>
        </p:nvSpPr>
        <p:spPr>
          <a:xfrm xmlns:a="http://schemas.openxmlformats.org/drawingml/2006/main">
            <a:off x="6572250" y="3343275"/>
            <a:ext cx="4933950" cy="1943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00" b="0">
                <a:solidFill>
                  <a:srgbClr val="F6FAF9"/>
                </a:solidFill>
                <a:latin typeface="Inter"/>
                <a:ea typeface="Inter"/>
                <a:cs typeface="Inter"/>
              </a:defRPr>
            </a:defPPr>
          </a:lstStyle>
          <a:p xmlns:a="http://schemas.openxmlformats.org/drawingml/2006/main">
            <a:pPr>
              <a:defRPr sz="2100" b="0">
                <a:solidFill>
                  <a:srgbClr val="F6FAF9"/>
                </a:solidFill>
                <a:latin typeface="Inter"/>
                <a:ea typeface="Inter"/>
                <a:cs typeface="Inter"/>
              </a:defRPr>
            </a:pPr>
            <a:r>
              <a:rPr sz="2100" b="0">
                <a:solidFill>
                  <a:srgbClr val="F6FAF9"/>
                </a:solidFill>
                <a:latin typeface="Inter"/>
                <a:ea typeface="Inter"/>
                <a:cs typeface="Inter"/>
              </a:rPr>
              <a:t>“We have an incident plan and contact list. We haven’t practised it or captured lessons from an exercise.”</a:t>
            </a:r>
          </a:p>
        </p:txBody>
      </p:sp>
      <p:sp>
        <p:nvSpPr>
          <p:cNvPr id="13" name="evidence-label">
            <a:extLst xmlns:a="http://schemas.openxmlformats.org/drawingml/2006/main">
              <a:ext uri="{FF2B5EF4-FFF2-40B4-BE49-F238E27FC236}">
                <a16:creationId xmlns:a16="http://schemas.microsoft.com/office/drawing/2014/main" id="{7DE22655-8DE8-4C14-9F05-4B3E11D33920}"/>
              </a:ext>
            </a:extLst>
          </p:cNvPr>
          <p:cNvSpPr>
            <a:spLocks xmlns:a="http://schemas.openxmlformats.org/drawingml/2006/main" noGrp="1"/>
          </p:cNvSpPr>
          <p:nvPr/>
        </p:nvSpPr>
        <p:spPr>
          <a:xfrm xmlns:a="http://schemas.openxmlformats.org/drawingml/2006/main">
            <a:off x="6572250" y="5410200"/>
            <a:ext cx="4933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350" b="1">
                <a:solidFill>
                  <a:srgbClr val="6CD8C9"/>
                </a:solidFill>
                <a:latin typeface="Inter"/>
                <a:ea typeface="Inter"/>
                <a:cs typeface="Inter"/>
              </a:defRPr>
            </a:defPPr>
          </a:lstStyle>
          <a:p xmlns:a="http://schemas.openxmlformats.org/drawingml/2006/main">
            <a:pPr>
              <a:defRPr sz="1350" b="1">
                <a:solidFill>
                  <a:srgbClr val="6CD8C9"/>
                </a:solidFill>
                <a:latin typeface="Inter"/>
                <a:ea typeface="Inter"/>
                <a:cs typeface="Inter"/>
              </a:defRPr>
            </a:pPr>
            <a:r>
              <a:rPr sz="1350" b="1">
                <a:solidFill>
                  <a:srgbClr val="6CD8C9"/>
                </a:solidFill>
                <a:latin typeface="Inter"/>
                <a:ea typeface="Inter"/>
                <a:cs typeface="Inter"/>
              </a:rPr>
              <a:t>EVIDENCE TO DISCUSS</a:t>
            </a:r>
          </a:p>
        </p:txBody>
      </p:sp>
      <p:sp>
        <p:nvSpPr>
          <p:cNvPr id="14" name="evidence">
            <a:extLst xmlns:a="http://schemas.openxmlformats.org/drawingml/2006/main">
              <a:ext uri="{FF2B5EF4-FFF2-40B4-BE49-F238E27FC236}">
                <a16:creationId xmlns:a16="http://schemas.microsoft.com/office/drawing/2014/main" id="{D8BD9C70-2DA4-4AD3-ABE1-45113A05A917}"/>
              </a:ext>
            </a:extLst>
          </p:cNvPr>
          <p:cNvSpPr>
            <a:spLocks xmlns:a="http://schemas.openxmlformats.org/drawingml/2006/main" noGrp="1"/>
          </p:cNvSpPr>
          <p:nvPr/>
        </p:nvSpPr>
        <p:spPr>
          <a:xfrm xmlns:a="http://schemas.openxmlformats.org/drawingml/2006/main">
            <a:off x="6572250" y="5762625"/>
            <a:ext cx="493395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725" b="0">
                <a:solidFill>
                  <a:srgbClr val="D7E2DF"/>
                </a:solidFill>
                <a:latin typeface="Inter"/>
                <a:ea typeface="Inter"/>
                <a:cs typeface="Inter"/>
              </a:defRPr>
            </a:defPPr>
          </a:lstStyle>
          <a:p xmlns:a="http://schemas.openxmlformats.org/drawingml/2006/main">
            <a:pPr>
              <a:defRPr sz="1725" b="0">
                <a:solidFill>
                  <a:srgbClr val="D7E2DF"/>
                </a:solidFill>
                <a:latin typeface="Inter"/>
                <a:ea typeface="Inter"/>
                <a:cs typeface="Inter"/>
              </a:defRPr>
            </a:pPr>
            <a:r>
              <a:rPr sz="1725" b="0">
                <a:solidFill>
                  <a:srgbClr val="D7E2DF"/>
                </a:solidFill>
                <a:latin typeface="Inter"/>
                <a:ea typeface="Inter"/>
                <a:cs typeface="Inter"/>
              </a:rPr>
              <a:t>Incident response plan</a:t>
            </a:r>
          </a:p>
          <a:p xmlns:a="http://schemas.openxmlformats.org/drawingml/2006/main">
            <a:pPr>
              <a:defRPr sz="1725" b="0">
                <a:solidFill>
                  <a:srgbClr val="D7E2DF"/>
                </a:solidFill>
                <a:latin typeface="Inter"/>
                <a:ea typeface="Inter"/>
                <a:cs typeface="Inter"/>
              </a:defRPr>
            </a:pPr>
            <a:r>
              <a:rPr sz="1725" b="0">
                <a:solidFill>
                  <a:srgbClr val="D7E2DF"/>
                </a:solidFill>
                <a:latin typeface="Inter"/>
                <a:ea typeface="Inter"/>
                <a:cs typeface="Inter"/>
              </a:rPr>
              <a:t>Tabletop record</a:t>
            </a:r>
          </a:p>
        </p:txBody>
      </p:sp>
    </p:spTree>
    <p:extLst>
      <p:ext uri="{BB962C8B-B14F-4D97-AF65-F5344CB8AC3E}">
        <p14:creationId xmlns:p14="http://schemas.microsoft.com/office/powerpoint/2010/main" val="1331837571"/>
      </p:ext>
    </p:extLst>
  </p:cSld>
</p:sld>
</file>

<file path=ppt/slides/slide14.xml><?xml version="1.0" encoding="utf-8"?>
<p:sld xmlns:p="http://schemas.openxmlformats.org/presentationml/2006/main">
  <p:cSld>
    <p:bg>
      <p:bgPr>
        <a:solidFill xmlns:a="http://schemas.openxmlformats.org/drawingml/2006/main">
          <a:srgbClr val="08100F"/>
        </a:solidFill>
      </p:bgPr>
    </p:bg>
    <p:spTree>
      <p:nvGrpSpPr>
        <p:cNvPr id="1" name=""/>
        <p:cNvGrpSpPr/>
        <p:nvPr/>
      </p:nvGrpSpPr>
      <p:grpSpPr>
        <a:xfrm xmlns:a="http://schemas.openxmlformats.org/drawingml/2006/main"/>
      </p:grpSpPr>
      <p:sp>
        <p:nvSpPr>
          <p:cNvPr id="15" name="brand">
            <a:extLst xmlns:a="http://schemas.openxmlformats.org/drawingml/2006/main">
              <a:ext uri="{FF2B5EF4-FFF2-40B4-BE49-F238E27FC236}">
                <a16:creationId xmlns:a16="http://schemas.microsoft.com/office/drawing/2014/main" id="{589A3ECA-40D6-49D0-94F8-519186D1ECB2}"/>
              </a:ext>
            </a:extLst>
          </p:cNvPr>
          <p:cNvSpPr>
            <a:spLocks xmlns:a="http://schemas.openxmlformats.org/drawingml/2006/main" noGrp="1"/>
          </p:cNvSpPr>
          <p:nvPr/>
        </p:nvSpPr>
        <p:spPr>
          <a:xfrm xmlns:a="http://schemas.openxmlformats.org/drawingml/2006/main">
            <a:off x="685800" y="323850"/>
            <a:ext cx="2952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00" b="1">
                <a:solidFill>
                  <a:srgbClr val="F6FAF9"/>
                </a:solidFill>
                <a:latin typeface="Inter"/>
                <a:ea typeface="Inter"/>
                <a:cs typeface="Inter"/>
              </a:defRPr>
            </a:defPPr>
          </a:lstStyle>
          <a:p xmlns:a="http://schemas.openxmlformats.org/drawingml/2006/main">
            <a:pPr>
              <a:defRPr sz="1800" b="1">
                <a:solidFill>
                  <a:srgbClr val="F6FAF9"/>
                </a:solidFill>
                <a:latin typeface="Inter"/>
                <a:ea typeface="Inter"/>
                <a:cs typeface="Inter"/>
              </a:defRPr>
            </a:pPr>
            <a:r>
              <a:rPr sz="1800" b="1">
                <a:solidFill>
                  <a:srgbClr val="F6FAF9"/>
                </a:solidFill>
                <a:latin typeface="Inter"/>
                <a:ea typeface="Inter"/>
                <a:cs typeface="Inter"/>
              </a:rPr>
              <a:t>NO FRIES</a:t>
            </a:r>
          </a:p>
        </p:txBody>
      </p:sp>
      <p:sp>
        <p:nvSpPr>
          <p:cNvPr id="2" name="section">
            <a:extLst xmlns:a="http://schemas.openxmlformats.org/drawingml/2006/main">
              <a:ext uri="{FF2B5EF4-FFF2-40B4-BE49-F238E27FC236}">
                <a16:creationId xmlns:a16="http://schemas.microsoft.com/office/drawing/2014/main" id="{93102C0F-2FB5-470D-98CC-706D4B257AB6}"/>
              </a:ext>
            </a:extLst>
          </p:cNvPr>
          <p:cNvSpPr>
            <a:spLocks xmlns:a="http://schemas.openxmlformats.org/drawingml/2006/main" noGrp="1"/>
          </p:cNvSpPr>
          <p:nvPr/>
        </p:nvSpPr>
        <p:spPr>
          <a:xfrm xmlns:a="http://schemas.openxmlformats.org/drawingml/2006/main">
            <a:off x="5524500" y="371475"/>
            <a:ext cx="59817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1">
                <a:solidFill>
                  <a:srgbClr val="6CD8C9"/>
                </a:solidFill>
                <a:latin typeface="Inter"/>
                <a:ea typeface="Inter"/>
                <a:cs typeface="Inter"/>
              </a:defRPr>
            </a:defPPr>
          </a:lstStyle>
          <a:p xmlns:a="http://schemas.openxmlformats.org/drawingml/2006/main">
            <a:pPr algn="r">
              <a:defRPr sz="1200" b="1">
                <a:solidFill>
                  <a:srgbClr val="6CD8C9"/>
                </a:solidFill>
                <a:latin typeface="Inter"/>
                <a:ea typeface="Inter"/>
                <a:cs typeface="Inter"/>
              </a:defRPr>
            </a:pPr>
            <a:r>
              <a:rPr sz="1200" b="1">
                <a:solidFill>
                  <a:srgbClr val="6CD8C9"/>
                </a:solidFill>
                <a:latin typeface="Inter"/>
                <a:ea typeface="Inter"/>
                <a:cs typeface="Inter"/>
              </a:rPr>
              <a:t>QUESTION 11 / 14</a:t>
            </a:r>
          </a:p>
        </p:txBody>
      </p:sp>
      <p:sp>
        <p:nvSpPr>
          <p:cNvPr id="3" name="page">
            <a:extLst xmlns:a="http://schemas.openxmlformats.org/drawingml/2006/main">
              <a:ext uri="{FF2B5EF4-FFF2-40B4-BE49-F238E27FC236}">
                <a16:creationId xmlns:a16="http://schemas.microsoft.com/office/drawing/2014/main" id="{E673928B-22CC-45EE-BFD3-700A6AC15E4C}"/>
              </a:ext>
            </a:extLst>
          </p:cNvPr>
          <p:cNvSpPr>
            <a:spLocks xmlns:a="http://schemas.openxmlformats.org/drawingml/2006/main" noGrp="1"/>
          </p:cNvSpPr>
          <p:nvPr/>
        </p:nvSpPr>
        <p:spPr>
          <a:xfrm xmlns:a="http://schemas.openxmlformats.org/drawingml/2006/main">
            <a:off x="10934700" y="6429375"/>
            <a:ext cx="5715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A9BBB7"/>
                </a:solidFill>
                <a:latin typeface="Inter"/>
                <a:ea typeface="Inter"/>
                <a:cs typeface="Inter"/>
              </a:defRPr>
            </a:defPPr>
          </a:lstStyle>
          <a:p xmlns:a="http://schemas.openxmlformats.org/drawingml/2006/main">
            <a:pPr algn="r">
              <a:defRPr sz="1200" b="0">
                <a:solidFill>
                  <a:srgbClr val="A9BBB7"/>
                </a:solidFill>
                <a:latin typeface="Inter"/>
                <a:ea typeface="Inter"/>
                <a:cs typeface="Inter"/>
              </a:defRPr>
            </a:pPr>
            <a:r>
              <a:rPr sz="1200" b="0">
                <a:solidFill>
                  <a:srgbClr val="A9BBB7"/>
                </a:solidFill>
                <a:latin typeface="Inter"/>
                <a:ea typeface="Inter"/>
                <a:cs typeface="Inter"/>
              </a:rPr>
              <a:t>14</a:t>
            </a:r>
          </a:p>
        </p:txBody>
      </p:sp>
      <p:sp>
        <p:nvSpPr>
          <p:cNvPr id="4" name="question-id">
            <a:extLst xmlns:a="http://schemas.openxmlformats.org/drawingml/2006/main">
              <a:ext uri="{FF2B5EF4-FFF2-40B4-BE49-F238E27FC236}">
                <a16:creationId xmlns:a16="http://schemas.microsoft.com/office/drawing/2014/main" id="{5B4548AA-7338-4264-95DA-1900D8F84996}"/>
              </a:ext>
            </a:extLst>
          </p:cNvPr>
          <p:cNvSpPr>
            <a:spLocks xmlns:a="http://schemas.openxmlformats.org/drawingml/2006/main" noGrp="1"/>
          </p:cNvSpPr>
          <p:nvPr/>
        </p:nvSpPr>
        <p:spPr>
          <a:xfrm xmlns:a="http://schemas.openxmlformats.org/drawingml/2006/main">
            <a:off x="685800" y="828675"/>
            <a:ext cx="52387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00" b="0">
                <a:solidFill>
                  <a:srgbClr val="A9BBB7"/>
                </a:solidFill>
                <a:latin typeface="Inter"/>
                <a:ea typeface="Inter"/>
                <a:cs typeface="Inter"/>
              </a:defRPr>
            </a:defPPr>
          </a:lstStyle>
          <a:p xmlns:a="http://schemas.openxmlformats.org/drawingml/2006/main">
            <a:pPr>
              <a:defRPr sz="1200" b="0">
                <a:solidFill>
                  <a:srgbClr val="A9BBB7"/>
                </a:solidFill>
                <a:latin typeface="Inter"/>
                <a:ea typeface="Inter"/>
                <a:cs typeface="Inter"/>
              </a:defRPr>
            </a:pPr>
            <a:r>
              <a:rPr sz="1200" b="0">
                <a:solidFill>
                  <a:srgbClr val="A9BBB7"/>
                </a:solidFill>
                <a:latin typeface="Inter"/>
                <a:ea typeface="Inter"/>
                <a:cs typeface="Inter"/>
              </a:rPr>
              <a:t>NF-NCSC-CC-PM-01-Q1</a:t>
            </a:r>
          </a:p>
        </p:txBody>
      </p:sp>
      <p:sp>
        <p:nvSpPr>
          <p:cNvPr id="5" name="function">
            <a:extLst xmlns:a="http://schemas.openxmlformats.org/drawingml/2006/main">
              <a:ext uri="{FF2B5EF4-FFF2-40B4-BE49-F238E27FC236}">
                <a16:creationId xmlns:a16="http://schemas.microsoft.com/office/drawing/2014/main" id="{E8AE7997-09E3-4337-8310-4FBA55D67E92}"/>
              </a:ext>
            </a:extLst>
          </p:cNvPr>
          <p:cNvSpPr>
            <a:spLocks xmlns:a="http://schemas.openxmlformats.org/drawingml/2006/main" noGrp="1"/>
          </p:cNvSpPr>
          <p:nvPr/>
        </p:nvSpPr>
        <p:spPr>
          <a:xfrm xmlns:a="http://schemas.openxmlformats.org/drawingml/2006/main">
            <a:off x="6524625" y="828675"/>
            <a:ext cx="4981575"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1">
                <a:solidFill>
                  <a:srgbClr val="6CD8C9"/>
                </a:solidFill>
                <a:latin typeface="Inter"/>
                <a:ea typeface="Inter"/>
                <a:cs typeface="Inter"/>
              </a:defRPr>
            </a:defPPr>
          </a:lstStyle>
          <a:p xmlns:a="http://schemas.openxmlformats.org/drawingml/2006/main">
            <a:pPr algn="r">
              <a:defRPr sz="1275" b="1">
                <a:solidFill>
                  <a:srgbClr val="6CD8C9"/>
                </a:solidFill>
                <a:latin typeface="Inter"/>
                <a:ea typeface="Inter"/>
                <a:cs typeface="Inter"/>
              </a:defRPr>
            </a:pPr>
            <a:r>
              <a:rPr sz="1275" b="1">
                <a:solidFill>
                  <a:srgbClr val="6CD8C9"/>
                </a:solidFill>
                <a:latin typeface="Inter"/>
                <a:ea typeface="Inter"/>
                <a:cs typeface="Inter"/>
              </a:rPr>
              <a:t>Prevent and Protect</a:t>
            </a:r>
          </a:p>
        </p:txBody>
      </p:sp>
      <p:sp>
        <p:nvSpPr>
          <p:cNvPr id="6" name="question-prompt">
            <a:extLst xmlns:a="http://schemas.openxmlformats.org/drawingml/2006/main">
              <a:ext uri="{FF2B5EF4-FFF2-40B4-BE49-F238E27FC236}">
                <a16:creationId xmlns:a16="http://schemas.microsoft.com/office/drawing/2014/main" id="{39B4A6A0-FAD5-4C15-AC47-2BE35E40D6DF}"/>
              </a:ext>
            </a:extLst>
          </p:cNvPr>
          <p:cNvSpPr>
            <a:spLocks xmlns:a="http://schemas.openxmlformats.org/drawingml/2006/main" noGrp="1"/>
          </p:cNvSpPr>
          <p:nvPr/>
        </p:nvSpPr>
        <p:spPr>
          <a:xfrm xmlns:a="http://schemas.openxmlformats.org/drawingml/2006/main">
            <a:off x="685800" y="1285875"/>
            <a:ext cx="10820400" cy="1390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000" b="1">
                <a:solidFill>
                  <a:srgbClr val="F6FAF9"/>
                </a:solidFill>
                <a:latin typeface="Inter"/>
                <a:ea typeface="Inter"/>
                <a:cs typeface="Inter"/>
              </a:defRPr>
            </a:defPPr>
          </a:lstStyle>
          <a:p xmlns:a="http://schemas.openxmlformats.org/drawingml/2006/main">
            <a:pPr>
              <a:defRPr sz="3000" b="1">
                <a:solidFill>
                  <a:srgbClr val="F6FAF9"/>
                </a:solidFill>
                <a:latin typeface="Inter"/>
                <a:ea typeface="Inter"/>
                <a:cs typeface="Inter"/>
              </a:defRPr>
            </a:pPr>
            <a:r>
              <a:rPr sz="3000" b="1">
                <a:solidFill>
                  <a:srgbClr val="F6FAF9"/>
                </a:solidFill>
                <a:latin typeface="Inter"/>
                <a:ea typeface="Inter"/>
                <a:cs typeface="Inter"/>
              </a:rPr>
              <a:t>Does the organisation provide and govern a password manager that people actually use for unique passwords and approved sharing?</a:t>
            </a:r>
          </a:p>
        </p:txBody>
      </p:sp>
      <p:sp>
        <p:nvSpPr>
          <p:cNvPr id="7" name="meaning-label">
            <a:extLst xmlns:a="http://schemas.openxmlformats.org/drawingml/2006/main">
              <a:ext uri="{FF2B5EF4-FFF2-40B4-BE49-F238E27FC236}">
                <a16:creationId xmlns:a16="http://schemas.microsoft.com/office/drawing/2014/main" id="{578668E5-AA02-4DBC-880E-DFC131D4B2D2}"/>
              </a:ext>
            </a:extLst>
          </p:cNvPr>
          <p:cNvSpPr>
            <a:spLocks xmlns:a="http://schemas.openxmlformats.org/drawingml/2006/main" noGrp="1"/>
          </p:cNvSpPr>
          <p:nvPr/>
        </p:nvSpPr>
        <p:spPr>
          <a:xfrm xmlns:a="http://schemas.openxmlformats.org/drawingml/2006/main">
            <a:off x="685800" y="2990850"/>
            <a:ext cx="50101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350" b="1">
                <a:solidFill>
                  <a:srgbClr val="6CD8C9"/>
                </a:solidFill>
                <a:latin typeface="Inter"/>
                <a:ea typeface="Inter"/>
                <a:cs typeface="Inter"/>
              </a:defRPr>
            </a:defPPr>
          </a:lstStyle>
          <a:p xmlns:a="http://schemas.openxmlformats.org/drawingml/2006/main">
            <a:pPr>
              <a:defRPr sz="1350" b="1">
                <a:solidFill>
                  <a:srgbClr val="6CD8C9"/>
                </a:solidFill>
                <a:latin typeface="Inter"/>
                <a:ea typeface="Inter"/>
                <a:cs typeface="Inter"/>
              </a:defRPr>
            </a:pPr>
            <a:r>
              <a:rPr sz="1350" b="1">
                <a:solidFill>
                  <a:srgbClr val="6CD8C9"/>
                </a:solidFill>
                <a:latin typeface="Inter"/>
                <a:ea typeface="Inter"/>
                <a:cs typeface="Inter"/>
              </a:rPr>
              <a:t>WHAT THIS MEANS</a:t>
            </a:r>
          </a:p>
        </p:txBody>
      </p:sp>
      <p:sp>
        <p:nvSpPr>
          <p:cNvPr id="8" name="meaning">
            <a:extLst xmlns:a="http://schemas.openxmlformats.org/drawingml/2006/main">
              <a:ext uri="{FF2B5EF4-FFF2-40B4-BE49-F238E27FC236}">
                <a16:creationId xmlns:a16="http://schemas.microsoft.com/office/drawing/2014/main" id="{F3F759D1-48D5-4893-A891-61901194EE71}"/>
              </a:ext>
            </a:extLst>
          </p:cNvPr>
          <p:cNvSpPr>
            <a:spLocks xmlns:a="http://schemas.openxmlformats.org/drawingml/2006/main" noGrp="1"/>
          </p:cNvSpPr>
          <p:nvPr/>
        </p:nvSpPr>
        <p:spPr>
          <a:xfrm xmlns:a="http://schemas.openxmlformats.org/drawingml/2006/main">
            <a:off x="685800" y="3343275"/>
            <a:ext cx="5010150" cy="1228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950" b="0">
                <a:solidFill>
                  <a:srgbClr val="D7E2DF"/>
                </a:solidFill>
                <a:latin typeface="Inter"/>
                <a:ea typeface="Inter"/>
                <a:cs typeface="Inter"/>
              </a:defRPr>
            </a:defPPr>
          </a:lstStyle>
          <a:p xmlns:a="http://schemas.openxmlformats.org/drawingml/2006/main">
            <a:pPr>
              <a:defRPr sz="1950" b="0">
                <a:solidFill>
                  <a:srgbClr val="D7E2DF"/>
                </a:solidFill>
                <a:latin typeface="Inter"/>
                <a:ea typeface="Inter"/>
                <a:cs typeface="Inter"/>
              </a:defRPr>
            </a:pPr>
            <a:r>
              <a:rPr sz="1950" b="0">
                <a:solidFill>
                  <a:srgbClr val="D7E2DF"/>
                </a:solidFill>
                <a:latin typeface="Inter"/>
                <a:ea typeface="Inter"/>
                <a:cs typeface="Inter"/>
              </a:rPr>
              <a:t>The organisation provides a password manager and governs its use, including shared access and unique passwords.</a:t>
            </a:r>
          </a:p>
        </p:txBody>
      </p:sp>
      <p:sp>
        <p:nvSpPr>
          <p:cNvPr id="9" name="why-label">
            <a:extLst xmlns:a="http://schemas.openxmlformats.org/drawingml/2006/main">
              <a:ext uri="{FF2B5EF4-FFF2-40B4-BE49-F238E27FC236}">
                <a16:creationId xmlns:a16="http://schemas.microsoft.com/office/drawing/2014/main" id="{71604D72-8E91-4486-9F77-A5CB0BE64CD1}"/>
              </a:ext>
            </a:extLst>
          </p:cNvPr>
          <p:cNvSpPr>
            <a:spLocks xmlns:a="http://schemas.openxmlformats.org/drawingml/2006/main" noGrp="1"/>
          </p:cNvSpPr>
          <p:nvPr/>
        </p:nvSpPr>
        <p:spPr>
          <a:xfrm xmlns:a="http://schemas.openxmlformats.org/drawingml/2006/main">
            <a:off x="685800" y="4714875"/>
            <a:ext cx="50101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350" b="1">
                <a:solidFill>
                  <a:srgbClr val="6CD8C9"/>
                </a:solidFill>
                <a:latin typeface="Inter"/>
                <a:ea typeface="Inter"/>
                <a:cs typeface="Inter"/>
              </a:defRPr>
            </a:defPPr>
          </a:lstStyle>
          <a:p xmlns:a="http://schemas.openxmlformats.org/drawingml/2006/main">
            <a:pPr>
              <a:defRPr sz="1350" b="1">
                <a:solidFill>
                  <a:srgbClr val="6CD8C9"/>
                </a:solidFill>
                <a:latin typeface="Inter"/>
                <a:ea typeface="Inter"/>
                <a:cs typeface="Inter"/>
              </a:defRPr>
            </a:pPr>
            <a:r>
              <a:rPr sz="1350" b="1">
                <a:solidFill>
                  <a:srgbClr val="6CD8C9"/>
                </a:solidFill>
                <a:latin typeface="Inter"/>
                <a:ea typeface="Inter"/>
                <a:cs typeface="Inter"/>
              </a:rPr>
              <a:t>WHY IT MATTERS</a:t>
            </a:r>
          </a:p>
        </p:txBody>
      </p:sp>
      <p:sp>
        <p:nvSpPr>
          <p:cNvPr id="10" name="why">
            <a:extLst xmlns:a="http://schemas.openxmlformats.org/drawingml/2006/main">
              <a:ext uri="{FF2B5EF4-FFF2-40B4-BE49-F238E27FC236}">
                <a16:creationId xmlns:a16="http://schemas.microsoft.com/office/drawing/2014/main" id="{A7692234-47E9-4A9B-B4CA-2FF04156271B}"/>
              </a:ext>
            </a:extLst>
          </p:cNvPr>
          <p:cNvSpPr>
            <a:spLocks xmlns:a="http://schemas.openxmlformats.org/drawingml/2006/main" noGrp="1"/>
          </p:cNvSpPr>
          <p:nvPr/>
        </p:nvSpPr>
        <p:spPr>
          <a:xfrm xmlns:a="http://schemas.openxmlformats.org/drawingml/2006/main">
            <a:off x="685800" y="5067300"/>
            <a:ext cx="50101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00" b="0">
                <a:solidFill>
                  <a:srgbClr val="D7E2DF"/>
                </a:solidFill>
                <a:latin typeface="Inter"/>
                <a:ea typeface="Inter"/>
                <a:cs typeface="Inter"/>
              </a:defRPr>
            </a:defPPr>
          </a:lstStyle>
          <a:p xmlns:a="http://schemas.openxmlformats.org/drawingml/2006/main">
            <a:pPr>
              <a:defRPr sz="1800" b="0">
                <a:solidFill>
                  <a:srgbClr val="D7E2DF"/>
                </a:solidFill>
                <a:latin typeface="Inter"/>
                <a:ea typeface="Inter"/>
                <a:cs typeface="Inter"/>
              </a:defRPr>
            </a:pPr>
            <a:r>
              <a:rPr sz="1800" b="0">
                <a:solidFill>
                  <a:srgbClr val="D7E2DF"/>
                </a:solidFill>
                <a:latin typeface="Inter"/>
                <a:ea typeface="Inter"/>
                <a:cs typeface="Inter"/>
              </a:rPr>
              <a:t>A managed tool makes strong passwords and controlled sharing easier to use.</a:t>
            </a:r>
          </a:p>
        </p:txBody>
      </p:sp>
      <p:sp>
        <p:nvSpPr>
          <p:cNvPr id="11" name="example-label">
            <a:extLst xmlns:a="http://schemas.openxmlformats.org/drawingml/2006/main">
              <a:ext uri="{FF2B5EF4-FFF2-40B4-BE49-F238E27FC236}">
                <a16:creationId xmlns:a16="http://schemas.microsoft.com/office/drawing/2014/main" id="{9228E042-FC64-48BB-A2E4-44D4DB4E84EC}"/>
              </a:ext>
            </a:extLst>
          </p:cNvPr>
          <p:cNvSpPr>
            <a:spLocks xmlns:a="http://schemas.openxmlformats.org/drawingml/2006/main" noGrp="1"/>
          </p:cNvSpPr>
          <p:nvPr/>
        </p:nvSpPr>
        <p:spPr>
          <a:xfrm xmlns:a="http://schemas.openxmlformats.org/drawingml/2006/main">
            <a:off x="6572250" y="2990850"/>
            <a:ext cx="4933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350" b="1">
                <a:solidFill>
                  <a:srgbClr val="6CD8C9"/>
                </a:solidFill>
                <a:latin typeface="Inter"/>
                <a:ea typeface="Inter"/>
                <a:cs typeface="Inter"/>
              </a:defRPr>
            </a:defPPr>
          </a:lstStyle>
          <a:p xmlns:a="http://schemas.openxmlformats.org/drawingml/2006/main">
            <a:pPr>
              <a:defRPr sz="1350" b="1">
                <a:solidFill>
                  <a:srgbClr val="6CD8C9"/>
                </a:solidFill>
                <a:latin typeface="Inter"/>
                <a:ea typeface="Inter"/>
                <a:cs typeface="Inter"/>
              </a:defRPr>
            </a:pPr>
            <a:r>
              <a:rPr sz="1350" b="1">
                <a:solidFill>
                  <a:srgbClr val="6CD8C9"/>
                </a:solidFill>
                <a:latin typeface="Inter"/>
                <a:ea typeface="Inter"/>
                <a:cs typeface="Inter"/>
              </a:rPr>
              <a:t>EXAMPLE ANSWER: PARTIAL</a:t>
            </a:r>
          </a:p>
        </p:txBody>
      </p:sp>
      <p:sp>
        <p:nvSpPr>
          <p:cNvPr id="12" name="example">
            <a:extLst xmlns:a="http://schemas.openxmlformats.org/drawingml/2006/main">
              <a:ext uri="{FF2B5EF4-FFF2-40B4-BE49-F238E27FC236}">
                <a16:creationId xmlns:a16="http://schemas.microsoft.com/office/drawing/2014/main" id="{35380EC4-F806-46C7-A0C0-73185C54CA89}"/>
              </a:ext>
            </a:extLst>
          </p:cNvPr>
          <p:cNvSpPr>
            <a:spLocks xmlns:a="http://schemas.openxmlformats.org/drawingml/2006/main" noGrp="1"/>
          </p:cNvSpPr>
          <p:nvPr/>
        </p:nvSpPr>
        <p:spPr>
          <a:xfrm xmlns:a="http://schemas.openxmlformats.org/drawingml/2006/main">
            <a:off x="6572250" y="3343275"/>
            <a:ext cx="4933950" cy="1943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00" b="0">
                <a:solidFill>
                  <a:srgbClr val="F6FAF9"/>
                </a:solidFill>
                <a:latin typeface="Inter"/>
                <a:ea typeface="Inter"/>
                <a:cs typeface="Inter"/>
              </a:defRPr>
            </a:defPPr>
          </a:lstStyle>
          <a:p xmlns:a="http://schemas.openxmlformats.org/drawingml/2006/main">
            <a:pPr>
              <a:defRPr sz="2100" b="0">
                <a:solidFill>
                  <a:srgbClr val="F6FAF9"/>
                </a:solidFill>
                <a:latin typeface="Inter"/>
                <a:ea typeface="Inter"/>
                <a:cs typeface="Inter"/>
              </a:defRPr>
            </a:pPr>
            <a:r>
              <a:rPr sz="2100" b="0">
                <a:solidFill>
                  <a:srgbClr val="F6FAF9"/>
                </a:solidFill>
                <a:latin typeface="Inter"/>
                <a:ea typeface="Inter"/>
                <a:cs typeface="Inter"/>
              </a:rPr>
              <a:t>“We provide a password manager. Some teams still share credentials in spreadsheets, and we haven’t checked adoption.”</a:t>
            </a:r>
          </a:p>
        </p:txBody>
      </p:sp>
      <p:sp>
        <p:nvSpPr>
          <p:cNvPr id="13" name="evidence-label">
            <a:extLst xmlns:a="http://schemas.openxmlformats.org/drawingml/2006/main">
              <a:ext uri="{FF2B5EF4-FFF2-40B4-BE49-F238E27FC236}">
                <a16:creationId xmlns:a16="http://schemas.microsoft.com/office/drawing/2014/main" id="{8974A817-7B1E-4B9B-87B8-7349941111A1}"/>
              </a:ext>
            </a:extLst>
          </p:cNvPr>
          <p:cNvSpPr>
            <a:spLocks xmlns:a="http://schemas.openxmlformats.org/drawingml/2006/main" noGrp="1"/>
          </p:cNvSpPr>
          <p:nvPr/>
        </p:nvSpPr>
        <p:spPr>
          <a:xfrm xmlns:a="http://schemas.openxmlformats.org/drawingml/2006/main">
            <a:off x="6572250" y="5410200"/>
            <a:ext cx="4933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350" b="1">
                <a:solidFill>
                  <a:srgbClr val="6CD8C9"/>
                </a:solidFill>
                <a:latin typeface="Inter"/>
                <a:ea typeface="Inter"/>
                <a:cs typeface="Inter"/>
              </a:defRPr>
            </a:defPPr>
          </a:lstStyle>
          <a:p xmlns:a="http://schemas.openxmlformats.org/drawingml/2006/main">
            <a:pPr>
              <a:defRPr sz="1350" b="1">
                <a:solidFill>
                  <a:srgbClr val="6CD8C9"/>
                </a:solidFill>
                <a:latin typeface="Inter"/>
                <a:ea typeface="Inter"/>
                <a:cs typeface="Inter"/>
              </a:defRPr>
            </a:pPr>
            <a:r>
              <a:rPr sz="1350" b="1">
                <a:solidFill>
                  <a:srgbClr val="6CD8C9"/>
                </a:solidFill>
                <a:latin typeface="Inter"/>
                <a:ea typeface="Inter"/>
                <a:cs typeface="Inter"/>
              </a:rPr>
              <a:t>EVIDENCE TO DISCUSS</a:t>
            </a:r>
          </a:p>
        </p:txBody>
      </p:sp>
      <p:sp>
        <p:nvSpPr>
          <p:cNvPr id="14" name="evidence">
            <a:extLst xmlns:a="http://schemas.openxmlformats.org/drawingml/2006/main">
              <a:ext uri="{FF2B5EF4-FFF2-40B4-BE49-F238E27FC236}">
                <a16:creationId xmlns:a16="http://schemas.microsoft.com/office/drawing/2014/main" id="{25114458-5244-4181-B102-0C109F90EDD7}"/>
              </a:ext>
            </a:extLst>
          </p:cNvPr>
          <p:cNvSpPr>
            <a:spLocks xmlns:a="http://schemas.openxmlformats.org/drawingml/2006/main" noGrp="1"/>
          </p:cNvSpPr>
          <p:nvPr/>
        </p:nvSpPr>
        <p:spPr>
          <a:xfrm xmlns:a="http://schemas.openxmlformats.org/drawingml/2006/main">
            <a:off x="6572250" y="5762625"/>
            <a:ext cx="493395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725" b="0">
                <a:solidFill>
                  <a:srgbClr val="D7E2DF"/>
                </a:solidFill>
                <a:latin typeface="Inter"/>
                <a:ea typeface="Inter"/>
                <a:cs typeface="Inter"/>
              </a:defRPr>
            </a:defPPr>
          </a:lstStyle>
          <a:p xmlns:a="http://schemas.openxmlformats.org/drawingml/2006/main">
            <a:pPr>
              <a:defRPr sz="1725" b="0">
                <a:solidFill>
                  <a:srgbClr val="D7E2DF"/>
                </a:solidFill>
                <a:latin typeface="Inter"/>
                <a:ea typeface="Inter"/>
                <a:cs typeface="Inter"/>
              </a:defRPr>
            </a:pPr>
            <a:r>
              <a:rPr sz="1725" b="0">
                <a:solidFill>
                  <a:srgbClr val="D7E2DF"/>
                </a:solidFill>
                <a:latin typeface="Inter"/>
                <a:ea typeface="Inter"/>
                <a:cs typeface="Inter"/>
              </a:rPr>
              <a:t>User coverage</a:t>
            </a:r>
          </a:p>
          <a:p xmlns:a="http://schemas.openxmlformats.org/drawingml/2006/main">
            <a:pPr>
              <a:defRPr sz="1725" b="0">
                <a:solidFill>
                  <a:srgbClr val="D7E2DF"/>
                </a:solidFill>
                <a:latin typeface="Inter"/>
                <a:ea typeface="Inter"/>
                <a:cs typeface="Inter"/>
              </a:defRPr>
            </a:pPr>
            <a:r>
              <a:rPr sz="1725" b="0">
                <a:solidFill>
                  <a:srgbClr val="D7E2DF"/>
                </a:solidFill>
                <a:latin typeface="Inter"/>
                <a:ea typeface="Inter"/>
                <a:cs typeface="Inter"/>
              </a:rPr>
              <a:t>Sharing policy</a:t>
            </a:r>
          </a:p>
        </p:txBody>
      </p:sp>
    </p:spTree>
    <p:extLst>
      <p:ext uri="{BB962C8B-B14F-4D97-AF65-F5344CB8AC3E}">
        <p14:creationId xmlns:p14="http://schemas.microsoft.com/office/powerpoint/2010/main" val="2142238350"/>
      </p:ext>
    </p:extLst>
  </p:cSld>
</p:sld>
</file>

<file path=ppt/slides/slide15.xml><?xml version="1.0" encoding="utf-8"?>
<p:sld xmlns:p="http://schemas.openxmlformats.org/presentationml/2006/main">
  <p:cSld>
    <p:bg>
      <p:bgPr>
        <a:solidFill xmlns:a="http://schemas.openxmlformats.org/drawingml/2006/main">
          <a:srgbClr val="08100F"/>
        </a:solidFill>
      </p:bgPr>
    </p:bg>
    <p:spTree>
      <p:nvGrpSpPr>
        <p:cNvPr id="1" name=""/>
        <p:cNvGrpSpPr/>
        <p:nvPr/>
      </p:nvGrpSpPr>
      <p:grpSpPr>
        <a:xfrm xmlns:a="http://schemas.openxmlformats.org/drawingml/2006/main"/>
      </p:grpSpPr>
      <p:sp>
        <p:nvSpPr>
          <p:cNvPr id="15" name="brand">
            <a:extLst xmlns:a="http://schemas.openxmlformats.org/drawingml/2006/main">
              <a:ext uri="{FF2B5EF4-FFF2-40B4-BE49-F238E27FC236}">
                <a16:creationId xmlns:a16="http://schemas.microsoft.com/office/drawing/2014/main" id="{975DCED9-0F51-4648-803C-806E32DFC09A}"/>
              </a:ext>
            </a:extLst>
          </p:cNvPr>
          <p:cNvSpPr>
            <a:spLocks xmlns:a="http://schemas.openxmlformats.org/drawingml/2006/main" noGrp="1"/>
          </p:cNvSpPr>
          <p:nvPr/>
        </p:nvSpPr>
        <p:spPr>
          <a:xfrm xmlns:a="http://schemas.openxmlformats.org/drawingml/2006/main">
            <a:off x="685800" y="323850"/>
            <a:ext cx="2952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00" b="1">
                <a:solidFill>
                  <a:srgbClr val="F6FAF9"/>
                </a:solidFill>
                <a:latin typeface="Inter"/>
                <a:ea typeface="Inter"/>
                <a:cs typeface="Inter"/>
              </a:defRPr>
            </a:defPPr>
          </a:lstStyle>
          <a:p xmlns:a="http://schemas.openxmlformats.org/drawingml/2006/main">
            <a:pPr>
              <a:defRPr sz="1800" b="1">
                <a:solidFill>
                  <a:srgbClr val="F6FAF9"/>
                </a:solidFill>
                <a:latin typeface="Inter"/>
                <a:ea typeface="Inter"/>
                <a:cs typeface="Inter"/>
              </a:defRPr>
            </a:pPr>
            <a:r>
              <a:rPr sz="1800" b="1">
                <a:solidFill>
                  <a:srgbClr val="F6FAF9"/>
                </a:solidFill>
                <a:latin typeface="Inter"/>
                <a:ea typeface="Inter"/>
                <a:cs typeface="Inter"/>
              </a:rPr>
              <a:t>NO FRIES</a:t>
            </a:r>
          </a:p>
        </p:txBody>
      </p:sp>
      <p:sp>
        <p:nvSpPr>
          <p:cNvPr id="2" name="section">
            <a:extLst xmlns:a="http://schemas.openxmlformats.org/drawingml/2006/main">
              <a:ext uri="{FF2B5EF4-FFF2-40B4-BE49-F238E27FC236}">
                <a16:creationId xmlns:a16="http://schemas.microsoft.com/office/drawing/2014/main" id="{7836C931-06D0-4B40-892C-A05E99FF0EFB}"/>
              </a:ext>
            </a:extLst>
          </p:cNvPr>
          <p:cNvSpPr>
            <a:spLocks xmlns:a="http://schemas.openxmlformats.org/drawingml/2006/main" noGrp="1"/>
          </p:cNvSpPr>
          <p:nvPr/>
        </p:nvSpPr>
        <p:spPr>
          <a:xfrm xmlns:a="http://schemas.openxmlformats.org/drawingml/2006/main">
            <a:off x="5524500" y="371475"/>
            <a:ext cx="59817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1">
                <a:solidFill>
                  <a:srgbClr val="6CD8C9"/>
                </a:solidFill>
                <a:latin typeface="Inter"/>
                <a:ea typeface="Inter"/>
                <a:cs typeface="Inter"/>
              </a:defRPr>
            </a:defPPr>
          </a:lstStyle>
          <a:p xmlns:a="http://schemas.openxmlformats.org/drawingml/2006/main">
            <a:pPr algn="r">
              <a:defRPr sz="1200" b="1">
                <a:solidFill>
                  <a:srgbClr val="6CD8C9"/>
                </a:solidFill>
                <a:latin typeface="Inter"/>
                <a:ea typeface="Inter"/>
                <a:cs typeface="Inter"/>
              </a:defRPr>
            </a:pPr>
            <a:r>
              <a:rPr sz="1200" b="1">
                <a:solidFill>
                  <a:srgbClr val="6CD8C9"/>
                </a:solidFill>
                <a:latin typeface="Inter"/>
                <a:ea typeface="Inter"/>
                <a:cs typeface="Inter"/>
              </a:rPr>
              <a:t>QUESTION 12 / 14</a:t>
            </a:r>
          </a:p>
        </p:txBody>
      </p:sp>
      <p:sp>
        <p:nvSpPr>
          <p:cNvPr id="3" name="page">
            <a:extLst xmlns:a="http://schemas.openxmlformats.org/drawingml/2006/main">
              <a:ext uri="{FF2B5EF4-FFF2-40B4-BE49-F238E27FC236}">
                <a16:creationId xmlns:a16="http://schemas.microsoft.com/office/drawing/2014/main" id="{71162547-FCDA-4F0C-8EF4-D608EAE4DEF1}"/>
              </a:ext>
            </a:extLst>
          </p:cNvPr>
          <p:cNvSpPr>
            <a:spLocks xmlns:a="http://schemas.openxmlformats.org/drawingml/2006/main" noGrp="1"/>
          </p:cNvSpPr>
          <p:nvPr/>
        </p:nvSpPr>
        <p:spPr>
          <a:xfrm xmlns:a="http://schemas.openxmlformats.org/drawingml/2006/main">
            <a:off x="10934700" y="6429375"/>
            <a:ext cx="5715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A9BBB7"/>
                </a:solidFill>
                <a:latin typeface="Inter"/>
                <a:ea typeface="Inter"/>
                <a:cs typeface="Inter"/>
              </a:defRPr>
            </a:defPPr>
          </a:lstStyle>
          <a:p xmlns:a="http://schemas.openxmlformats.org/drawingml/2006/main">
            <a:pPr algn="r">
              <a:defRPr sz="1200" b="0">
                <a:solidFill>
                  <a:srgbClr val="A9BBB7"/>
                </a:solidFill>
                <a:latin typeface="Inter"/>
                <a:ea typeface="Inter"/>
                <a:cs typeface="Inter"/>
              </a:defRPr>
            </a:pPr>
            <a:r>
              <a:rPr sz="1200" b="0">
                <a:solidFill>
                  <a:srgbClr val="A9BBB7"/>
                </a:solidFill>
                <a:latin typeface="Inter"/>
                <a:ea typeface="Inter"/>
                <a:cs typeface="Inter"/>
              </a:rPr>
              <a:t>15</a:t>
            </a:r>
          </a:p>
        </p:txBody>
      </p:sp>
      <p:sp>
        <p:nvSpPr>
          <p:cNvPr id="4" name="question-id">
            <a:extLst xmlns:a="http://schemas.openxmlformats.org/drawingml/2006/main">
              <a:ext uri="{FF2B5EF4-FFF2-40B4-BE49-F238E27FC236}">
                <a16:creationId xmlns:a16="http://schemas.microsoft.com/office/drawing/2014/main" id="{26A94E41-9CC7-48CC-A685-2E2DEECAC7EA}"/>
              </a:ext>
            </a:extLst>
          </p:cNvPr>
          <p:cNvSpPr>
            <a:spLocks xmlns:a="http://schemas.openxmlformats.org/drawingml/2006/main" noGrp="1"/>
          </p:cNvSpPr>
          <p:nvPr/>
        </p:nvSpPr>
        <p:spPr>
          <a:xfrm xmlns:a="http://schemas.openxmlformats.org/drawingml/2006/main">
            <a:off x="685800" y="828675"/>
            <a:ext cx="52387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00" b="0">
                <a:solidFill>
                  <a:srgbClr val="A9BBB7"/>
                </a:solidFill>
                <a:latin typeface="Inter"/>
                <a:ea typeface="Inter"/>
                <a:cs typeface="Inter"/>
              </a:defRPr>
            </a:defPPr>
          </a:lstStyle>
          <a:p xmlns:a="http://schemas.openxmlformats.org/drawingml/2006/main">
            <a:pPr>
              <a:defRPr sz="1200" b="0">
                <a:solidFill>
                  <a:srgbClr val="A9BBB7"/>
                </a:solidFill>
                <a:latin typeface="Inter"/>
                <a:ea typeface="Inter"/>
                <a:cs typeface="Inter"/>
              </a:defRPr>
            </a:pPr>
            <a:r>
              <a:rPr sz="1200" b="0">
                <a:solidFill>
                  <a:srgbClr val="A9BBB7"/>
                </a:solidFill>
                <a:latin typeface="Inter"/>
                <a:ea typeface="Inter"/>
                <a:cs typeface="Inter"/>
              </a:rPr>
              <a:t>NF-NCSC-CC-SV-01-Q1</a:t>
            </a:r>
          </a:p>
        </p:txBody>
      </p:sp>
      <p:sp>
        <p:nvSpPr>
          <p:cNvPr id="5" name="function">
            <a:extLst xmlns:a="http://schemas.openxmlformats.org/drawingml/2006/main">
              <a:ext uri="{FF2B5EF4-FFF2-40B4-BE49-F238E27FC236}">
                <a16:creationId xmlns:a16="http://schemas.microsoft.com/office/drawing/2014/main" id="{2E0A3C96-AA88-459C-90B2-2AA332585376}"/>
              </a:ext>
            </a:extLst>
          </p:cNvPr>
          <p:cNvSpPr>
            <a:spLocks xmlns:a="http://schemas.openxmlformats.org/drawingml/2006/main" noGrp="1"/>
          </p:cNvSpPr>
          <p:nvPr/>
        </p:nvSpPr>
        <p:spPr>
          <a:xfrm xmlns:a="http://schemas.openxmlformats.org/drawingml/2006/main">
            <a:off x="6524625" y="828675"/>
            <a:ext cx="4981575"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1">
                <a:solidFill>
                  <a:srgbClr val="6CD8C9"/>
                </a:solidFill>
                <a:latin typeface="Inter"/>
                <a:ea typeface="Inter"/>
                <a:cs typeface="Inter"/>
              </a:defRPr>
            </a:defPPr>
          </a:lstStyle>
          <a:p xmlns:a="http://schemas.openxmlformats.org/drawingml/2006/main">
            <a:pPr algn="r">
              <a:defRPr sz="1275" b="1">
                <a:solidFill>
                  <a:srgbClr val="6CD8C9"/>
                </a:solidFill>
                <a:latin typeface="Inter"/>
                <a:ea typeface="Inter"/>
                <a:cs typeface="Inter"/>
              </a:defRPr>
            </a:pPr>
            <a:r>
              <a:rPr sz="1275" b="1">
                <a:solidFill>
                  <a:srgbClr val="6CD8C9"/>
                </a:solidFill>
                <a:latin typeface="Inter"/>
                <a:ea typeface="Inter"/>
                <a:cs typeface="Inter"/>
              </a:rPr>
              <a:t>Prevent and Protect</a:t>
            </a:r>
          </a:p>
        </p:txBody>
      </p:sp>
      <p:sp>
        <p:nvSpPr>
          <p:cNvPr id="6" name="question-prompt">
            <a:extLst xmlns:a="http://schemas.openxmlformats.org/drawingml/2006/main">
              <a:ext uri="{FF2B5EF4-FFF2-40B4-BE49-F238E27FC236}">
                <a16:creationId xmlns:a16="http://schemas.microsoft.com/office/drawing/2014/main" id="{6227A859-1D4C-4549-ACFD-FEFD2A5D7428}"/>
              </a:ext>
            </a:extLst>
          </p:cNvPr>
          <p:cNvSpPr>
            <a:spLocks xmlns:a="http://schemas.openxmlformats.org/drawingml/2006/main" noGrp="1"/>
          </p:cNvSpPr>
          <p:nvPr/>
        </p:nvSpPr>
        <p:spPr>
          <a:xfrm xmlns:a="http://schemas.openxmlformats.org/drawingml/2006/main">
            <a:off x="685800" y="1285875"/>
            <a:ext cx="10820400" cy="1390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000" b="1">
                <a:solidFill>
                  <a:srgbClr val="F6FAF9"/>
                </a:solidFill>
                <a:latin typeface="Inter"/>
                <a:ea typeface="Inter"/>
                <a:cs typeface="Inter"/>
              </a:defRPr>
            </a:defPPr>
          </a:lstStyle>
          <a:p xmlns:a="http://schemas.openxmlformats.org/drawingml/2006/main">
            <a:pPr>
              <a:defRPr sz="3000" b="1">
                <a:solidFill>
                  <a:srgbClr val="F6FAF9"/>
                </a:solidFill>
                <a:latin typeface="Inter"/>
                <a:ea typeface="Inter"/>
                <a:cs typeface="Inter"/>
              </a:defRPr>
            </a:pPr>
            <a:r>
              <a:rPr sz="3000" b="1">
                <a:solidFill>
                  <a:srgbClr val="F6FAF9"/>
                </a:solidFill>
                <a:latin typeface="Inter"/>
                <a:ea typeface="Inter"/>
                <a:cs typeface="Inter"/>
              </a:rPr>
              <a:t>Do payment, credential, account-recovery and sensitive-data changes require a trusted verification step outside the original request?</a:t>
            </a:r>
          </a:p>
        </p:txBody>
      </p:sp>
      <p:sp>
        <p:nvSpPr>
          <p:cNvPr id="7" name="meaning-label">
            <a:extLst xmlns:a="http://schemas.openxmlformats.org/drawingml/2006/main">
              <a:ext uri="{FF2B5EF4-FFF2-40B4-BE49-F238E27FC236}">
                <a16:creationId xmlns:a16="http://schemas.microsoft.com/office/drawing/2014/main" id="{C454091B-D6F1-45E6-A792-A2A957B36C3D}"/>
              </a:ext>
            </a:extLst>
          </p:cNvPr>
          <p:cNvSpPr>
            <a:spLocks xmlns:a="http://schemas.openxmlformats.org/drawingml/2006/main" noGrp="1"/>
          </p:cNvSpPr>
          <p:nvPr/>
        </p:nvSpPr>
        <p:spPr>
          <a:xfrm xmlns:a="http://schemas.openxmlformats.org/drawingml/2006/main">
            <a:off x="685800" y="2990850"/>
            <a:ext cx="50101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350" b="1">
                <a:solidFill>
                  <a:srgbClr val="6CD8C9"/>
                </a:solidFill>
                <a:latin typeface="Inter"/>
                <a:ea typeface="Inter"/>
                <a:cs typeface="Inter"/>
              </a:defRPr>
            </a:defPPr>
          </a:lstStyle>
          <a:p xmlns:a="http://schemas.openxmlformats.org/drawingml/2006/main">
            <a:pPr>
              <a:defRPr sz="1350" b="1">
                <a:solidFill>
                  <a:srgbClr val="6CD8C9"/>
                </a:solidFill>
                <a:latin typeface="Inter"/>
                <a:ea typeface="Inter"/>
                <a:cs typeface="Inter"/>
              </a:defRPr>
            </a:pPr>
            <a:r>
              <a:rPr sz="1350" b="1">
                <a:solidFill>
                  <a:srgbClr val="6CD8C9"/>
                </a:solidFill>
                <a:latin typeface="Inter"/>
                <a:ea typeface="Inter"/>
                <a:cs typeface="Inter"/>
              </a:rPr>
              <a:t>WHAT THIS MEANS</a:t>
            </a:r>
          </a:p>
        </p:txBody>
      </p:sp>
      <p:sp>
        <p:nvSpPr>
          <p:cNvPr id="8" name="meaning">
            <a:extLst xmlns:a="http://schemas.openxmlformats.org/drawingml/2006/main">
              <a:ext uri="{FF2B5EF4-FFF2-40B4-BE49-F238E27FC236}">
                <a16:creationId xmlns:a16="http://schemas.microsoft.com/office/drawing/2014/main" id="{489E91E7-F22A-407E-BBDD-C7CF3CE73B59}"/>
              </a:ext>
            </a:extLst>
          </p:cNvPr>
          <p:cNvSpPr>
            <a:spLocks xmlns:a="http://schemas.openxmlformats.org/drawingml/2006/main" noGrp="1"/>
          </p:cNvSpPr>
          <p:nvPr/>
        </p:nvSpPr>
        <p:spPr>
          <a:xfrm xmlns:a="http://schemas.openxmlformats.org/drawingml/2006/main">
            <a:off x="685800" y="3343275"/>
            <a:ext cx="5010150" cy="1228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950" b="0">
                <a:solidFill>
                  <a:srgbClr val="D7E2DF"/>
                </a:solidFill>
                <a:latin typeface="Inter"/>
                <a:ea typeface="Inter"/>
                <a:cs typeface="Inter"/>
              </a:defRPr>
            </a:defPPr>
          </a:lstStyle>
          <a:p xmlns:a="http://schemas.openxmlformats.org/drawingml/2006/main">
            <a:pPr>
              <a:defRPr sz="1950" b="0">
                <a:solidFill>
                  <a:srgbClr val="D7E2DF"/>
                </a:solidFill>
                <a:latin typeface="Inter"/>
                <a:ea typeface="Inter"/>
                <a:cs typeface="Inter"/>
              </a:defRPr>
            </a:pPr>
            <a:r>
              <a:rPr sz="1950" b="0">
                <a:solidFill>
                  <a:srgbClr val="D7E2DF"/>
                </a:solidFill>
                <a:latin typeface="Inter"/>
                <a:ea typeface="Inter"/>
                <a:cs typeface="Inter"/>
              </a:rPr>
              <a:t>High-impact requests need a separate check through a trusted contact path before anyone changes money, access or sensitive data.</a:t>
            </a:r>
          </a:p>
        </p:txBody>
      </p:sp>
      <p:sp>
        <p:nvSpPr>
          <p:cNvPr id="9" name="why-label">
            <a:extLst xmlns:a="http://schemas.openxmlformats.org/drawingml/2006/main">
              <a:ext uri="{FF2B5EF4-FFF2-40B4-BE49-F238E27FC236}">
                <a16:creationId xmlns:a16="http://schemas.microsoft.com/office/drawing/2014/main" id="{E50733AD-7923-4610-B83E-D278DDE86A06}"/>
              </a:ext>
            </a:extLst>
          </p:cNvPr>
          <p:cNvSpPr>
            <a:spLocks xmlns:a="http://schemas.openxmlformats.org/drawingml/2006/main" noGrp="1"/>
          </p:cNvSpPr>
          <p:nvPr/>
        </p:nvSpPr>
        <p:spPr>
          <a:xfrm xmlns:a="http://schemas.openxmlformats.org/drawingml/2006/main">
            <a:off x="685800" y="4714875"/>
            <a:ext cx="50101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350" b="1">
                <a:solidFill>
                  <a:srgbClr val="6CD8C9"/>
                </a:solidFill>
                <a:latin typeface="Inter"/>
                <a:ea typeface="Inter"/>
                <a:cs typeface="Inter"/>
              </a:defRPr>
            </a:defPPr>
          </a:lstStyle>
          <a:p xmlns:a="http://schemas.openxmlformats.org/drawingml/2006/main">
            <a:pPr>
              <a:defRPr sz="1350" b="1">
                <a:solidFill>
                  <a:srgbClr val="6CD8C9"/>
                </a:solidFill>
                <a:latin typeface="Inter"/>
                <a:ea typeface="Inter"/>
                <a:cs typeface="Inter"/>
              </a:defRPr>
            </a:pPr>
            <a:r>
              <a:rPr sz="1350" b="1">
                <a:solidFill>
                  <a:srgbClr val="6CD8C9"/>
                </a:solidFill>
                <a:latin typeface="Inter"/>
                <a:ea typeface="Inter"/>
                <a:cs typeface="Inter"/>
              </a:rPr>
              <a:t>WHY IT MATTERS</a:t>
            </a:r>
          </a:p>
        </p:txBody>
      </p:sp>
      <p:sp>
        <p:nvSpPr>
          <p:cNvPr id="10" name="why">
            <a:extLst xmlns:a="http://schemas.openxmlformats.org/drawingml/2006/main">
              <a:ext uri="{FF2B5EF4-FFF2-40B4-BE49-F238E27FC236}">
                <a16:creationId xmlns:a16="http://schemas.microsoft.com/office/drawing/2014/main" id="{97223D92-4F66-42A4-8274-58DCA8B93FBB}"/>
              </a:ext>
            </a:extLst>
          </p:cNvPr>
          <p:cNvSpPr>
            <a:spLocks xmlns:a="http://schemas.openxmlformats.org/drawingml/2006/main" noGrp="1"/>
          </p:cNvSpPr>
          <p:nvPr/>
        </p:nvSpPr>
        <p:spPr>
          <a:xfrm xmlns:a="http://schemas.openxmlformats.org/drawingml/2006/main">
            <a:off x="685800" y="5067300"/>
            <a:ext cx="50101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00" b="0">
                <a:solidFill>
                  <a:srgbClr val="D7E2DF"/>
                </a:solidFill>
                <a:latin typeface="Inter"/>
                <a:ea typeface="Inter"/>
                <a:cs typeface="Inter"/>
              </a:defRPr>
            </a:defPPr>
          </a:lstStyle>
          <a:p xmlns:a="http://schemas.openxmlformats.org/drawingml/2006/main">
            <a:pPr>
              <a:defRPr sz="1800" b="0">
                <a:solidFill>
                  <a:srgbClr val="D7E2DF"/>
                </a:solidFill>
                <a:latin typeface="Inter"/>
                <a:ea typeface="Inter"/>
                <a:cs typeface="Inter"/>
              </a:defRPr>
            </a:pPr>
            <a:r>
              <a:rPr sz="1800" b="0">
                <a:solidFill>
                  <a:srgbClr val="D7E2DF"/>
                </a:solidFill>
                <a:latin typeface="Inter"/>
                <a:ea typeface="Inter"/>
                <a:cs typeface="Inter"/>
              </a:rPr>
              <a:t>A convincing email or stolen account can make a fraudulent request look routine.</a:t>
            </a:r>
          </a:p>
        </p:txBody>
      </p:sp>
      <p:sp>
        <p:nvSpPr>
          <p:cNvPr id="11" name="example-label">
            <a:extLst xmlns:a="http://schemas.openxmlformats.org/drawingml/2006/main">
              <a:ext uri="{FF2B5EF4-FFF2-40B4-BE49-F238E27FC236}">
                <a16:creationId xmlns:a16="http://schemas.microsoft.com/office/drawing/2014/main" id="{49144291-FA54-4A0D-81AD-020C1D8241FA}"/>
              </a:ext>
            </a:extLst>
          </p:cNvPr>
          <p:cNvSpPr>
            <a:spLocks xmlns:a="http://schemas.openxmlformats.org/drawingml/2006/main" noGrp="1"/>
          </p:cNvSpPr>
          <p:nvPr/>
        </p:nvSpPr>
        <p:spPr>
          <a:xfrm xmlns:a="http://schemas.openxmlformats.org/drawingml/2006/main">
            <a:off x="6572250" y="2990850"/>
            <a:ext cx="4933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350" b="1">
                <a:solidFill>
                  <a:srgbClr val="6CD8C9"/>
                </a:solidFill>
                <a:latin typeface="Inter"/>
                <a:ea typeface="Inter"/>
                <a:cs typeface="Inter"/>
              </a:defRPr>
            </a:defPPr>
          </a:lstStyle>
          <a:p xmlns:a="http://schemas.openxmlformats.org/drawingml/2006/main">
            <a:pPr>
              <a:defRPr sz="1350" b="1">
                <a:solidFill>
                  <a:srgbClr val="6CD8C9"/>
                </a:solidFill>
                <a:latin typeface="Inter"/>
                <a:ea typeface="Inter"/>
                <a:cs typeface="Inter"/>
              </a:defRPr>
            </a:pPr>
            <a:r>
              <a:rPr sz="1350" b="1">
                <a:solidFill>
                  <a:srgbClr val="6CD8C9"/>
                </a:solidFill>
                <a:latin typeface="Inter"/>
                <a:ea typeface="Inter"/>
                <a:cs typeface="Inter"/>
              </a:rPr>
              <a:t>EXAMPLE ANSWER: NO</a:t>
            </a:r>
          </a:p>
        </p:txBody>
      </p:sp>
      <p:sp>
        <p:nvSpPr>
          <p:cNvPr id="12" name="example">
            <a:extLst xmlns:a="http://schemas.openxmlformats.org/drawingml/2006/main">
              <a:ext uri="{FF2B5EF4-FFF2-40B4-BE49-F238E27FC236}">
                <a16:creationId xmlns:a16="http://schemas.microsoft.com/office/drawing/2014/main" id="{7DF85F95-86C6-4D86-B083-18E4EBAD0DDB}"/>
              </a:ext>
            </a:extLst>
          </p:cNvPr>
          <p:cNvSpPr>
            <a:spLocks xmlns:a="http://schemas.openxmlformats.org/drawingml/2006/main" noGrp="1"/>
          </p:cNvSpPr>
          <p:nvPr/>
        </p:nvSpPr>
        <p:spPr>
          <a:xfrm xmlns:a="http://schemas.openxmlformats.org/drawingml/2006/main">
            <a:off x="6572250" y="3343275"/>
            <a:ext cx="4933950" cy="1943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00" b="0">
                <a:solidFill>
                  <a:srgbClr val="F6FAF9"/>
                </a:solidFill>
                <a:latin typeface="Inter"/>
                <a:ea typeface="Inter"/>
                <a:cs typeface="Inter"/>
              </a:defRPr>
            </a:defPPr>
          </a:lstStyle>
          <a:p xmlns:a="http://schemas.openxmlformats.org/drawingml/2006/main">
            <a:pPr>
              <a:defRPr sz="2100" b="0">
                <a:solidFill>
                  <a:srgbClr val="F6FAF9"/>
                </a:solidFill>
                <a:latin typeface="Inter"/>
                <a:ea typeface="Inter"/>
                <a:cs typeface="Inter"/>
              </a:defRPr>
            </a:pPr>
            <a:r>
              <a:rPr sz="2100" b="0">
                <a:solidFill>
                  <a:srgbClr val="F6FAF9"/>
                </a:solidFill>
                <a:latin typeface="Inter"/>
                <a:ea typeface="Inter"/>
                <a:cs typeface="Inter"/>
              </a:rPr>
              <a:t>“We change supplier bank details from the reply email. We don’t verify through a number we already hold.”</a:t>
            </a:r>
          </a:p>
        </p:txBody>
      </p:sp>
      <p:sp>
        <p:nvSpPr>
          <p:cNvPr id="13" name="evidence-label">
            <a:extLst xmlns:a="http://schemas.openxmlformats.org/drawingml/2006/main">
              <a:ext uri="{FF2B5EF4-FFF2-40B4-BE49-F238E27FC236}">
                <a16:creationId xmlns:a16="http://schemas.microsoft.com/office/drawing/2014/main" id="{6D080B5E-7C6F-4980-A1DE-561BDA55BB2E}"/>
              </a:ext>
            </a:extLst>
          </p:cNvPr>
          <p:cNvSpPr>
            <a:spLocks xmlns:a="http://schemas.openxmlformats.org/drawingml/2006/main" noGrp="1"/>
          </p:cNvSpPr>
          <p:nvPr/>
        </p:nvSpPr>
        <p:spPr>
          <a:xfrm xmlns:a="http://schemas.openxmlformats.org/drawingml/2006/main">
            <a:off x="6572250" y="5410200"/>
            <a:ext cx="4933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350" b="1">
                <a:solidFill>
                  <a:srgbClr val="6CD8C9"/>
                </a:solidFill>
                <a:latin typeface="Inter"/>
                <a:ea typeface="Inter"/>
                <a:cs typeface="Inter"/>
              </a:defRPr>
            </a:defPPr>
          </a:lstStyle>
          <a:p xmlns:a="http://schemas.openxmlformats.org/drawingml/2006/main">
            <a:pPr>
              <a:defRPr sz="1350" b="1">
                <a:solidFill>
                  <a:srgbClr val="6CD8C9"/>
                </a:solidFill>
                <a:latin typeface="Inter"/>
                <a:ea typeface="Inter"/>
                <a:cs typeface="Inter"/>
              </a:defRPr>
            </a:pPr>
            <a:r>
              <a:rPr sz="1350" b="1">
                <a:solidFill>
                  <a:srgbClr val="6CD8C9"/>
                </a:solidFill>
                <a:latin typeface="Inter"/>
                <a:ea typeface="Inter"/>
                <a:cs typeface="Inter"/>
              </a:rPr>
              <a:t>EVIDENCE TO DISCUSS</a:t>
            </a:r>
          </a:p>
        </p:txBody>
      </p:sp>
      <p:sp>
        <p:nvSpPr>
          <p:cNvPr id="14" name="evidence">
            <a:extLst xmlns:a="http://schemas.openxmlformats.org/drawingml/2006/main">
              <a:ext uri="{FF2B5EF4-FFF2-40B4-BE49-F238E27FC236}">
                <a16:creationId xmlns:a16="http://schemas.microsoft.com/office/drawing/2014/main" id="{3CC7D941-2DD4-419C-963B-6D77C00E357F}"/>
              </a:ext>
            </a:extLst>
          </p:cNvPr>
          <p:cNvSpPr>
            <a:spLocks xmlns:a="http://schemas.openxmlformats.org/drawingml/2006/main" noGrp="1"/>
          </p:cNvSpPr>
          <p:nvPr/>
        </p:nvSpPr>
        <p:spPr>
          <a:xfrm xmlns:a="http://schemas.openxmlformats.org/drawingml/2006/main">
            <a:off x="6572250" y="5762625"/>
            <a:ext cx="493395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725" b="0">
                <a:solidFill>
                  <a:srgbClr val="D7E2DF"/>
                </a:solidFill>
                <a:latin typeface="Inter"/>
                <a:ea typeface="Inter"/>
                <a:cs typeface="Inter"/>
              </a:defRPr>
            </a:defPPr>
          </a:lstStyle>
          <a:p xmlns:a="http://schemas.openxmlformats.org/drawingml/2006/main">
            <a:pPr>
              <a:defRPr sz="1725" b="0">
                <a:solidFill>
                  <a:srgbClr val="D7E2DF"/>
                </a:solidFill>
                <a:latin typeface="Inter"/>
                <a:ea typeface="Inter"/>
                <a:cs typeface="Inter"/>
              </a:defRPr>
            </a:pPr>
            <a:r>
              <a:rPr sz="1725" b="0">
                <a:solidFill>
                  <a:srgbClr val="D7E2DF"/>
                </a:solidFill>
                <a:latin typeface="Inter"/>
                <a:ea typeface="Inter"/>
                <a:cs typeface="Inter"/>
              </a:rPr>
              <a:t>Payment-change procedure</a:t>
            </a:r>
          </a:p>
          <a:p xmlns:a="http://schemas.openxmlformats.org/drawingml/2006/main">
            <a:pPr>
              <a:defRPr sz="1725" b="0">
                <a:solidFill>
                  <a:srgbClr val="D7E2DF"/>
                </a:solidFill>
                <a:latin typeface="Inter"/>
                <a:ea typeface="Inter"/>
                <a:cs typeface="Inter"/>
              </a:defRPr>
            </a:pPr>
            <a:r>
              <a:rPr sz="1725" b="0">
                <a:solidFill>
                  <a:srgbClr val="D7E2DF"/>
                </a:solidFill>
                <a:latin typeface="Inter"/>
                <a:ea typeface="Inter"/>
                <a:cs typeface="Inter"/>
              </a:rPr>
              <a:t>Out-of-band approval record</a:t>
            </a:r>
          </a:p>
        </p:txBody>
      </p:sp>
    </p:spTree>
    <p:extLst>
      <p:ext uri="{BB962C8B-B14F-4D97-AF65-F5344CB8AC3E}">
        <p14:creationId xmlns:p14="http://schemas.microsoft.com/office/powerpoint/2010/main" val="1734367150"/>
      </p:ext>
    </p:extLst>
  </p:cSld>
</p:sld>
</file>

<file path=ppt/slides/slide16.xml><?xml version="1.0" encoding="utf-8"?>
<p:sld xmlns:p="http://schemas.openxmlformats.org/presentationml/2006/main">
  <p:cSld>
    <p:bg>
      <p:bgPr>
        <a:solidFill xmlns:a="http://schemas.openxmlformats.org/drawingml/2006/main">
          <a:srgbClr val="08100F"/>
        </a:solidFill>
      </p:bgPr>
    </p:bg>
    <p:spTree>
      <p:nvGrpSpPr>
        <p:cNvPr id="1" name=""/>
        <p:cNvGrpSpPr/>
        <p:nvPr/>
      </p:nvGrpSpPr>
      <p:grpSpPr>
        <a:xfrm xmlns:a="http://schemas.openxmlformats.org/drawingml/2006/main"/>
      </p:grpSpPr>
      <p:sp>
        <p:nvSpPr>
          <p:cNvPr id="15" name="brand">
            <a:extLst xmlns:a="http://schemas.openxmlformats.org/drawingml/2006/main">
              <a:ext uri="{FF2B5EF4-FFF2-40B4-BE49-F238E27FC236}">
                <a16:creationId xmlns:a16="http://schemas.microsoft.com/office/drawing/2014/main" id="{2D8CFEDD-A699-4C2C-83EE-EE2953BF18C0}"/>
              </a:ext>
            </a:extLst>
          </p:cNvPr>
          <p:cNvSpPr>
            <a:spLocks xmlns:a="http://schemas.openxmlformats.org/drawingml/2006/main" noGrp="1"/>
          </p:cNvSpPr>
          <p:nvPr/>
        </p:nvSpPr>
        <p:spPr>
          <a:xfrm xmlns:a="http://schemas.openxmlformats.org/drawingml/2006/main">
            <a:off x="685800" y="323850"/>
            <a:ext cx="2952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00" b="1">
                <a:solidFill>
                  <a:srgbClr val="F6FAF9"/>
                </a:solidFill>
                <a:latin typeface="Inter"/>
                <a:ea typeface="Inter"/>
                <a:cs typeface="Inter"/>
              </a:defRPr>
            </a:defPPr>
          </a:lstStyle>
          <a:p xmlns:a="http://schemas.openxmlformats.org/drawingml/2006/main">
            <a:pPr>
              <a:defRPr sz="1800" b="1">
                <a:solidFill>
                  <a:srgbClr val="F6FAF9"/>
                </a:solidFill>
                <a:latin typeface="Inter"/>
                <a:ea typeface="Inter"/>
                <a:cs typeface="Inter"/>
              </a:defRPr>
            </a:pPr>
            <a:r>
              <a:rPr sz="1800" b="1">
                <a:solidFill>
                  <a:srgbClr val="F6FAF9"/>
                </a:solidFill>
                <a:latin typeface="Inter"/>
                <a:ea typeface="Inter"/>
                <a:cs typeface="Inter"/>
              </a:rPr>
              <a:t>NO FRIES</a:t>
            </a:r>
          </a:p>
        </p:txBody>
      </p:sp>
      <p:sp>
        <p:nvSpPr>
          <p:cNvPr id="2" name="section">
            <a:extLst xmlns:a="http://schemas.openxmlformats.org/drawingml/2006/main">
              <a:ext uri="{FF2B5EF4-FFF2-40B4-BE49-F238E27FC236}">
                <a16:creationId xmlns:a16="http://schemas.microsoft.com/office/drawing/2014/main" id="{4BDD7205-1855-4637-BF7E-4225F59F1010}"/>
              </a:ext>
            </a:extLst>
          </p:cNvPr>
          <p:cNvSpPr>
            <a:spLocks xmlns:a="http://schemas.openxmlformats.org/drawingml/2006/main" noGrp="1"/>
          </p:cNvSpPr>
          <p:nvPr/>
        </p:nvSpPr>
        <p:spPr>
          <a:xfrm xmlns:a="http://schemas.openxmlformats.org/drawingml/2006/main">
            <a:off x="5524500" y="371475"/>
            <a:ext cx="59817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1">
                <a:solidFill>
                  <a:srgbClr val="6CD8C9"/>
                </a:solidFill>
                <a:latin typeface="Inter"/>
                <a:ea typeface="Inter"/>
                <a:cs typeface="Inter"/>
              </a:defRPr>
            </a:defPPr>
          </a:lstStyle>
          <a:p xmlns:a="http://schemas.openxmlformats.org/drawingml/2006/main">
            <a:pPr algn="r">
              <a:defRPr sz="1200" b="1">
                <a:solidFill>
                  <a:srgbClr val="6CD8C9"/>
                </a:solidFill>
                <a:latin typeface="Inter"/>
                <a:ea typeface="Inter"/>
                <a:cs typeface="Inter"/>
              </a:defRPr>
            </a:pPr>
            <a:r>
              <a:rPr sz="1200" b="1">
                <a:solidFill>
                  <a:srgbClr val="6CD8C9"/>
                </a:solidFill>
                <a:latin typeface="Inter"/>
                <a:ea typeface="Inter"/>
                <a:cs typeface="Inter"/>
              </a:rPr>
              <a:t>QUESTION 13 / 14</a:t>
            </a:r>
          </a:p>
        </p:txBody>
      </p:sp>
      <p:sp>
        <p:nvSpPr>
          <p:cNvPr id="3" name="page">
            <a:extLst xmlns:a="http://schemas.openxmlformats.org/drawingml/2006/main">
              <a:ext uri="{FF2B5EF4-FFF2-40B4-BE49-F238E27FC236}">
                <a16:creationId xmlns:a16="http://schemas.microsoft.com/office/drawing/2014/main" id="{78DB425A-E062-49E3-92EB-DF811C9354FB}"/>
              </a:ext>
            </a:extLst>
          </p:cNvPr>
          <p:cNvSpPr>
            <a:spLocks xmlns:a="http://schemas.openxmlformats.org/drawingml/2006/main" noGrp="1"/>
          </p:cNvSpPr>
          <p:nvPr/>
        </p:nvSpPr>
        <p:spPr>
          <a:xfrm xmlns:a="http://schemas.openxmlformats.org/drawingml/2006/main">
            <a:off x="10934700" y="6429375"/>
            <a:ext cx="5715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A9BBB7"/>
                </a:solidFill>
                <a:latin typeface="Inter"/>
                <a:ea typeface="Inter"/>
                <a:cs typeface="Inter"/>
              </a:defRPr>
            </a:defPPr>
          </a:lstStyle>
          <a:p xmlns:a="http://schemas.openxmlformats.org/drawingml/2006/main">
            <a:pPr algn="r">
              <a:defRPr sz="1200" b="0">
                <a:solidFill>
                  <a:srgbClr val="A9BBB7"/>
                </a:solidFill>
                <a:latin typeface="Inter"/>
                <a:ea typeface="Inter"/>
                <a:cs typeface="Inter"/>
              </a:defRPr>
            </a:pPr>
            <a:r>
              <a:rPr sz="1200" b="0">
                <a:solidFill>
                  <a:srgbClr val="A9BBB7"/>
                </a:solidFill>
                <a:latin typeface="Inter"/>
                <a:ea typeface="Inter"/>
                <a:cs typeface="Inter"/>
              </a:rPr>
              <a:t>16</a:t>
            </a:r>
          </a:p>
        </p:txBody>
      </p:sp>
      <p:sp>
        <p:nvSpPr>
          <p:cNvPr id="4" name="question-id">
            <a:extLst xmlns:a="http://schemas.openxmlformats.org/drawingml/2006/main">
              <a:ext uri="{FF2B5EF4-FFF2-40B4-BE49-F238E27FC236}">
                <a16:creationId xmlns:a16="http://schemas.microsoft.com/office/drawing/2014/main" id="{BA58E19A-F7C1-43B8-92D5-D2265974CF7A}"/>
              </a:ext>
            </a:extLst>
          </p:cNvPr>
          <p:cNvSpPr>
            <a:spLocks xmlns:a="http://schemas.openxmlformats.org/drawingml/2006/main" noGrp="1"/>
          </p:cNvSpPr>
          <p:nvPr/>
        </p:nvSpPr>
        <p:spPr>
          <a:xfrm xmlns:a="http://schemas.openxmlformats.org/drawingml/2006/main">
            <a:off x="685800" y="828675"/>
            <a:ext cx="52387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00" b="0">
                <a:solidFill>
                  <a:srgbClr val="A9BBB7"/>
                </a:solidFill>
                <a:latin typeface="Inter"/>
                <a:ea typeface="Inter"/>
                <a:cs typeface="Inter"/>
              </a:defRPr>
            </a:defPPr>
          </a:lstStyle>
          <a:p xmlns:a="http://schemas.openxmlformats.org/drawingml/2006/main">
            <a:pPr>
              <a:defRPr sz="1200" b="0">
                <a:solidFill>
                  <a:srgbClr val="A9BBB7"/>
                </a:solidFill>
                <a:latin typeface="Inter"/>
                <a:ea typeface="Inter"/>
                <a:cs typeface="Inter"/>
              </a:defRPr>
            </a:pPr>
            <a:r>
              <a:rPr sz="1200" b="0">
                <a:solidFill>
                  <a:srgbClr val="A9BBB7"/>
                </a:solidFill>
                <a:latin typeface="Inter"/>
                <a:ea typeface="Inter"/>
                <a:cs typeface="Inter"/>
              </a:rPr>
              <a:t>NF-NCSC-CC-AC-01-Q1</a:t>
            </a:r>
          </a:p>
        </p:txBody>
      </p:sp>
      <p:sp>
        <p:nvSpPr>
          <p:cNvPr id="5" name="function">
            <a:extLst xmlns:a="http://schemas.openxmlformats.org/drawingml/2006/main">
              <a:ext uri="{FF2B5EF4-FFF2-40B4-BE49-F238E27FC236}">
                <a16:creationId xmlns:a16="http://schemas.microsoft.com/office/drawing/2014/main" id="{0AA07CDF-E784-4263-A8DF-CEC32CC213BB}"/>
              </a:ext>
            </a:extLst>
          </p:cNvPr>
          <p:cNvSpPr>
            <a:spLocks xmlns:a="http://schemas.openxmlformats.org/drawingml/2006/main" noGrp="1"/>
          </p:cNvSpPr>
          <p:nvPr/>
        </p:nvSpPr>
        <p:spPr>
          <a:xfrm xmlns:a="http://schemas.openxmlformats.org/drawingml/2006/main">
            <a:off x="6524625" y="828675"/>
            <a:ext cx="4981575"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1">
                <a:solidFill>
                  <a:srgbClr val="6CD8C9"/>
                </a:solidFill>
                <a:latin typeface="Inter"/>
                <a:ea typeface="Inter"/>
                <a:cs typeface="Inter"/>
              </a:defRPr>
            </a:defPPr>
          </a:lstStyle>
          <a:p xmlns:a="http://schemas.openxmlformats.org/drawingml/2006/main">
            <a:pPr algn="r">
              <a:defRPr sz="1275" b="1">
                <a:solidFill>
                  <a:srgbClr val="6CD8C9"/>
                </a:solidFill>
                <a:latin typeface="Inter"/>
                <a:ea typeface="Inter"/>
                <a:cs typeface="Inter"/>
              </a:defRPr>
            </a:pPr>
            <a:r>
              <a:rPr sz="1275" b="1">
                <a:solidFill>
                  <a:srgbClr val="6CD8C9"/>
                </a:solidFill>
                <a:latin typeface="Inter"/>
                <a:ea typeface="Inter"/>
                <a:cs typeface="Inter"/>
              </a:rPr>
              <a:t>Prevent and Protect</a:t>
            </a:r>
          </a:p>
        </p:txBody>
      </p:sp>
      <p:sp>
        <p:nvSpPr>
          <p:cNvPr id="6" name="question-prompt">
            <a:extLst xmlns:a="http://schemas.openxmlformats.org/drawingml/2006/main">
              <a:ext uri="{FF2B5EF4-FFF2-40B4-BE49-F238E27FC236}">
                <a16:creationId xmlns:a16="http://schemas.microsoft.com/office/drawing/2014/main" id="{1EAB3EFD-0DD8-403D-A023-EFCAEC4C9039}"/>
              </a:ext>
            </a:extLst>
          </p:cNvPr>
          <p:cNvSpPr>
            <a:spLocks xmlns:a="http://schemas.openxmlformats.org/drawingml/2006/main" noGrp="1"/>
          </p:cNvSpPr>
          <p:nvPr/>
        </p:nvSpPr>
        <p:spPr>
          <a:xfrm xmlns:a="http://schemas.openxmlformats.org/drawingml/2006/main">
            <a:off x="685800" y="1285875"/>
            <a:ext cx="10820400" cy="1390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000" b="1">
                <a:solidFill>
                  <a:srgbClr val="F6FAF9"/>
                </a:solidFill>
                <a:latin typeface="Inter"/>
                <a:ea typeface="Inter"/>
                <a:cs typeface="Inter"/>
              </a:defRPr>
            </a:defPPr>
          </a:lstStyle>
          <a:p xmlns:a="http://schemas.openxmlformats.org/drawingml/2006/main">
            <a:pPr>
              <a:defRPr sz="3000" b="1">
                <a:solidFill>
                  <a:srgbClr val="F6FAF9"/>
                </a:solidFill>
                <a:latin typeface="Inter"/>
                <a:ea typeface="Inter"/>
                <a:cs typeface="Inter"/>
              </a:defRPr>
            </a:pPr>
            <a:r>
              <a:rPr sz="3000" b="1">
                <a:solidFill>
                  <a:srgbClr val="F6FAF9"/>
                </a:solidFill>
                <a:latin typeface="Inter"/>
                <a:ea typeface="Inter"/>
                <a:cs typeface="Inter"/>
              </a:rPr>
              <a:t>Are unapproved or risky applications, scripts, macros and file types restricted on systems where they could cause material harm?</a:t>
            </a:r>
          </a:p>
        </p:txBody>
      </p:sp>
      <p:sp>
        <p:nvSpPr>
          <p:cNvPr id="7" name="meaning-label">
            <a:extLst xmlns:a="http://schemas.openxmlformats.org/drawingml/2006/main">
              <a:ext uri="{FF2B5EF4-FFF2-40B4-BE49-F238E27FC236}">
                <a16:creationId xmlns:a16="http://schemas.microsoft.com/office/drawing/2014/main" id="{B0987698-3FD9-49E5-8B0A-0F4F1A7B06DE}"/>
              </a:ext>
            </a:extLst>
          </p:cNvPr>
          <p:cNvSpPr>
            <a:spLocks xmlns:a="http://schemas.openxmlformats.org/drawingml/2006/main" noGrp="1"/>
          </p:cNvSpPr>
          <p:nvPr/>
        </p:nvSpPr>
        <p:spPr>
          <a:xfrm xmlns:a="http://schemas.openxmlformats.org/drawingml/2006/main">
            <a:off x="685800" y="2990850"/>
            <a:ext cx="50101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350" b="1">
                <a:solidFill>
                  <a:srgbClr val="6CD8C9"/>
                </a:solidFill>
                <a:latin typeface="Inter"/>
                <a:ea typeface="Inter"/>
                <a:cs typeface="Inter"/>
              </a:defRPr>
            </a:defPPr>
          </a:lstStyle>
          <a:p xmlns:a="http://schemas.openxmlformats.org/drawingml/2006/main">
            <a:pPr>
              <a:defRPr sz="1350" b="1">
                <a:solidFill>
                  <a:srgbClr val="6CD8C9"/>
                </a:solidFill>
                <a:latin typeface="Inter"/>
                <a:ea typeface="Inter"/>
                <a:cs typeface="Inter"/>
              </a:defRPr>
            </a:pPr>
            <a:r>
              <a:rPr sz="1350" b="1">
                <a:solidFill>
                  <a:srgbClr val="6CD8C9"/>
                </a:solidFill>
                <a:latin typeface="Inter"/>
                <a:ea typeface="Inter"/>
                <a:cs typeface="Inter"/>
              </a:rPr>
              <a:t>WHAT THIS MEANS</a:t>
            </a:r>
          </a:p>
        </p:txBody>
      </p:sp>
      <p:sp>
        <p:nvSpPr>
          <p:cNvPr id="8" name="meaning">
            <a:extLst xmlns:a="http://schemas.openxmlformats.org/drawingml/2006/main">
              <a:ext uri="{FF2B5EF4-FFF2-40B4-BE49-F238E27FC236}">
                <a16:creationId xmlns:a16="http://schemas.microsoft.com/office/drawing/2014/main" id="{CFF4C0CD-06E5-414C-B957-A27A3028CEF6}"/>
              </a:ext>
            </a:extLst>
          </p:cNvPr>
          <p:cNvSpPr>
            <a:spLocks xmlns:a="http://schemas.openxmlformats.org/drawingml/2006/main" noGrp="1"/>
          </p:cNvSpPr>
          <p:nvPr/>
        </p:nvSpPr>
        <p:spPr>
          <a:xfrm xmlns:a="http://schemas.openxmlformats.org/drawingml/2006/main">
            <a:off x="685800" y="3343275"/>
            <a:ext cx="5010150" cy="1228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950" b="0">
                <a:solidFill>
                  <a:srgbClr val="D7E2DF"/>
                </a:solidFill>
                <a:latin typeface="Inter"/>
                <a:ea typeface="Inter"/>
                <a:cs typeface="Inter"/>
              </a:defRPr>
            </a:defPPr>
          </a:lstStyle>
          <a:p xmlns:a="http://schemas.openxmlformats.org/drawingml/2006/main">
            <a:pPr>
              <a:defRPr sz="1950" b="0">
                <a:solidFill>
                  <a:srgbClr val="D7E2DF"/>
                </a:solidFill>
                <a:latin typeface="Inter"/>
                <a:ea typeface="Inter"/>
                <a:cs typeface="Inter"/>
              </a:defRPr>
            </a:pPr>
            <a:r>
              <a:rPr sz="1950" b="0">
                <a:solidFill>
                  <a:srgbClr val="D7E2DF"/>
                </a:solidFill>
                <a:latin typeface="Inter"/>
                <a:ea typeface="Inter"/>
                <a:cs typeface="Inter"/>
              </a:rPr>
              <a:t>Systems limit unapproved applications, scripts, macros and risky file types where they could do harm.</a:t>
            </a:r>
          </a:p>
        </p:txBody>
      </p:sp>
      <p:sp>
        <p:nvSpPr>
          <p:cNvPr id="9" name="why-label">
            <a:extLst xmlns:a="http://schemas.openxmlformats.org/drawingml/2006/main">
              <a:ext uri="{FF2B5EF4-FFF2-40B4-BE49-F238E27FC236}">
                <a16:creationId xmlns:a16="http://schemas.microsoft.com/office/drawing/2014/main" id="{D0E9A2A4-1D44-4356-9BC1-996A86A60452}"/>
              </a:ext>
            </a:extLst>
          </p:cNvPr>
          <p:cNvSpPr>
            <a:spLocks xmlns:a="http://schemas.openxmlformats.org/drawingml/2006/main" noGrp="1"/>
          </p:cNvSpPr>
          <p:nvPr/>
        </p:nvSpPr>
        <p:spPr>
          <a:xfrm xmlns:a="http://schemas.openxmlformats.org/drawingml/2006/main">
            <a:off x="685800" y="4714875"/>
            <a:ext cx="50101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350" b="1">
                <a:solidFill>
                  <a:srgbClr val="6CD8C9"/>
                </a:solidFill>
                <a:latin typeface="Inter"/>
                <a:ea typeface="Inter"/>
                <a:cs typeface="Inter"/>
              </a:defRPr>
            </a:defPPr>
          </a:lstStyle>
          <a:p xmlns:a="http://schemas.openxmlformats.org/drawingml/2006/main">
            <a:pPr>
              <a:defRPr sz="1350" b="1">
                <a:solidFill>
                  <a:srgbClr val="6CD8C9"/>
                </a:solidFill>
                <a:latin typeface="Inter"/>
                <a:ea typeface="Inter"/>
                <a:cs typeface="Inter"/>
              </a:defRPr>
            </a:pPr>
            <a:r>
              <a:rPr sz="1350" b="1">
                <a:solidFill>
                  <a:srgbClr val="6CD8C9"/>
                </a:solidFill>
                <a:latin typeface="Inter"/>
                <a:ea typeface="Inter"/>
                <a:cs typeface="Inter"/>
              </a:rPr>
              <a:t>WHY IT MATTERS</a:t>
            </a:r>
          </a:p>
        </p:txBody>
      </p:sp>
      <p:sp>
        <p:nvSpPr>
          <p:cNvPr id="10" name="why">
            <a:extLst xmlns:a="http://schemas.openxmlformats.org/drawingml/2006/main">
              <a:ext uri="{FF2B5EF4-FFF2-40B4-BE49-F238E27FC236}">
                <a16:creationId xmlns:a16="http://schemas.microsoft.com/office/drawing/2014/main" id="{1CB2B1D2-0682-4E64-B925-58E54329C20F}"/>
              </a:ext>
            </a:extLst>
          </p:cNvPr>
          <p:cNvSpPr>
            <a:spLocks xmlns:a="http://schemas.openxmlformats.org/drawingml/2006/main" noGrp="1"/>
          </p:cNvSpPr>
          <p:nvPr/>
        </p:nvSpPr>
        <p:spPr>
          <a:xfrm xmlns:a="http://schemas.openxmlformats.org/drawingml/2006/main">
            <a:off x="685800" y="5067300"/>
            <a:ext cx="50101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00" b="0">
                <a:solidFill>
                  <a:srgbClr val="D7E2DF"/>
                </a:solidFill>
                <a:latin typeface="Inter"/>
                <a:ea typeface="Inter"/>
                <a:cs typeface="Inter"/>
              </a:defRPr>
            </a:defPPr>
          </a:lstStyle>
          <a:p xmlns:a="http://schemas.openxmlformats.org/drawingml/2006/main">
            <a:pPr>
              <a:defRPr sz="1800" b="0">
                <a:solidFill>
                  <a:srgbClr val="D7E2DF"/>
                </a:solidFill>
                <a:latin typeface="Inter"/>
                <a:ea typeface="Inter"/>
                <a:cs typeface="Inter"/>
              </a:defRPr>
            </a:pPr>
            <a:r>
              <a:rPr sz="1800" b="0">
                <a:solidFill>
                  <a:srgbClr val="D7E2DF"/>
                </a:solidFill>
                <a:latin typeface="Inter"/>
                <a:ea typeface="Inter"/>
                <a:cs typeface="Inter"/>
              </a:rPr>
              <a:t>Controlling what can run can reduce opportunities for malicious software.</a:t>
            </a:r>
          </a:p>
        </p:txBody>
      </p:sp>
      <p:sp>
        <p:nvSpPr>
          <p:cNvPr id="11" name="example-label">
            <a:extLst xmlns:a="http://schemas.openxmlformats.org/drawingml/2006/main">
              <a:ext uri="{FF2B5EF4-FFF2-40B4-BE49-F238E27FC236}">
                <a16:creationId xmlns:a16="http://schemas.microsoft.com/office/drawing/2014/main" id="{847DCCB5-DB09-40C5-99AD-380C4D54476B}"/>
              </a:ext>
            </a:extLst>
          </p:cNvPr>
          <p:cNvSpPr>
            <a:spLocks xmlns:a="http://schemas.openxmlformats.org/drawingml/2006/main" noGrp="1"/>
          </p:cNvSpPr>
          <p:nvPr/>
        </p:nvSpPr>
        <p:spPr>
          <a:xfrm xmlns:a="http://schemas.openxmlformats.org/drawingml/2006/main">
            <a:off x="6572250" y="2990850"/>
            <a:ext cx="4933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350" b="1">
                <a:solidFill>
                  <a:srgbClr val="6CD8C9"/>
                </a:solidFill>
                <a:latin typeface="Inter"/>
                <a:ea typeface="Inter"/>
                <a:cs typeface="Inter"/>
              </a:defRPr>
            </a:defPPr>
          </a:lstStyle>
          <a:p xmlns:a="http://schemas.openxmlformats.org/drawingml/2006/main">
            <a:pPr>
              <a:defRPr sz="1350" b="1">
                <a:solidFill>
                  <a:srgbClr val="6CD8C9"/>
                </a:solidFill>
                <a:latin typeface="Inter"/>
                <a:ea typeface="Inter"/>
                <a:cs typeface="Inter"/>
              </a:defRPr>
            </a:pPr>
            <a:r>
              <a:rPr sz="1350" b="1">
                <a:solidFill>
                  <a:srgbClr val="6CD8C9"/>
                </a:solidFill>
                <a:latin typeface="Inter"/>
                <a:ea typeface="Inter"/>
                <a:cs typeface="Inter"/>
              </a:rPr>
              <a:t>EXAMPLE ANSWER: PARTIAL</a:t>
            </a:r>
          </a:p>
        </p:txBody>
      </p:sp>
      <p:sp>
        <p:nvSpPr>
          <p:cNvPr id="12" name="example">
            <a:extLst xmlns:a="http://schemas.openxmlformats.org/drawingml/2006/main">
              <a:ext uri="{FF2B5EF4-FFF2-40B4-BE49-F238E27FC236}">
                <a16:creationId xmlns:a16="http://schemas.microsoft.com/office/drawing/2014/main" id="{C63643A9-7A56-45DC-99B7-30826777885C}"/>
              </a:ext>
            </a:extLst>
          </p:cNvPr>
          <p:cNvSpPr>
            <a:spLocks xmlns:a="http://schemas.openxmlformats.org/drawingml/2006/main" noGrp="1"/>
          </p:cNvSpPr>
          <p:nvPr/>
        </p:nvSpPr>
        <p:spPr>
          <a:xfrm xmlns:a="http://schemas.openxmlformats.org/drawingml/2006/main">
            <a:off x="6572250" y="3343275"/>
            <a:ext cx="4933950" cy="1943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00" b="0">
                <a:solidFill>
                  <a:srgbClr val="F6FAF9"/>
                </a:solidFill>
                <a:latin typeface="Inter"/>
                <a:ea typeface="Inter"/>
                <a:cs typeface="Inter"/>
              </a:defRPr>
            </a:defPPr>
          </a:lstStyle>
          <a:p xmlns:a="http://schemas.openxmlformats.org/drawingml/2006/main">
            <a:pPr>
              <a:defRPr sz="2100" b="0">
                <a:solidFill>
                  <a:srgbClr val="F6FAF9"/>
                </a:solidFill>
                <a:latin typeface="Inter"/>
                <a:ea typeface="Inter"/>
                <a:cs typeface="Inter"/>
              </a:defRPr>
            </a:pPr>
            <a:r>
              <a:rPr sz="2100" b="0">
                <a:solidFill>
                  <a:srgbClr val="F6FAF9"/>
                </a:solidFill>
                <a:latin typeface="Inter"/>
                <a:ea typeface="Inter"/>
                <a:cs typeface="Inter"/>
              </a:rPr>
              <a:t>“We restrict some macros and applications. Scripts and exceptions on high-impact devices still need review.”</a:t>
            </a:r>
          </a:p>
        </p:txBody>
      </p:sp>
      <p:sp>
        <p:nvSpPr>
          <p:cNvPr id="13" name="evidence-label">
            <a:extLst xmlns:a="http://schemas.openxmlformats.org/drawingml/2006/main">
              <a:ext uri="{FF2B5EF4-FFF2-40B4-BE49-F238E27FC236}">
                <a16:creationId xmlns:a16="http://schemas.microsoft.com/office/drawing/2014/main" id="{25327A6F-CB80-4FF0-B837-66B7BA8CFD2C}"/>
              </a:ext>
            </a:extLst>
          </p:cNvPr>
          <p:cNvSpPr>
            <a:spLocks xmlns:a="http://schemas.openxmlformats.org/drawingml/2006/main" noGrp="1"/>
          </p:cNvSpPr>
          <p:nvPr/>
        </p:nvSpPr>
        <p:spPr>
          <a:xfrm xmlns:a="http://schemas.openxmlformats.org/drawingml/2006/main">
            <a:off x="6572250" y="5410200"/>
            <a:ext cx="4933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350" b="1">
                <a:solidFill>
                  <a:srgbClr val="6CD8C9"/>
                </a:solidFill>
                <a:latin typeface="Inter"/>
                <a:ea typeface="Inter"/>
                <a:cs typeface="Inter"/>
              </a:defRPr>
            </a:defPPr>
          </a:lstStyle>
          <a:p xmlns:a="http://schemas.openxmlformats.org/drawingml/2006/main">
            <a:pPr>
              <a:defRPr sz="1350" b="1">
                <a:solidFill>
                  <a:srgbClr val="6CD8C9"/>
                </a:solidFill>
                <a:latin typeface="Inter"/>
                <a:ea typeface="Inter"/>
                <a:cs typeface="Inter"/>
              </a:defRPr>
            </a:pPr>
            <a:r>
              <a:rPr sz="1350" b="1">
                <a:solidFill>
                  <a:srgbClr val="6CD8C9"/>
                </a:solidFill>
                <a:latin typeface="Inter"/>
                <a:ea typeface="Inter"/>
                <a:cs typeface="Inter"/>
              </a:rPr>
              <a:t>EVIDENCE TO DISCUSS</a:t>
            </a:r>
          </a:p>
        </p:txBody>
      </p:sp>
      <p:sp>
        <p:nvSpPr>
          <p:cNvPr id="14" name="evidence">
            <a:extLst xmlns:a="http://schemas.openxmlformats.org/drawingml/2006/main">
              <a:ext uri="{FF2B5EF4-FFF2-40B4-BE49-F238E27FC236}">
                <a16:creationId xmlns:a16="http://schemas.microsoft.com/office/drawing/2014/main" id="{6AFE9A8A-E6AF-4134-B858-AF4861E9DACD}"/>
              </a:ext>
            </a:extLst>
          </p:cNvPr>
          <p:cNvSpPr>
            <a:spLocks xmlns:a="http://schemas.openxmlformats.org/drawingml/2006/main" noGrp="1"/>
          </p:cNvSpPr>
          <p:nvPr/>
        </p:nvSpPr>
        <p:spPr>
          <a:xfrm xmlns:a="http://schemas.openxmlformats.org/drawingml/2006/main">
            <a:off x="6572250" y="5762625"/>
            <a:ext cx="493395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725" b="0">
                <a:solidFill>
                  <a:srgbClr val="D7E2DF"/>
                </a:solidFill>
                <a:latin typeface="Inter"/>
                <a:ea typeface="Inter"/>
                <a:cs typeface="Inter"/>
              </a:defRPr>
            </a:defPPr>
          </a:lstStyle>
          <a:p xmlns:a="http://schemas.openxmlformats.org/drawingml/2006/main">
            <a:pPr>
              <a:defRPr sz="1725" b="0">
                <a:solidFill>
                  <a:srgbClr val="D7E2DF"/>
                </a:solidFill>
                <a:latin typeface="Inter"/>
                <a:ea typeface="Inter"/>
                <a:cs typeface="Inter"/>
              </a:defRPr>
            </a:pPr>
            <a:r>
              <a:rPr sz="1725" b="0">
                <a:solidFill>
                  <a:srgbClr val="D7E2DF"/>
                </a:solidFill>
                <a:latin typeface="Inter"/>
                <a:ea typeface="Inter"/>
                <a:cs typeface="Inter"/>
              </a:rPr>
              <a:t>Endpoint policy export</a:t>
            </a:r>
          </a:p>
          <a:p xmlns:a="http://schemas.openxmlformats.org/drawingml/2006/main">
            <a:pPr>
              <a:defRPr sz="1725" b="0">
                <a:solidFill>
                  <a:srgbClr val="D7E2DF"/>
                </a:solidFill>
                <a:latin typeface="Inter"/>
                <a:ea typeface="Inter"/>
                <a:cs typeface="Inter"/>
              </a:defRPr>
            </a:pPr>
            <a:r>
              <a:rPr sz="1725" b="0">
                <a:solidFill>
                  <a:srgbClr val="D7E2DF"/>
                </a:solidFill>
                <a:latin typeface="Inter"/>
                <a:ea typeface="Inter"/>
                <a:cs typeface="Inter"/>
              </a:rPr>
              <a:t>Blocked application events</a:t>
            </a:r>
          </a:p>
        </p:txBody>
      </p:sp>
    </p:spTree>
    <p:extLst>
      <p:ext uri="{BB962C8B-B14F-4D97-AF65-F5344CB8AC3E}">
        <p14:creationId xmlns:p14="http://schemas.microsoft.com/office/powerpoint/2010/main" val="1779096404"/>
      </p:ext>
    </p:extLst>
  </p:cSld>
</p:sld>
</file>

<file path=ppt/slides/slide17.xml><?xml version="1.0" encoding="utf-8"?>
<p:sld xmlns:p="http://schemas.openxmlformats.org/presentationml/2006/main">
  <p:cSld>
    <p:bg>
      <p:bgPr>
        <a:solidFill xmlns:a="http://schemas.openxmlformats.org/drawingml/2006/main">
          <a:srgbClr val="08100F"/>
        </a:solidFill>
      </p:bgPr>
    </p:bg>
    <p:spTree>
      <p:nvGrpSpPr>
        <p:cNvPr id="1" name=""/>
        <p:cNvGrpSpPr/>
        <p:nvPr/>
      </p:nvGrpSpPr>
      <p:grpSpPr>
        <a:xfrm xmlns:a="http://schemas.openxmlformats.org/drawingml/2006/main"/>
      </p:grpSpPr>
      <p:sp>
        <p:nvSpPr>
          <p:cNvPr id="15" name="brand">
            <a:extLst xmlns:a="http://schemas.openxmlformats.org/drawingml/2006/main">
              <a:ext uri="{FF2B5EF4-FFF2-40B4-BE49-F238E27FC236}">
                <a16:creationId xmlns:a16="http://schemas.microsoft.com/office/drawing/2014/main" id="{5A418081-7D60-4824-9524-89D04E02657D}"/>
              </a:ext>
            </a:extLst>
          </p:cNvPr>
          <p:cNvSpPr>
            <a:spLocks xmlns:a="http://schemas.openxmlformats.org/drawingml/2006/main" noGrp="1"/>
          </p:cNvSpPr>
          <p:nvPr/>
        </p:nvSpPr>
        <p:spPr>
          <a:xfrm xmlns:a="http://schemas.openxmlformats.org/drawingml/2006/main">
            <a:off x="685800" y="323850"/>
            <a:ext cx="2952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00" b="1">
                <a:solidFill>
                  <a:srgbClr val="F6FAF9"/>
                </a:solidFill>
                <a:latin typeface="Inter"/>
                <a:ea typeface="Inter"/>
                <a:cs typeface="Inter"/>
              </a:defRPr>
            </a:defPPr>
          </a:lstStyle>
          <a:p xmlns:a="http://schemas.openxmlformats.org/drawingml/2006/main">
            <a:pPr>
              <a:defRPr sz="1800" b="1">
                <a:solidFill>
                  <a:srgbClr val="F6FAF9"/>
                </a:solidFill>
                <a:latin typeface="Inter"/>
                <a:ea typeface="Inter"/>
                <a:cs typeface="Inter"/>
              </a:defRPr>
            </a:pPr>
            <a:r>
              <a:rPr sz="1800" b="1">
                <a:solidFill>
                  <a:srgbClr val="F6FAF9"/>
                </a:solidFill>
                <a:latin typeface="Inter"/>
                <a:ea typeface="Inter"/>
                <a:cs typeface="Inter"/>
              </a:rPr>
              <a:t>NO FRIES</a:t>
            </a:r>
          </a:p>
        </p:txBody>
      </p:sp>
      <p:sp>
        <p:nvSpPr>
          <p:cNvPr id="2" name="section">
            <a:extLst xmlns:a="http://schemas.openxmlformats.org/drawingml/2006/main">
              <a:ext uri="{FF2B5EF4-FFF2-40B4-BE49-F238E27FC236}">
                <a16:creationId xmlns:a16="http://schemas.microsoft.com/office/drawing/2014/main" id="{EA75D742-4C4F-4353-AE52-A52879389041}"/>
              </a:ext>
            </a:extLst>
          </p:cNvPr>
          <p:cNvSpPr>
            <a:spLocks xmlns:a="http://schemas.openxmlformats.org/drawingml/2006/main" noGrp="1"/>
          </p:cNvSpPr>
          <p:nvPr/>
        </p:nvSpPr>
        <p:spPr>
          <a:xfrm xmlns:a="http://schemas.openxmlformats.org/drawingml/2006/main">
            <a:off x="5524500" y="371475"/>
            <a:ext cx="59817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1">
                <a:solidFill>
                  <a:srgbClr val="6CD8C9"/>
                </a:solidFill>
                <a:latin typeface="Inter"/>
                <a:ea typeface="Inter"/>
                <a:cs typeface="Inter"/>
              </a:defRPr>
            </a:defPPr>
          </a:lstStyle>
          <a:p xmlns:a="http://schemas.openxmlformats.org/drawingml/2006/main">
            <a:pPr algn="r">
              <a:defRPr sz="1200" b="1">
                <a:solidFill>
                  <a:srgbClr val="6CD8C9"/>
                </a:solidFill>
                <a:latin typeface="Inter"/>
                <a:ea typeface="Inter"/>
                <a:cs typeface="Inter"/>
              </a:defRPr>
            </a:pPr>
            <a:r>
              <a:rPr sz="1200" b="1">
                <a:solidFill>
                  <a:srgbClr val="6CD8C9"/>
                </a:solidFill>
                <a:latin typeface="Inter"/>
                <a:ea typeface="Inter"/>
                <a:cs typeface="Inter"/>
              </a:rPr>
              <a:t>QUESTION 14 / 14</a:t>
            </a:r>
          </a:p>
        </p:txBody>
      </p:sp>
      <p:sp>
        <p:nvSpPr>
          <p:cNvPr id="3" name="page">
            <a:extLst xmlns:a="http://schemas.openxmlformats.org/drawingml/2006/main">
              <a:ext uri="{FF2B5EF4-FFF2-40B4-BE49-F238E27FC236}">
                <a16:creationId xmlns:a16="http://schemas.microsoft.com/office/drawing/2014/main" id="{84DE9877-1ED4-4CF2-93D7-2BB3F8B21A42}"/>
              </a:ext>
            </a:extLst>
          </p:cNvPr>
          <p:cNvSpPr>
            <a:spLocks xmlns:a="http://schemas.openxmlformats.org/drawingml/2006/main" noGrp="1"/>
          </p:cNvSpPr>
          <p:nvPr/>
        </p:nvSpPr>
        <p:spPr>
          <a:xfrm xmlns:a="http://schemas.openxmlformats.org/drawingml/2006/main">
            <a:off x="10934700" y="6429375"/>
            <a:ext cx="5715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A9BBB7"/>
                </a:solidFill>
                <a:latin typeface="Inter"/>
                <a:ea typeface="Inter"/>
                <a:cs typeface="Inter"/>
              </a:defRPr>
            </a:defPPr>
          </a:lstStyle>
          <a:p xmlns:a="http://schemas.openxmlformats.org/drawingml/2006/main">
            <a:pPr algn="r">
              <a:defRPr sz="1200" b="0">
                <a:solidFill>
                  <a:srgbClr val="A9BBB7"/>
                </a:solidFill>
                <a:latin typeface="Inter"/>
                <a:ea typeface="Inter"/>
                <a:cs typeface="Inter"/>
              </a:defRPr>
            </a:pPr>
            <a:r>
              <a:rPr sz="1200" b="0">
                <a:solidFill>
                  <a:srgbClr val="A9BBB7"/>
                </a:solidFill>
                <a:latin typeface="Inter"/>
                <a:ea typeface="Inter"/>
                <a:cs typeface="Inter"/>
              </a:rPr>
              <a:t>17</a:t>
            </a:r>
          </a:p>
        </p:txBody>
      </p:sp>
      <p:sp>
        <p:nvSpPr>
          <p:cNvPr id="4" name="question-id">
            <a:extLst xmlns:a="http://schemas.openxmlformats.org/drawingml/2006/main">
              <a:ext uri="{FF2B5EF4-FFF2-40B4-BE49-F238E27FC236}">
                <a16:creationId xmlns:a16="http://schemas.microsoft.com/office/drawing/2014/main" id="{807E74E6-1B0E-4DCA-A313-F8FB41A75784}"/>
              </a:ext>
            </a:extLst>
          </p:cNvPr>
          <p:cNvSpPr>
            <a:spLocks xmlns:a="http://schemas.openxmlformats.org/drawingml/2006/main" noGrp="1"/>
          </p:cNvSpPr>
          <p:nvPr/>
        </p:nvSpPr>
        <p:spPr>
          <a:xfrm xmlns:a="http://schemas.openxmlformats.org/drawingml/2006/main">
            <a:off x="685800" y="828675"/>
            <a:ext cx="52387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00" b="0">
                <a:solidFill>
                  <a:srgbClr val="A9BBB7"/>
                </a:solidFill>
                <a:latin typeface="Inter"/>
                <a:ea typeface="Inter"/>
                <a:cs typeface="Inter"/>
              </a:defRPr>
            </a:defPPr>
          </a:lstStyle>
          <a:p xmlns:a="http://schemas.openxmlformats.org/drawingml/2006/main">
            <a:pPr>
              <a:defRPr sz="1200" b="0">
                <a:solidFill>
                  <a:srgbClr val="A9BBB7"/>
                </a:solidFill>
                <a:latin typeface="Inter"/>
                <a:ea typeface="Inter"/>
                <a:cs typeface="Inter"/>
              </a:defRPr>
            </a:pPr>
            <a:r>
              <a:rPr sz="1200" b="0">
                <a:solidFill>
                  <a:srgbClr val="A9BBB7"/>
                </a:solidFill>
                <a:latin typeface="Inter"/>
                <a:ea typeface="Inter"/>
                <a:cs typeface="Inter"/>
              </a:rPr>
              <a:t>NF-NCSC-CC-NS-01-Q1</a:t>
            </a:r>
          </a:p>
        </p:txBody>
      </p:sp>
      <p:sp>
        <p:nvSpPr>
          <p:cNvPr id="5" name="function">
            <a:extLst xmlns:a="http://schemas.openxmlformats.org/drawingml/2006/main">
              <a:ext uri="{FF2B5EF4-FFF2-40B4-BE49-F238E27FC236}">
                <a16:creationId xmlns:a16="http://schemas.microsoft.com/office/drawing/2014/main" id="{3E5E25F6-F5FD-4F41-9C3D-B1EA7DE5D27B}"/>
              </a:ext>
            </a:extLst>
          </p:cNvPr>
          <p:cNvSpPr>
            <a:spLocks xmlns:a="http://schemas.openxmlformats.org/drawingml/2006/main" noGrp="1"/>
          </p:cNvSpPr>
          <p:nvPr/>
        </p:nvSpPr>
        <p:spPr>
          <a:xfrm xmlns:a="http://schemas.openxmlformats.org/drawingml/2006/main">
            <a:off x="6524625" y="828675"/>
            <a:ext cx="4981575"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1">
                <a:solidFill>
                  <a:srgbClr val="6CD8C9"/>
                </a:solidFill>
                <a:latin typeface="Inter"/>
                <a:ea typeface="Inter"/>
                <a:cs typeface="Inter"/>
              </a:defRPr>
            </a:defPPr>
          </a:lstStyle>
          <a:p xmlns:a="http://schemas.openxmlformats.org/drawingml/2006/main">
            <a:pPr algn="r">
              <a:defRPr sz="1275" b="1">
                <a:solidFill>
                  <a:srgbClr val="6CD8C9"/>
                </a:solidFill>
                <a:latin typeface="Inter"/>
                <a:ea typeface="Inter"/>
                <a:cs typeface="Inter"/>
              </a:defRPr>
            </a:pPr>
            <a:r>
              <a:rPr sz="1275" b="1">
                <a:solidFill>
                  <a:srgbClr val="6CD8C9"/>
                </a:solidFill>
                <a:latin typeface="Inter"/>
                <a:ea typeface="Inter"/>
                <a:cs typeface="Inter"/>
              </a:rPr>
              <a:t>Detect and Contain</a:t>
            </a:r>
          </a:p>
        </p:txBody>
      </p:sp>
      <p:sp>
        <p:nvSpPr>
          <p:cNvPr id="6" name="question-prompt">
            <a:extLst xmlns:a="http://schemas.openxmlformats.org/drawingml/2006/main">
              <a:ext uri="{FF2B5EF4-FFF2-40B4-BE49-F238E27FC236}">
                <a16:creationId xmlns:a16="http://schemas.microsoft.com/office/drawing/2014/main" id="{85AD2AE0-1897-47BD-8F9D-80EB817F838C}"/>
              </a:ext>
            </a:extLst>
          </p:cNvPr>
          <p:cNvSpPr>
            <a:spLocks xmlns:a="http://schemas.openxmlformats.org/drawingml/2006/main" noGrp="1"/>
          </p:cNvSpPr>
          <p:nvPr/>
        </p:nvSpPr>
        <p:spPr>
          <a:xfrm xmlns:a="http://schemas.openxmlformats.org/drawingml/2006/main">
            <a:off x="685800" y="1285875"/>
            <a:ext cx="10820400" cy="1390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000" b="1">
                <a:solidFill>
                  <a:srgbClr val="F6FAF9"/>
                </a:solidFill>
                <a:latin typeface="Inter"/>
                <a:ea typeface="Inter"/>
                <a:cs typeface="Inter"/>
              </a:defRPr>
            </a:defPPr>
          </a:lstStyle>
          <a:p xmlns:a="http://schemas.openxmlformats.org/drawingml/2006/main">
            <a:pPr>
              <a:defRPr sz="3000" b="1">
                <a:solidFill>
                  <a:srgbClr val="F6FAF9"/>
                </a:solidFill>
                <a:latin typeface="Inter"/>
                <a:ea typeface="Inter"/>
                <a:cs typeface="Inter"/>
              </a:defRPr>
            </a:pPr>
            <a:r>
              <a:rPr sz="3000" b="1">
                <a:solidFill>
                  <a:srgbClr val="F6FAF9"/>
                </a:solidFill>
                <a:latin typeface="Inter"/>
                <a:ea typeface="Inter"/>
                <a:cs typeface="Inter"/>
              </a:rPr>
              <a:t>Are users, guests, administration, backups and important services separated so one compromise cannot freely spread?</a:t>
            </a:r>
          </a:p>
        </p:txBody>
      </p:sp>
      <p:sp>
        <p:nvSpPr>
          <p:cNvPr id="7" name="meaning-label">
            <a:extLst xmlns:a="http://schemas.openxmlformats.org/drawingml/2006/main">
              <a:ext uri="{FF2B5EF4-FFF2-40B4-BE49-F238E27FC236}">
                <a16:creationId xmlns:a16="http://schemas.microsoft.com/office/drawing/2014/main" id="{16F0B166-6E54-4670-9F86-5AF871D3266B}"/>
              </a:ext>
            </a:extLst>
          </p:cNvPr>
          <p:cNvSpPr>
            <a:spLocks xmlns:a="http://schemas.openxmlformats.org/drawingml/2006/main" noGrp="1"/>
          </p:cNvSpPr>
          <p:nvPr/>
        </p:nvSpPr>
        <p:spPr>
          <a:xfrm xmlns:a="http://schemas.openxmlformats.org/drawingml/2006/main">
            <a:off x="685800" y="2990850"/>
            <a:ext cx="50101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350" b="1">
                <a:solidFill>
                  <a:srgbClr val="6CD8C9"/>
                </a:solidFill>
                <a:latin typeface="Inter"/>
                <a:ea typeface="Inter"/>
                <a:cs typeface="Inter"/>
              </a:defRPr>
            </a:defPPr>
          </a:lstStyle>
          <a:p xmlns:a="http://schemas.openxmlformats.org/drawingml/2006/main">
            <a:pPr>
              <a:defRPr sz="1350" b="1">
                <a:solidFill>
                  <a:srgbClr val="6CD8C9"/>
                </a:solidFill>
                <a:latin typeface="Inter"/>
                <a:ea typeface="Inter"/>
                <a:cs typeface="Inter"/>
              </a:defRPr>
            </a:pPr>
            <a:r>
              <a:rPr sz="1350" b="1">
                <a:solidFill>
                  <a:srgbClr val="6CD8C9"/>
                </a:solidFill>
                <a:latin typeface="Inter"/>
                <a:ea typeface="Inter"/>
                <a:cs typeface="Inter"/>
              </a:rPr>
              <a:t>WHAT THIS MEANS</a:t>
            </a:r>
          </a:p>
        </p:txBody>
      </p:sp>
      <p:sp>
        <p:nvSpPr>
          <p:cNvPr id="8" name="meaning">
            <a:extLst xmlns:a="http://schemas.openxmlformats.org/drawingml/2006/main">
              <a:ext uri="{FF2B5EF4-FFF2-40B4-BE49-F238E27FC236}">
                <a16:creationId xmlns:a16="http://schemas.microsoft.com/office/drawing/2014/main" id="{CB5E638A-DCA4-495A-B3FD-3F77EF54AE72}"/>
              </a:ext>
            </a:extLst>
          </p:cNvPr>
          <p:cNvSpPr>
            <a:spLocks xmlns:a="http://schemas.openxmlformats.org/drawingml/2006/main" noGrp="1"/>
          </p:cNvSpPr>
          <p:nvPr/>
        </p:nvSpPr>
        <p:spPr>
          <a:xfrm xmlns:a="http://schemas.openxmlformats.org/drawingml/2006/main">
            <a:off x="685800" y="3343275"/>
            <a:ext cx="5010150" cy="1228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950" b="0">
                <a:solidFill>
                  <a:srgbClr val="D7E2DF"/>
                </a:solidFill>
                <a:latin typeface="Inter"/>
                <a:ea typeface="Inter"/>
                <a:cs typeface="Inter"/>
              </a:defRPr>
            </a:defPPr>
          </a:lstStyle>
          <a:p xmlns:a="http://schemas.openxmlformats.org/drawingml/2006/main">
            <a:pPr>
              <a:defRPr sz="1950" b="0">
                <a:solidFill>
                  <a:srgbClr val="D7E2DF"/>
                </a:solidFill>
                <a:latin typeface="Inter"/>
                <a:ea typeface="Inter"/>
                <a:cs typeface="Inter"/>
              </a:defRPr>
            </a:pPr>
            <a:r>
              <a:rPr sz="1950" b="0">
                <a:solidFill>
                  <a:srgbClr val="D7E2DF"/>
                </a:solidFill>
                <a:latin typeface="Inter"/>
                <a:ea typeface="Inter"/>
                <a:cs typeface="Inter"/>
              </a:rPr>
              <a:t>Guest devices, everyday users, administration, backups and important services have boundaries that limit access between them.</a:t>
            </a:r>
          </a:p>
        </p:txBody>
      </p:sp>
      <p:sp>
        <p:nvSpPr>
          <p:cNvPr id="9" name="why-label">
            <a:extLst xmlns:a="http://schemas.openxmlformats.org/drawingml/2006/main">
              <a:ext uri="{FF2B5EF4-FFF2-40B4-BE49-F238E27FC236}">
                <a16:creationId xmlns:a16="http://schemas.microsoft.com/office/drawing/2014/main" id="{04610FE0-4A57-4540-B5E0-797A165656F0}"/>
              </a:ext>
            </a:extLst>
          </p:cNvPr>
          <p:cNvSpPr>
            <a:spLocks xmlns:a="http://schemas.openxmlformats.org/drawingml/2006/main" noGrp="1"/>
          </p:cNvSpPr>
          <p:nvPr/>
        </p:nvSpPr>
        <p:spPr>
          <a:xfrm xmlns:a="http://schemas.openxmlformats.org/drawingml/2006/main">
            <a:off x="685800" y="4714875"/>
            <a:ext cx="50101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350" b="1">
                <a:solidFill>
                  <a:srgbClr val="6CD8C9"/>
                </a:solidFill>
                <a:latin typeface="Inter"/>
                <a:ea typeface="Inter"/>
                <a:cs typeface="Inter"/>
              </a:defRPr>
            </a:defPPr>
          </a:lstStyle>
          <a:p xmlns:a="http://schemas.openxmlformats.org/drawingml/2006/main">
            <a:pPr>
              <a:defRPr sz="1350" b="1">
                <a:solidFill>
                  <a:srgbClr val="6CD8C9"/>
                </a:solidFill>
                <a:latin typeface="Inter"/>
                <a:ea typeface="Inter"/>
                <a:cs typeface="Inter"/>
              </a:defRPr>
            </a:pPr>
            <a:r>
              <a:rPr sz="1350" b="1">
                <a:solidFill>
                  <a:srgbClr val="6CD8C9"/>
                </a:solidFill>
                <a:latin typeface="Inter"/>
                <a:ea typeface="Inter"/>
                <a:cs typeface="Inter"/>
              </a:rPr>
              <a:t>WHY IT MATTERS</a:t>
            </a:r>
          </a:p>
        </p:txBody>
      </p:sp>
      <p:sp>
        <p:nvSpPr>
          <p:cNvPr id="10" name="why">
            <a:extLst xmlns:a="http://schemas.openxmlformats.org/drawingml/2006/main">
              <a:ext uri="{FF2B5EF4-FFF2-40B4-BE49-F238E27FC236}">
                <a16:creationId xmlns:a16="http://schemas.microsoft.com/office/drawing/2014/main" id="{B52214AA-E223-40F0-A294-CC4A46082E1E}"/>
              </a:ext>
            </a:extLst>
          </p:cNvPr>
          <p:cNvSpPr>
            <a:spLocks xmlns:a="http://schemas.openxmlformats.org/drawingml/2006/main" noGrp="1"/>
          </p:cNvSpPr>
          <p:nvPr/>
        </p:nvSpPr>
        <p:spPr>
          <a:xfrm xmlns:a="http://schemas.openxmlformats.org/drawingml/2006/main">
            <a:off x="685800" y="5067300"/>
            <a:ext cx="50101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00" b="0">
                <a:solidFill>
                  <a:srgbClr val="D7E2DF"/>
                </a:solidFill>
                <a:latin typeface="Inter"/>
                <a:ea typeface="Inter"/>
                <a:cs typeface="Inter"/>
              </a:defRPr>
            </a:defPPr>
          </a:lstStyle>
          <a:p xmlns:a="http://schemas.openxmlformats.org/drawingml/2006/main">
            <a:pPr>
              <a:defRPr sz="1800" b="0">
                <a:solidFill>
                  <a:srgbClr val="D7E2DF"/>
                </a:solidFill>
                <a:latin typeface="Inter"/>
                <a:ea typeface="Inter"/>
                <a:cs typeface="Inter"/>
              </a:defRPr>
            </a:pPr>
            <a:r>
              <a:rPr sz="1800" b="0">
                <a:solidFill>
                  <a:srgbClr val="D7E2DF"/>
                </a:solidFill>
                <a:latin typeface="Inter"/>
                <a:ea typeface="Inter"/>
                <a:cs typeface="Inter"/>
              </a:rPr>
              <a:t>A compromised device should have fewer routes to reach other important systems.</a:t>
            </a:r>
          </a:p>
        </p:txBody>
      </p:sp>
      <p:sp>
        <p:nvSpPr>
          <p:cNvPr id="11" name="example-label">
            <a:extLst xmlns:a="http://schemas.openxmlformats.org/drawingml/2006/main">
              <a:ext uri="{FF2B5EF4-FFF2-40B4-BE49-F238E27FC236}">
                <a16:creationId xmlns:a16="http://schemas.microsoft.com/office/drawing/2014/main" id="{0461B06D-84EA-408C-AEFA-F9B5355E644E}"/>
              </a:ext>
            </a:extLst>
          </p:cNvPr>
          <p:cNvSpPr>
            <a:spLocks xmlns:a="http://schemas.openxmlformats.org/drawingml/2006/main" noGrp="1"/>
          </p:cNvSpPr>
          <p:nvPr/>
        </p:nvSpPr>
        <p:spPr>
          <a:xfrm xmlns:a="http://schemas.openxmlformats.org/drawingml/2006/main">
            <a:off x="6572250" y="2990850"/>
            <a:ext cx="4933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350" b="1">
                <a:solidFill>
                  <a:srgbClr val="6CD8C9"/>
                </a:solidFill>
                <a:latin typeface="Inter"/>
                <a:ea typeface="Inter"/>
                <a:cs typeface="Inter"/>
              </a:defRPr>
            </a:defPPr>
          </a:lstStyle>
          <a:p xmlns:a="http://schemas.openxmlformats.org/drawingml/2006/main">
            <a:pPr>
              <a:defRPr sz="1350" b="1">
                <a:solidFill>
                  <a:srgbClr val="6CD8C9"/>
                </a:solidFill>
                <a:latin typeface="Inter"/>
                <a:ea typeface="Inter"/>
                <a:cs typeface="Inter"/>
              </a:defRPr>
            </a:pPr>
            <a:r>
              <a:rPr sz="1350" b="1">
                <a:solidFill>
                  <a:srgbClr val="6CD8C9"/>
                </a:solidFill>
                <a:latin typeface="Inter"/>
                <a:ea typeface="Inter"/>
                <a:cs typeface="Inter"/>
              </a:rPr>
              <a:t>EXAMPLE ANSWER: PARTIAL</a:t>
            </a:r>
          </a:p>
        </p:txBody>
      </p:sp>
      <p:sp>
        <p:nvSpPr>
          <p:cNvPr id="12" name="example">
            <a:extLst xmlns:a="http://schemas.openxmlformats.org/drawingml/2006/main">
              <a:ext uri="{FF2B5EF4-FFF2-40B4-BE49-F238E27FC236}">
                <a16:creationId xmlns:a16="http://schemas.microsoft.com/office/drawing/2014/main" id="{8AD219FB-F36C-4CC0-B85D-3A31D55CC65A}"/>
              </a:ext>
            </a:extLst>
          </p:cNvPr>
          <p:cNvSpPr>
            <a:spLocks xmlns:a="http://schemas.openxmlformats.org/drawingml/2006/main" noGrp="1"/>
          </p:cNvSpPr>
          <p:nvPr/>
        </p:nvSpPr>
        <p:spPr>
          <a:xfrm xmlns:a="http://schemas.openxmlformats.org/drawingml/2006/main">
            <a:off x="6572250" y="3343275"/>
            <a:ext cx="4933950" cy="1943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00" b="0">
                <a:solidFill>
                  <a:srgbClr val="F6FAF9"/>
                </a:solidFill>
                <a:latin typeface="Inter"/>
                <a:ea typeface="Inter"/>
                <a:cs typeface="Inter"/>
              </a:defRPr>
            </a:defPPr>
          </a:lstStyle>
          <a:p xmlns:a="http://schemas.openxmlformats.org/drawingml/2006/main">
            <a:pPr>
              <a:defRPr sz="2100" b="0">
                <a:solidFill>
                  <a:srgbClr val="F6FAF9"/>
                </a:solidFill>
                <a:latin typeface="Inter"/>
                <a:ea typeface="Inter"/>
                <a:cs typeface="Inter"/>
              </a:defRPr>
            </a:pPr>
            <a:r>
              <a:rPr sz="2100" b="0">
                <a:solidFill>
                  <a:srgbClr val="F6FAF9"/>
                </a:solidFill>
                <a:latin typeface="Inter"/>
                <a:ea typeface="Inter"/>
                <a:cs typeface="Inter"/>
              </a:rPr>
              <a:t>“Guest Wi-Fi is separate. Staff devices can still reach administration and backup services more widely than necessary.”</a:t>
            </a:r>
          </a:p>
        </p:txBody>
      </p:sp>
      <p:sp>
        <p:nvSpPr>
          <p:cNvPr id="13" name="evidence-label">
            <a:extLst xmlns:a="http://schemas.openxmlformats.org/drawingml/2006/main">
              <a:ext uri="{FF2B5EF4-FFF2-40B4-BE49-F238E27FC236}">
                <a16:creationId xmlns:a16="http://schemas.microsoft.com/office/drawing/2014/main" id="{6A16AA95-1CD5-41CF-9420-5BBBC1D78380}"/>
              </a:ext>
            </a:extLst>
          </p:cNvPr>
          <p:cNvSpPr>
            <a:spLocks xmlns:a="http://schemas.openxmlformats.org/drawingml/2006/main" noGrp="1"/>
          </p:cNvSpPr>
          <p:nvPr/>
        </p:nvSpPr>
        <p:spPr>
          <a:xfrm xmlns:a="http://schemas.openxmlformats.org/drawingml/2006/main">
            <a:off x="6572250" y="5410200"/>
            <a:ext cx="4933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350" b="1">
                <a:solidFill>
                  <a:srgbClr val="6CD8C9"/>
                </a:solidFill>
                <a:latin typeface="Inter"/>
                <a:ea typeface="Inter"/>
                <a:cs typeface="Inter"/>
              </a:defRPr>
            </a:defPPr>
          </a:lstStyle>
          <a:p xmlns:a="http://schemas.openxmlformats.org/drawingml/2006/main">
            <a:pPr>
              <a:defRPr sz="1350" b="1">
                <a:solidFill>
                  <a:srgbClr val="6CD8C9"/>
                </a:solidFill>
                <a:latin typeface="Inter"/>
                <a:ea typeface="Inter"/>
                <a:cs typeface="Inter"/>
              </a:defRPr>
            </a:pPr>
            <a:r>
              <a:rPr sz="1350" b="1">
                <a:solidFill>
                  <a:srgbClr val="6CD8C9"/>
                </a:solidFill>
                <a:latin typeface="Inter"/>
                <a:ea typeface="Inter"/>
                <a:cs typeface="Inter"/>
              </a:rPr>
              <a:t>EVIDENCE TO DISCUSS</a:t>
            </a:r>
          </a:p>
        </p:txBody>
      </p:sp>
      <p:sp>
        <p:nvSpPr>
          <p:cNvPr id="14" name="evidence">
            <a:extLst xmlns:a="http://schemas.openxmlformats.org/drawingml/2006/main">
              <a:ext uri="{FF2B5EF4-FFF2-40B4-BE49-F238E27FC236}">
                <a16:creationId xmlns:a16="http://schemas.microsoft.com/office/drawing/2014/main" id="{EC190A57-E68B-4865-8364-4DEF061819F2}"/>
              </a:ext>
            </a:extLst>
          </p:cNvPr>
          <p:cNvSpPr>
            <a:spLocks xmlns:a="http://schemas.openxmlformats.org/drawingml/2006/main" noGrp="1"/>
          </p:cNvSpPr>
          <p:nvPr/>
        </p:nvSpPr>
        <p:spPr>
          <a:xfrm xmlns:a="http://schemas.openxmlformats.org/drawingml/2006/main">
            <a:off x="6572250" y="5762625"/>
            <a:ext cx="493395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725" b="0">
                <a:solidFill>
                  <a:srgbClr val="D7E2DF"/>
                </a:solidFill>
                <a:latin typeface="Inter"/>
                <a:ea typeface="Inter"/>
                <a:cs typeface="Inter"/>
              </a:defRPr>
            </a:defPPr>
          </a:lstStyle>
          <a:p xmlns:a="http://schemas.openxmlformats.org/drawingml/2006/main">
            <a:pPr>
              <a:defRPr sz="1725" b="0">
                <a:solidFill>
                  <a:srgbClr val="D7E2DF"/>
                </a:solidFill>
                <a:latin typeface="Inter"/>
                <a:ea typeface="Inter"/>
                <a:cs typeface="Inter"/>
              </a:defRPr>
            </a:pPr>
            <a:r>
              <a:rPr sz="1725" b="0">
                <a:solidFill>
                  <a:srgbClr val="D7E2DF"/>
                </a:solidFill>
                <a:latin typeface="Inter"/>
                <a:ea typeface="Inter"/>
                <a:cs typeface="Inter"/>
              </a:rPr>
              <a:t>Network and trust diagram</a:t>
            </a:r>
          </a:p>
          <a:p xmlns:a="http://schemas.openxmlformats.org/drawingml/2006/main">
            <a:pPr>
              <a:defRPr sz="1725" b="0">
                <a:solidFill>
                  <a:srgbClr val="D7E2DF"/>
                </a:solidFill>
                <a:latin typeface="Inter"/>
                <a:ea typeface="Inter"/>
                <a:cs typeface="Inter"/>
              </a:defRPr>
            </a:pPr>
            <a:r>
              <a:rPr sz="1725" b="0">
                <a:solidFill>
                  <a:srgbClr val="D7E2DF"/>
                </a:solidFill>
                <a:latin typeface="Inter"/>
                <a:ea typeface="Inter"/>
                <a:cs typeface="Inter"/>
              </a:rPr>
              <a:t>Segmentation test</a:t>
            </a:r>
          </a:p>
        </p:txBody>
      </p:sp>
    </p:spTree>
    <p:extLst>
      <p:ext uri="{BB962C8B-B14F-4D97-AF65-F5344CB8AC3E}">
        <p14:creationId xmlns:p14="http://schemas.microsoft.com/office/powerpoint/2010/main" val="434906181"/>
      </p:ext>
    </p:extLst>
  </p:cSld>
</p:sld>
</file>

<file path=ppt/slides/slide18.xml><?xml version="1.0" encoding="utf-8"?>
<p:sld xmlns:p="http://schemas.openxmlformats.org/presentationml/2006/main">
  <p:cSld>
    <p:bg>
      <p:bgPr>
        <a:solidFill xmlns:a="http://schemas.openxmlformats.org/drawingml/2006/main">
          <a:srgbClr val="08100F"/>
        </a:solidFill>
      </p:bgPr>
    </p:bg>
    <p:spTree>
      <p:nvGrpSpPr>
        <p:cNvPr id="1" name=""/>
        <p:cNvGrpSpPr/>
        <p:nvPr/>
      </p:nvGrpSpPr>
      <p:grpSpPr>
        <a:xfrm xmlns:a="http://schemas.openxmlformats.org/drawingml/2006/main"/>
      </p:grpSpPr>
      <p:sp>
        <p:nvSpPr>
          <p:cNvPr id="10" name="brand">
            <a:extLst xmlns:a="http://schemas.openxmlformats.org/drawingml/2006/main">
              <a:ext uri="{FF2B5EF4-FFF2-40B4-BE49-F238E27FC236}">
                <a16:creationId xmlns:a16="http://schemas.microsoft.com/office/drawing/2014/main" id="{1F252A0E-AB16-4530-8F31-B9326BB735D9}"/>
              </a:ext>
            </a:extLst>
          </p:cNvPr>
          <p:cNvSpPr>
            <a:spLocks xmlns:a="http://schemas.openxmlformats.org/drawingml/2006/main" noGrp="1"/>
          </p:cNvSpPr>
          <p:nvPr/>
        </p:nvSpPr>
        <p:spPr>
          <a:xfrm xmlns:a="http://schemas.openxmlformats.org/drawingml/2006/main">
            <a:off x="685800" y="323850"/>
            <a:ext cx="2952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00" b="1">
                <a:solidFill>
                  <a:srgbClr val="F6FAF9"/>
                </a:solidFill>
                <a:latin typeface="Inter"/>
                <a:ea typeface="Inter"/>
                <a:cs typeface="Inter"/>
              </a:defRPr>
            </a:defPPr>
          </a:lstStyle>
          <a:p xmlns:a="http://schemas.openxmlformats.org/drawingml/2006/main">
            <a:pPr>
              <a:defRPr sz="1800" b="1">
                <a:solidFill>
                  <a:srgbClr val="F6FAF9"/>
                </a:solidFill>
                <a:latin typeface="Inter"/>
                <a:ea typeface="Inter"/>
                <a:cs typeface="Inter"/>
              </a:defRPr>
            </a:pPr>
            <a:r>
              <a:rPr sz="1800" b="1">
                <a:solidFill>
                  <a:srgbClr val="F6FAF9"/>
                </a:solidFill>
                <a:latin typeface="Inter"/>
                <a:ea typeface="Inter"/>
                <a:cs typeface="Inter"/>
              </a:rPr>
              <a:t>NO FRIES</a:t>
            </a:r>
          </a:p>
        </p:txBody>
      </p:sp>
      <p:sp>
        <p:nvSpPr>
          <p:cNvPr id="2" name="section">
            <a:extLst xmlns:a="http://schemas.openxmlformats.org/drawingml/2006/main">
              <a:ext uri="{FF2B5EF4-FFF2-40B4-BE49-F238E27FC236}">
                <a16:creationId xmlns:a16="http://schemas.microsoft.com/office/drawing/2014/main" id="{3062B612-9B85-4E3B-9BD3-BD88B147961A}"/>
              </a:ext>
            </a:extLst>
          </p:cNvPr>
          <p:cNvSpPr>
            <a:spLocks xmlns:a="http://schemas.openxmlformats.org/drawingml/2006/main" noGrp="1"/>
          </p:cNvSpPr>
          <p:nvPr/>
        </p:nvSpPr>
        <p:spPr>
          <a:xfrm xmlns:a="http://schemas.openxmlformats.org/drawingml/2006/main">
            <a:off x="5524500" y="371475"/>
            <a:ext cx="59817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1">
                <a:solidFill>
                  <a:srgbClr val="6CD8C9"/>
                </a:solidFill>
                <a:latin typeface="Inter"/>
                <a:ea typeface="Inter"/>
                <a:cs typeface="Inter"/>
              </a:defRPr>
            </a:defPPr>
          </a:lstStyle>
          <a:p xmlns:a="http://schemas.openxmlformats.org/drawingml/2006/main">
            <a:pPr algn="r">
              <a:defRPr sz="1200" b="1">
                <a:solidFill>
                  <a:srgbClr val="6CD8C9"/>
                </a:solidFill>
                <a:latin typeface="Inter"/>
                <a:ea typeface="Inter"/>
                <a:cs typeface="Inter"/>
              </a:defRPr>
            </a:pPr>
            <a:r>
              <a:rPr sz="1200" b="1">
                <a:solidFill>
                  <a:srgbClr val="6CD8C9"/>
                </a:solidFill>
                <a:latin typeface="Inter"/>
                <a:ea typeface="Inter"/>
                <a:cs typeface="Inter"/>
              </a:rPr>
              <a:t>AFTER QUESTION 14</a:t>
            </a:r>
          </a:p>
        </p:txBody>
      </p:sp>
      <p:sp>
        <p:nvSpPr>
          <p:cNvPr id="3" name="page">
            <a:extLst xmlns:a="http://schemas.openxmlformats.org/drawingml/2006/main">
              <a:ext uri="{FF2B5EF4-FFF2-40B4-BE49-F238E27FC236}">
                <a16:creationId xmlns:a16="http://schemas.microsoft.com/office/drawing/2014/main" id="{41DEDA5F-6ACB-4D12-862D-5C168BDEA0C5}"/>
              </a:ext>
            </a:extLst>
          </p:cNvPr>
          <p:cNvSpPr>
            <a:spLocks xmlns:a="http://schemas.openxmlformats.org/drawingml/2006/main" noGrp="1"/>
          </p:cNvSpPr>
          <p:nvPr/>
        </p:nvSpPr>
        <p:spPr>
          <a:xfrm xmlns:a="http://schemas.openxmlformats.org/drawingml/2006/main">
            <a:off x="10934700" y="6429375"/>
            <a:ext cx="5715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A9BBB7"/>
                </a:solidFill>
                <a:latin typeface="Inter"/>
                <a:ea typeface="Inter"/>
                <a:cs typeface="Inter"/>
              </a:defRPr>
            </a:defPPr>
          </a:lstStyle>
          <a:p xmlns:a="http://schemas.openxmlformats.org/drawingml/2006/main">
            <a:pPr algn="r">
              <a:defRPr sz="1200" b="0">
                <a:solidFill>
                  <a:srgbClr val="A9BBB7"/>
                </a:solidFill>
                <a:latin typeface="Inter"/>
                <a:ea typeface="Inter"/>
                <a:cs typeface="Inter"/>
              </a:defRPr>
            </a:pPr>
            <a:r>
              <a:rPr sz="1200" b="0">
                <a:solidFill>
                  <a:srgbClr val="A9BBB7"/>
                </a:solidFill>
                <a:latin typeface="Inter"/>
                <a:ea typeface="Inter"/>
                <a:cs typeface="Inter"/>
              </a:rPr>
              <a:t>18</a:t>
            </a:r>
          </a:p>
        </p:txBody>
      </p:sp>
      <p:sp>
        <p:nvSpPr>
          <p:cNvPr id="4" name="title">
            <a:extLst xmlns:a="http://schemas.openxmlformats.org/drawingml/2006/main">
              <a:ext uri="{FF2B5EF4-FFF2-40B4-BE49-F238E27FC236}">
                <a16:creationId xmlns:a16="http://schemas.microsoft.com/office/drawing/2014/main" id="{CB64BA50-D49F-43E0-9436-4B6E94C345CA}"/>
              </a:ext>
            </a:extLst>
          </p:cNvPr>
          <p:cNvSpPr>
            <a:spLocks xmlns:a="http://schemas.openxmlformats.org/drawingml/2006/main" noGrp="1"/>
          </p:cNvSpPr>
          <p:nvPr/>
        </p:nvSpPr>
        <p:spPr>
          <a:xfrm xmlns:a="http://schemas.openxmlformats.org/drawingml/2006/main">
            <a:off x="685800" y="1066800"/>
            <a:ext cx="10820400" cy="1219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4050" b="1">
                <a:solidFill>
                  <a:srgbClr val="F6FAF9"/>
                </a:solidFill>
                <a:latin typeface="Inter"/>
                <a:ea typeface="Inter"/>
                <a:cs typeface="Inter"/>
              </a:defRPr>
            </a:defPPr>
          </a:lstStyle>
          <a:p xmlns:a="http://schemas.openxmlformats.org/drawingml/2006/main">
            <a:pPr>
              <a:defRPr sz="4050" b="1">
                <a:solidFill>
                  <a:srgbClr val="F6FAF9"/>
                </a:solidFill>
                <a:latin typeface="Inter"/>
                <a:ea typeface="Inter"/>
                <a:cs typeface="Inter"/>
              </a:defRPr>
            </a:pPr>
            <a:r>
              <a:rPr sz="4050" b="1">
                <a:solidFill>
                  <a:srgbClr val="F6FAF9"/>
                </a:solidFill>
                <a:latin typeface="Inter"/>
                <a:ea typeface="Inter"/>
                <a:cs typeface="Inter"/>
              </a:rPr>
              <a:t>What the results tell us</a:t>
            </a:r>
          </a:p>
        </p:txBody>
      </p:sp>
      <p:sp>
        <p:nvSpPr>
          <p:cNvPr id="5" name="subtitle">
            <a:extLst xmlns:a="http://schemas.openxmlformats.org/drawingml/2006/main">
              <a:ext uri="{FF2B5EF4-FFF2-40B4-BE49-F238E27FC236}">
                <a16:creationId xmlns:a16="http://schemas.microsoft.com/office/drawing/2014/main" id="{FDAA78D7-4B59-46AA-9DF8-A0260122AB8F}"/>
              </a:ext>
            </a:extLst>
          </p:cNvPr>
          <p:cNvSpPr>
            <a:spLocks xmlns:a="http://schemas.openxmlformats.org/drawingml/2006/main" noGrp="1"/>
          </p:cNvSpPr>
          <p:nvPr/>
        </p:nvSpPr>
        <p:spPr>
          <a:xfrm xmlns:a="http://schemas.openxmlformats.org/drawingml/2006/main">
            <a:off x="685800" y="2400300"/>
            <a:ext cx="10668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00" b="0">
                <a:solidFill>
                  <a:srgbClr val="D7E2DF"/>
                </a:solidFill>
                <a:latin typeface="Inter"/>
                <a:ea typeface="Inter"/>
                <a:cs typeface="Inter"/>
              </a:defRPr>
            </a:defPPr>
          </a:lstStyle>
          <a:p xmlns:a="http://schemas.openxmlformats.org/drawingml/2006/main">
            <a:pPr>
              <a:defRPr sz="2100" b="0">
                <a:solidFill>
                  <a:srgbClr val="D7E2DF"/>
                </a:solidFill>
                <a:latin typeface="Inter"/>
                <a:ea typeface="Inter"/>
                <a:cs typeface="Inter"/>
              </a:defRPr>
            </a:pPr>
            <a:r>
              <a:rPr sz="2100" b="0">
                <a:solidFill>
                  <a:srgbClr val="D7E2DF"/>
                </a:solidFill>
                <a:latin typeface="Inter"/>
                <a:ea typeface="Inter"/>
                <a:cs typeface="Inter"/>
              </a:rPr>
              <a:t>The saved result describes the answers for this scope and date.</a:t>
            </a:r>
          </a:p>
        </p:txBody>
      </p:sp>
      <p:sp>
        <p:nvSpPr>
          <p:cNvPr id="6" name="implementation-label">
            <a:extLst xmlns:a="http://schemas.openxmlformats.org/drawingml/2006/main">
              <a:ext uri="{FF2B5EF4-FFF2-40B4-BE49-F238E27FC236}">
                <a16:creationId xmlns:a16="http://schemas.microsoft.com/office/drawing/2014/main" id="{7470AF62-68B5-4952-90D4-B560985C8B37}"/>
              </a:ext>
            </a:extLst>
          </p:cNvPr>
          <p:cNvSpPr>
            <a:spLocks xmlns:a="http://schemas.openxmlformats.org/drawingml/2006/main" noGrp="1"/>
          </p:cNvSpPr>
          <p:nvPr/>
        </p:nvSpPr>
        <p:spPr>
          <a:xfrm xmlns:a="http://schemas.openxmlformats.org/drawingml/2006/main">
            <a:off x="685800" y="3495675"/>
            <a:ext cx="4857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350" b="1">
                <a:solidFill>
                  <a:srgbClr val="6CD8C9"/>
                </a:solidFill>
                <a:latin typeface="Inter"/>
                <a:ea typeface="Inter"/>
                <a:cs typeface="Inter"/>
              </a:defRPr>
            </a:defPPr>
          </a:lstStyle>
          <a:p xmlns:a="http://schemas.openxmlformats.org/drawingml/2006/main">
            <a:pPr>
              <a:defRPr sz="1350" b="1">
                <a:solidFill>
                  <a:srgbClr val="6CD8C9"/>
                </a:solidFill>
                <a:latin typeface="Inter"/>
                <a:ea typeface="Inter"/>
                <a:cs typeface="Inter"/>
              </a:defRPr>
            </a:pPr>
            <a:r>
              <a:rPr sz="1350" b="1">
                <a:solidFill>
                  <a:srgbClr val="6CD8C9"/>
                </a:solidFill>
                <a:latin typeface="Inter"/>
                <a:ea typeface="Inter"/>
                <a:cs typeface="Inter"/>
              </a:rPr>
              <a:t>REPORTED IMPLEMENTATION</a:t>
            </a:r>
          </a:p>
        </p:txBody>
      </p:sp>
      <p:sp>
        <p:nvSpPr>
          <p:cNvPr id="7" name="implementation-body">
            <a:extLst xmlns:a="http://schemas.openxmlformats.org/drawingml/2006/main">
              <a:ext uri="{FF2B5EF4-FFF2-40B4-BE49-F238E27FC236}">
                <a16:creationId xmlns:a16="http://schemas.microsoft.com/office/drawing/2014/main" id="{E7F39552-3A3C-4136-94D8-2814521F019F}"/>
              </a:ext>
            </a:extLst>
          </p:cNvPr>
          <p:cNvSpPr>
            <a:spLocks xmlns:a="http://schemas.openxmlformats.org/drawingml/2006/main" noGrp="1"/>
          </p:cNvSpPr>
          <p:nvPr/>
        </p:nvSpPr>
        <p:spPr>
          <a:xfrm xmlns:a="http://schemas.openxmlformats.org/drawingml/2006/main">
            <a:off x="685800" y="3933825"/>
            <a:ext cx="5048250" cy="1771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75" b="0">
                <a:solidFill>
                  <a:srgbClr val="D7E2DF"/>
                </a:solidFill>
                <a:latin typeface="Inter"/>
                <a:ea typeface="Inter"/>
                <a:cs typeface="Inter"/>
              </a:defRPr>
            </a:defPPr>
          </a:lstStyle>
          <a:p xmlns:a="http://schemas.openxmlformats.org/drawingml/2006/main">
            <a:pPr>
              <a:defRPr sz="2175" b="0">
                <a:solidFill>
                  <a:srgbClr val="D7E2DF"/>
                </a:solidFill>
                <a:latin typeface="Inter"/>
                <a:ea typeface="Inter"/>
                <a:cs typeface="Inter"/>
              </a:defRPr>
            </a:pPr>
            <a:r>
              <a:rPr sz="2175" b="0">
                <a:solidFill>
                  <a:srgbClr val="D7E2DF"/>
                </a:solidFill>
                <a:latin typeface="Inter"/>
                <a:ea typeface="Inter"/>
                <a:cs typeface="Inter"/>
              </a:rPr>
              <a:t>A range reflects known answers</a:t>
            </a:r>
          </a:p>
          <a:p xmlns:a="http://schemas.openxmlformats.org/drawingml/2006/main">
            <a:pPr>
              <a:defRPr sz="2175" b="0">
                <a:solidFill>
                  <a:srgbClr val="D7E2DF"/>
                </a:solidFill>
                <a:latin typeface="Inter"/>
                <a:ea typeface="Inter"/>
                <a:cs typeface="Inter"/>
              </a:defRPr>
            </a:pPr>
            <a:r>
              <a:rPr sz="2175" b="0">
                <a:solidFill>
                  <a:srgbClr val="D7E2DF"/>
                </a:solidFill>
                <a:latin typeface="Inter"/>
                <a:ea typeface="Inter"/>
                <a:cs typeface="Inter"/>
              </a:rPr>
              <a:t>and unresolved questions.</a:t>
            </a:r>
          </a:p>
          <a:p xmlns:a="http://schemas.openxmlformats.org/drawingml/2006/main">
            <a:r>
              <a:t/>
            </a:r>
          </a:p>
          <a:p xmlns:a="http://schemas.openxmlformats.org/drawingml/2006/main">
            <a:pPr>
              <a:defRPr sz="2175" b="0">
                <a:solidFill>
                  <a:srgbClr val="D7E2DF"/>
                </a:solidFill>
                <a:latin typeface="Inter"/>
                <a:ea typeface="Inter"/>
                <a:cs typeface="Inter"/>
              </a:defRPr>
            </a:pPr>
            <a:r>
              <a:rPr sz="2175" b="0">
                <a:solidFill>
                  <a:srgbClr val="D7E2DF"/>
                </a:solidFill>
                <a:latin typeface="Inter"/>
                <a:ea typeface="Inter"/>
                <a:cs typeface="Inter"/>
              </a:rPr>
              <a:t>Completion counts show how much</a:t>
            </a:r>
          </a:p>
          <a:p xmlns:a="http://schemas.openxmlformats.org/drawingml/2006/main">
            <a:pPr>
              <a:defRPr sz="2175" b="0">
                <a:solidFill>
                  <a:srgbClr val="D7E2DF"/>
                </a:solidFill>
                <a:latin typeface="Inter"/>
                <a:ea typeface="Inter"/>
                <a:cs typeface="Inter"/>
              </a:defRPr>
            </a:pPr>
            <a:r>
              <a:rPr sz="2175" b="0">
                <a:solidFill>
                  <a:srgbClr val="D7E2DF"/>
                </a:solidFill>
                <a:latin typeface="Inter"/>
                <a:ea typeface="Inter"/>
                <a:cs typeface="Inter"/>
              </a:rPr>
              <a:t>of the questionnaire is answered.</a:t>
            </a:r>
          </a:p>
        </p:txBody>
      </p:sp>
      <p:sp>
        <p:nvSpPr>
          <p:cNvPr id="8" name="assurance-label">
            <a:extLst xmlns:a="http://schemas.openxmlformats.org/drawingml/2006/main">
              <a:ext uri="{FF2B5EF4-FFF2-40B4-BE49-F238E27FC236}">
                <a16:creationId xmlns:a16="http://schemas.microsoft.com/office/drawing/2014/main" id="{3A95C26A-23E9-42A3-9F11-418824343E0C}"/>
              </a:ext>
            </a:extLst>
          </p:cNvPr>
          <p:cNvSpPr>
            <a:spLocks xmlns:a="http://schemas.openxmlformats.org/drawingml/2006/main" noGrp="1"/>
          </p:cNvSpPr>
          <p:nvPr/>
        </p:nvSpPr>
        <p:spPr>
          <a:xfrm xmlns:a="http://schemas.openxmlformats.org/drawingml/2006/main">
            <a:off x="6800850" y="3495675"/>
            <a:ext cx="4705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350" b="1">
                <a:solidFill>
                  <a:srgbClr val="6CD8C9"/>
                </a:solidFill>
                <a:latin typeface="Inter"/>
                <a:ea typeface="Inter"/>
                <a:cs typeface="Inter"/>
              </a:defRPr>
            </a:defPPr>
          </a:lstStyle>
          <a:p xmlns:a="http://schemas.openxmlformats.org/drawingml/2006/main">
            <a:pPr>
              <a:defRPr sz="1350" b="1">
                <a:solidFill>
                  <a:srgbClr val="6CD8C9"/>
                </a:solidFill>
                <a:latin typeface="Inter"/>
                <a:ea typeface="Inter"/>
                <a:cs typeface="Inter"/>
              </a:defRPr>
            </a:pPr>
            <a:r>
              <a:rPr sz="1350" b="1">
                <a:solidFill>
                  <a:srgbClr val="6CD8C9"/>
                </a:solidFill>
                <a:latin typeface="Inter"/>
                <a:ea typeface="Inter"/>
                <a:cs typeface="Inter"/>
              </a:rPr>
              <a:t>EVIDENCE AND JUDGEMENT</a:t>
            </a:r>
          </a:p>
        </p:txBody>
      </p:sp>
      <p:sp>
        <p:nvSpPr>
          <p:cNvPr id="9" name="assurance-body">
            <a:extLst xmlns:a="http://schemas.openxmlformats.org/drawingml/2006/main">
              <a:ext uri="{FF2B5EF4-FFF2-40B4-BE49-F238E27FC236}">
                <a16:creationId xmlns:a16="http://schemas.microsoft.com/office/drawing/2014/main" id="{DD136C02-48F5-4414-B953-CC37E87D51A5}"/>
              </a:ext>
            </a:extLst>
          </p:cNvPr>
          <p:cNvSpPr>
            <a:spLocks xmlns:a="http://schemas.openxmlformats.org/drawingml/2006/main" noGrp="1"/>
          </p:cNvSpPr>
          <p:nvPr/>
        </p:nvSpPr>
        <p:spPr>
          <a:xfrm xmlns:a="http://schemas.openxmlformats.org/drawingml/2006/main">
            <a:off x="6800850" y="3933825"/>
            <a:ext cx="4705350" cy="1866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025" b="0">
                <a:solidFill>
                  <a:srgbClr val="D7E2DF"/>
                </a:solidFill>
                <a:latin typeface="Inter"/>
                <a:ea typeface="Inter"/>
                <a:cs typeface="Inter"/>
              </a:defRPr>
            </a:defPPr>
          </a:lstStyle>
          <a:p xmlns:a="http://schemas.openxmlformats.org/drawingml/2006/main">
            <a:pPr>
              <a:defRPr sz="2025" b="0">
                <a:solidFill>
                  <a:srgbClr val="D7E2DF"/>
                </a:solidFill>
                <a:latin typeface="Inter"/>
                <a:ea typeface="Inter"/>
                <a:cs typeface="Inter"/>
              </a:defRPr>
            </a:pPr>
            <a:r>
              <a:rPr sz="2025" b="0">
                <a:solidFill>
                  <a:srgbClr val="D7E2DF"/>
                </a:solidFill>
                <a:latin typeface="Inter"/>
                <a:ea typeface="Inter"/>
                <a:cs typeface="Inter"/>
              </a:rPr>
              <a:t>Evidence still needs review.</a:t>
            </a:r>
          </a:p>
          <a:p xmlns:a="http://schemas.openxmlformats.org/drawingml/2006/main">
            <a:r>
              <a:t/>
            </a:r>
          </a:p>
          <a:p xmlns:a="http://schemas.openxmlformats.org/drawingml/2006/main">
            <a:pPr>
              <a:defRPr sz="2025" b="0">
                <a:solidFill>
                  <a:srgbClr val="D7E2DF"/>
                </a:solidFill>
                <a:latin typeface="Inter"/>
                <a:ea typeface="Inter"/>
                <a:cs typeface="Inter"/>
              </a:defRPr>
            </a:pPr>
            <a:r>
              <a:rPr sz="2025" b="0">
                <a:solidFill>
                  <a:srgbClr val="D7E2DF"/>
                </a:solidFill>
                <a:latin typeface="Inter"/>
                <a:ea typeface="Inter"/>
                <a:cs typeface="Inter"/>
              </a:rPr>
              <a:t>Risk priority and change over time</a:t>
            </a:r>
          </a:p>
          <a:p xmlns:a="http://schemas.openxmlformats.org/drawingml/2006/main">
            <a:pPr>
              <a:defRPr sz="2025" b="0">
                <a:solidFill>
                  <a:srgbClr val="D7E2DF"/>
                </a:solidFill>
                <a:latin typeface="Inter"/>
                <a:ea typeface="Inter"/>
                <a:cs typeface="Inter"/>
              </a:defRPr>
            </a:pPr>
            <a:r>
              <a:rPr sz="2025" b="0">
                <a:solidFill>
                  <a:srgbClr val="D7E2DF"/>
                </a:solidFill>
                <a:latin typeface="Inter"/>
                <a:ea typeface="Inter"/>
                <a:cs typeface="Inter"/>
              </a:rPr>
              <a:t>need separate assessment.</a:t>
            </a:r>
          </a:p>
        </p:txBody>
      </p:sp>
    </p:spTree>
    <p:extLst>
      <p:ext uri="{BB962C8B-B14F-4D97-AF65-F5344CB8AC3E}">
        <p14:creationId xmlns:p14="http://schemas.microsoft.com/office/powerpoint/2010/main" val="1223204725"/>
      </p:ext>
    </p:extLst>
  </p:cSld>
</p:sld>
</file>

<file path=ppt/slides/slide19.xml><?xml version="1.0" encoding="utf-8"?>
<p:sld xmlns:p="http://schemas.openxmlformats.org/presentationml/2006/main">
  <p:cSld>
    <p:bg>
      <p:bgPr>
        <a:solidFill xmlns:a="http://schemas.openxmlformats.org/drawingml/2006/main">
          <a:srgbClr val="08100F"/>
        </a:solidFill>
      </p:bgPr>
    </p:bg>
    <p:spTree>
      <p:nvGrpSpPr>
        <p:cNvPr id="1" name=""/>
        <p:cNvGrpSpPr/>
        <p:nvPr/>
      </p:nvGrpSpPr>
      <p:grpSpPr>
        <a:xfrm xmlns:a="http://schemas.openxmlformats.org/drawingml/2006/main"/>
      </p:grpSpPr>
      <p:sp>
        <p:nvSpPr>
          <p:cNvPr id="18" name="brand">
            <a:extLst xmlns:a="http://schemas.openxmlformats.org/drawingml/2006/main">
              <a:ext uri="{FF2B5EF4-FFF2-40B4-BE49-F238E27FC236}">
                <a16:creationId xmlns:a16="http://schemas.microsoft.com/office/drawing/2014/main" id="{6D663738-0D70-406E-8109-4AC159570CA0}"/>
              </a:ext>
            </a:extLst>
          </p:cNvPr>
          <p:cNvSpPr>
            <a:spLocks xmlns:a="http://schemas.openxmlformats.org/drawingml/2006/main" noGrp="1"/>
          </p:cNvSpPr>
          <p:nvPr/>
        </p:nvSpPr>
        <p:spPr>
          <a:xfrm xmlns:a="http://schemas.openxmlformats.org/drawingml/2006/main">
            <a:off x="685800" y="323850"/>
            <a:ext cx="2952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00" b="1">
                <a:solidFill>
                  <a:srgbClr val="F6FAF9"/>
                </a:solidFill>
                <a:latin typeface="Inter"/>
                <a:ea typeface="Inter"/>
                <a:cs typeface="Inter"/>
              </a:defRPr>
            </a:defPPr>
          </a:lstStyle>
          <a:p xmlns:a="http://schemas.openxmlformats.org/drawingml/2006/main">
            <a:pPr>
              <a:defRPr sz="1800" b="1">
                <a:solidFill>
                  <a:srgbClr val="F6FAF9"/>
                </a:solidFill>
                <a:latin typeface="Inter"/>
                <a:ea typeface="Inter"/>
                <a:cs typeface="Inter"/>
              </a:defRPr>
            </a:pPr>
            <a:r>
              <a:rPr sz="1800" b="1">
                <a:solidFill>
                  <a:srgbClr val="F6FAF9"/>
                </a:solidFill>
                <a:latin typeface="Inter"/>
                <a:ea typeface="Inter"/>
                <a:cs typeface="Inter"/>
              </a:rPr>
              <a:t>NO FRIES</a:t>
            </a:r>
          </a:p>
        </p:txBody>
      </p:sp>
      <p:sp>
        <p:nvSpPr>
          <p:cNvPr id="2" name="section">
            <a:extLst xmlns:a="http://schemas.openxmlformats.org/drawingml/2006/main">
              <a:ext uri="{FF2B5EF4-FFF2-40B4-BE49-F238E27FC236}">
                <a16:creationId xmlns:a16="http://schemas.microsoft.com/office/drawing/2014/main" id="{31FE57DF-F27B-4993-B840-8A0C9D52EDC8}"/>
              </a:ext>
            </a:extLst>
          </p:cNvPr>
          <p:cNvSpPr>
            <a:spLocks xmlns:a="http://schemas.openxmlformats.org/drawingml/2006/main" noGrp="1"/>
          </p:cNvSpPr>
          <p:nvPr/>
        </p:nvSpPr>
        <p:spPr>
          <a:xfrm xmlns:a="http://schemas.openxmlformats.org/drawingml/2006/main">
            <a:off x="5524500" y="371475"/>
            <a:ext cx="59817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1">
                <a:solidFill>
                  <a:srgbClr val="6CD8C9"/>
                </a:solidFill>
                <a:latin typeface="Inter"/>
                <a:ea typeface="Inter"/>
                <a:cs typeface="Inter"/>
              </a:defRPr>
            </a:defPPr>
          </a:lstStyle>
          <a:p xmlns:a="http://schemas.openxmlformats.org/drawingml/2006/main">
            <a:pPr algn="r">
              <a:defRPr sz="1200" b="1">
                <a:solidFill>
                  <a:srgbClr val="6CD8C9"/>
                </a:solidFill>
                <a:latin typeface="Inter"/>
                <a:ea typeface="Inter"/>
                <a:cs typeface="Inter"/>
              </a:defRPr>
            </a:pPr>
            <a:r>
              <a:rPr sz="1200" b="1">
                <a:solidFill>
                  <a:srgbClr val="6CD8C9"/>
                </a:solidFill>
                <a:latin typeface="Inter"/>
                <a:ea typeface="Inter"/>
                <a:cs typeface="Inter"/>
              </a:rPr>
              <a:t>WORKSHOP NEXT STEPS</a:t>
            </a:r>
          </a:p>
        </p:txBody>
      </p:sp>
      <p:sp>
        <p:nvSpPr>
          <p:cNvPr id="3" name="page">
            <a:extLst xmlns:a="http://schemas.openxmlformats.org/drawingml/2006/main">
              <a:ext uri="{FF2B5EF4-FFF2-40B4-BE49-F238E27FC236}">
                <a16:creationId xmlns:a16="http://schemas.microsoft.com/office/drawing/2014/main" id="{1C0763DE-96C1-4398-90B0-A7EF5D1F9264}"/>
              </a:ext>
            </a:extLst>
          </p:cNvPr>
          <p:cNvSpPr>
            <a:spLocks xmlns:a="http://schemas.openxmlformats.org/drawingml/2006/main" noGrp="1"/>
          </p:cNvSpPr>
          <p:nvPr/>
        </p:nvSpPr>
        <p:spPr>
          <a:xfrm xmlns:a="http://schemas.openxmlformats.org/drawingml/2006/main">
            <a:off x="10934700" y="6429375"/>
            <a:ext cx="5715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A9BBB7"/>
                </a:solidFill>
                <a:latin typeface="Inter"/>
                <a:ea typeface="Inter"/>
                <a:cs typeface="Inter"/>
              </a:defRPr>
            </a:defPPr>
          </a:lstStyle>
          <a:p xmlns:a="http://schemas.openxmlformats.org/drawingml/2006/main">
            <a:pPr algn="r">
              <a:defRPr sz="1200" b="0">
                <a:solidFill>
                  <a:srgbClr val="A9BBB7"/>
                </a:solidFill>
                <a:latin typeface="Inter"/>
                <a:ea typeface="Inter"/>
                <a:cs typeface="Inter"/>
              </a:defRPr>
            </a:pPr>
            <a:r>
              <a:rPr sz="1200" b="0">
                <a:solidFill>
                  <a:srgbClr val="A9BBB7"/>
                </a:solidFill>
                <a:latin typeface="Inter"/>
                <a:ea typeface="Inter"/>
                <a:cs typeface="Inter"/>
              </a:rPr>
              <a:t>19</a:t>
            </a:r>
          </a:p>
        </p:txBody>
      </p:sp>
      <p:sp>
        <p:nvSpPr>
          <p:cNvPr id="4" name="title">
            <a:extLst xmlns:a="http://schemas.openxmlformats.org/drawingml/2006/main">
              <a:ext uri="{FF2B5EF4-FFF2-40B4-BE49-F238E27FC236}">
                <a16:creationId xmlns:a16="http://schemas.microsoft.com/office/drawing/2014/main" id="{E0C8A615-D2D6-4282-B340-C03FBF8FA742}"/>
              </a:ext>
            </a:extLst>
          </p:cNvPr>
          <p:cNvSpPr>
            <a:spLocks xmlns:a="http://schemas.openxmlformats.org/drawingml/2006/main" noGrp="1"/>
          </p:cNvSpPr>
          <p:nvPr/>
        </p:nvSpPr>
        <p:spPr>
          <a:xfrm xmlns:a="http://schemas.openxmlformats.org/drawingml/2006/main">
            <a:off x="685800" y="1066800"/>
            <a:ext cx="10820400" cy="1219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4050" b="1">
                <a:solidFill>
                  <a:srgbClr val="F6FAF9"/>
                </a:solidFill>
                <a:latin typeface="Inter"/>
                <a:ea typeface="Inter"/>
                <a:cs typeface="Inter"/>
              </a:defRPr>
            </a:defPPr>
          </a:lstStyle>
          <a:p xmlns:a="http://schemas.openxmlformats.org/drawingml/2006/main">
            <a:pPr>
              <a:defRPr sz="4050" b="1">
                <a:solidFill>
                  <a:srgbClr val="F6FAF9"/>
                </a:solidFill>
                <a:latin typeface="Inter"/>
                <a:ea typeface="Inter"/>
                <a:cs typeface="Inter"/>
              </a:defRPr>
            </a:pPr>
            <a:r>
              <a:rPr sz="4050" b="1">
                <a:solidFill>
                  <a:srgbClr val="F6FAF9"/>
                </a:solidFill>
                <a:latin typeface="Inter"/>
                <a:ea typeface="Inter"/>
                <a:cs typeface="Inter"/>
              </a:rPr>
              <a:t>An agreed action plan</a:t>
            </a:r>
          </a:p>
        </p:txBody>
      </p:sp>
      <p:sp>
        <p:nvSpPr>
          <p:cNvPr id="5" name="subtitle">
            <a:extLst xmlns:a="http://schemas.openxmlformats.org/drawingml/2006/main">
              <a:ext uri="{FF2B5EF4-FFF2-40B4-BE49-F238E27FC236}">
                <a16:creationId xmlns:a16="http://schemas.microsoft.com/office/drawing/2014/main" id="{5B948B93-F30A-4B95-BD78-2F74A5B051D3}"/>
              </a:ext>
            </a:extLst>
          </p:cNvPr>
          <p:cNvSpPr>
            <a:spLocks xmlns:a="http://schemas.openxmlformats.org/drawingml/2006/main" noGrp="1"/>
          </p:cNvSpPr>
          <p:nvPr/>
        </p:nvSpPr>
        <p:spPr>
          <a:xfrm xmlns:a="http://schemas.openxmlformats.org/drawingml/2006/main">
            <a:off x="685800" y="2400300"/>
            <a:ext cx="10668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00" b="0">
                <a:solidFill>
                  <a:srgbClr val="D7E2DF"/>
                </a:solidFill>
                <a:latin typeface="Inter"/>
                <a:ea typeface="Inter"/>
                <a:cs typeface="Inter"/>
              </a:defRPr>
            </a:defPPr>
          </a:lstStyle>
          <a:p xmlns:a="http://schemas.openxmlformats.org/drawingml/2006/main">
            <a:pPr>
              <a:defRPr sz="2100" b="0">
                <a:solidFill>
                  <a:srgbClr val="D7E2DF"/>
                </a:solidFill>
                <a:latin typeface="Inter"/>
                <a:ea typeface="Inter"/>
                <a:cs typeface="Inter"/>
              </a:defRPr>
            </a:pPr>
            <a:r>
              <a:rPr sz="2100" b="0">
                <a:solidFill>
                  <a:srgbClr val="D7E2DF"/>
                </a:solidFill>
                <a:latin typeface="Inter"/>
                <a:ea typeface="Inter"/>
                <a:cs typeface="Inter"/>
              </a:rPr>
              <a:t>We use the answers to choose work the business can own.</a:t>
            </a:r>
          </a:p>
        </p:txBody>
      </p:sp>
      <p:sp>
        <p:nvSpPr>
          <p:cNvPr id="6" name="n-0">
            <a:extLst xmlns:a="http://schemas.openxmlformats.org/drawingml/2006/main">
              <a:ext uri="{FF2B5EF4-FFF2-40B4-BE49-F238E27FC236}">
                <a16:creationId xmlns:a16="http://schemas.microsoft.com/office/drawing/2014/main" id="{CB3E33CF-1C6D-4BC7-974C-81C93E2AB5AA}"/>
              </a:ext>
            </a:extLst>
          </p:cNvPr>
          <p:cNvSpPr>
            <a:spLocks xmlns:a="http://schemas.openxmlformats.org/drawingml/2006/main" noGrp="1"/>
          </p:cNvSpPr>
          <p:nvPr/>
        </p:nvSpPr>
        <p:spPr>
          <a:xfrm xmlns:a="http://schemas.openxmlformats.org/drawingml/2006/main">
            <a:off x="685800" y="3409950"/>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625" b="1">
                <a:solidFill>
                  <a:srgbClr val="FFD400"/>
                </a:solidFill>
                <a:latin typeface="Inter"/>
                <a:ea typeface="Inter"/>
                <a:cs typeface="Inter"/>
              </a:defRPr>
            </a:defPPr>
          </a:lstStyle>
          <a:p xmlns:a="http://schemas.openxmlformats.org/drawingml/2006/main">
            <a:pPr>
              <a:defRPr sz="2625" b="1">
                <a:solidFill>
                  <a:srgbClr val="FFD400"/>
                </a:solidFill>
                <a:latin typeface="Inter"/>
                <a:ea typeface="Inter"/>
                <a:cs typeface="Inter"/>
              </a:defRPr>
            </a:pPr>
            <a:r>
              <a:rPr sz="2625" b="1">
                <a:solidFill>
                  <a:srgbClr val="FFD400"/>
                </a:solidFill>
                <a:latin typeface="Inter"/>
                <a:ea typeface="Inter"/>
                <a:cs typeface="Inter"/>
              </a:rPr>
              <a:t>1</a:t>
            </a:r>
          </a:p>
        </p:txBody>
      </p:sp>
      <p:sp>
        <p:nvSpPr>
          <p:cNvPr id="7" name="step-0">
            <a:extLst xmlns:a="http://schemas.openxmlformats.org/drawingml/2006/main">
              <a:ext uri="{FF2B5EF4-FFF2-40B4-BE49-F238E27FC236}">
                <a16:creationId xmlns:a16="http://schemas.microsoft.com/office/drawing/2014/main" id="{676BA1D7-B1A3-46F9-9A6D-0FDC4E917C04}"/>
              </a:ext>
            </a:extLst>
          </p:cNvPr>
          <p:cNvSpPr>
            <a:spLocks xmlns:a="http://schemas.openxmlformats.org/drawingml/2006/main" noGrp="1"/>
          </p:cNvSpPr>
          <p:nvPr/>
        </p:nvSpPr>
        <p:spPr>
          <a:xfrm xmlns:a="http://schemas.openxmlformats.org/drawingml/2006/main">
            <a:off x="1571625" y="3419475"/>
            <a:ext cx="3714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00" b="1">
                <a:solidFill>
                  <a:srgbClr val="F6FAF9"/>
                </a:solidFill>
                <a:latin typeface="Inter"/>
                <a:ea typeface="Inter"/>
                <a:cs typeface="Inter"/>
              </a:defRPr>
            </a:defPPr>
          </a:lstStyle>
          <a:p xmlns:a="http://schemas.openxmlformats.org/drawingml/2006/main">
            <a:pPr>
              <a:defRPr sz="2100" b="1">
                <a:solidFill>
                  <a:srgbClr val="F6FAF9"/>
                </a:solidFill>
                <a:latin typeface="Inter"/>
                <a:ea typeface="Inter"/>
                <a:cs typeface="Inter"/>
              </a:defRPr>
            </a:pPr>
            <a:r>
              <a:rPr sz="2100" b="1">
                <a:solidFill>
                  <a:srgbClr val="F6FAF9"/>
                </a:solidFill>
                <a:latin typeface="Inter"/>
                <a:ea typeface="Inter"/>
                <a:cs typeface="Inter"/>
              </a:rPr>
              <a:t>Confirm the gap</a:t>
            </a:r>
          </a:p>
        </p:txBody>
      </p:sp>
      <p:sp>
        <p:nvSpPr>
          <p:cNvPr id="8" name="step-detail-0">
            <a:extLst xmlns:a="http://schemas.openxmlformats.org/drawingml/2006/main">
              <a:ext uri="{FF2B5EF4-FFF2-40B4-BE49-F238E27FC236}">
                <a16:creationId xmlns:a16="http://schemas.microsoft.com/office/drawing/2014/main" id="{2CC48E7D-F961-4DF1-B51D-A6F8E83B3739}"/>
              </a:ext>
            </a:extLst>
          </p:cNvPr>
          <p:cNvSpPr>
            <a:spLocks xmlns:a="http://schemas.openxmlformats.org/drawingml/2006/main" noGrp="1"/>
          </p:cNvSpPr>
          <p:nvPr/>
        </p:nvSpPr>
        <p:spPr>
          <a:xfrm xmlns:a="http://schemas.openxmlformats.org/drawingml/2006/main">
            <a:off x="5695950" y="3448050"/>
            <a:ext cx="5810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75" b="0">
                <a:solidFill>
                  <a:srgbClr val="D7E2DF"/>
                </a:solidFill>
                <a:latin typeface="Inter"/>
                <a:ea typeface="Inter"/>
                <a:cs typeface="Inter"/>
              </a:defRPr>
            </a:defPPr>
          </a:lstStyle>
          <a:p xmlns:a="http://schemas.openxmlformats.org/drawingml/2006/main">
            <a:pPr>
              <a:defRPr sz="1875" b="0">
                <a:solidFill>
                  <a:srgbClr val="D7E2DF"/>
                </a:solidFill>
                <a:latin typeface="Inter"/>
                <a:ea typeface="Inter"/>
                <a:cs typeface="Inter"/>
              </a:defRPr>
            </a:pPr>
            <a:r>
              <a:rPr sz="1875" b="0">
                <a:solidFill>
                  <a:srgbClr val="D7E2DF"/>
                </a:solidFill>
                <a:latin typeface="Inter"/>
                <a:ea typeface="Inter"/>
                <a:cs typeface="Inter"/>
              </a:rPr>
              <a:t>Resolve unknowns and check the evidence.</a:t>
            </a:r>
          </a:p>
        </p:txBody>
      </p:sp>
      <p:sp>
        <p:nvSpPr>
          <p:cNvPr id="9" name="n-1">
            <a:extLst xmlns:a="http://schemas.openxmlformats.org/drawingml/2006/main">
              <a:ext uri="{FF2B5EF4-FFF2-40B4-BE49-F238E27FC236}">
                <a16:creationId xmlns:a16="http://schemas.microsoft.com/office/drawing/2014/main" id="{557BFC58-3C65-4A4A-8CA5-26B25DA00FEB}"/>
              </a:ext>
            </a:extLst>
          </p:cNvPr>
          <p:cNvSpPr>
            <a:spLocks xmlns:a="http://schemas.openxmlformats.org/drawingml/2006/main" noGrp="1"/>
          </p:cNvSpPr>
          <p:nvPr/>
        </p:nvSpPr>
        <p:spPr>
          <a:xfrm xmlns:a="http://schemas.openxmlformats.org/drawingml/2006/main">
            <a:off x="685800" y="4076700"/>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625" b="1">
                <a:solidFill>
                  <a:srgbClr val="FFD400"/>
                </a:solidFill>
                <a:latin typeface="Inter"/>
                <a:ea typeface="Inter"/>
                <a:cs typeface="Inter"/>
              </a:defRPr>
            </a:defPPr>
          </a:lstStyle>
          <a:p xmlns:a="http://schemas.openxmlformats.org/drawingml/2006/main">
            <a:pPr>
              <a:defRPr sz="2625" b="1">
                <a:solidFill>
                  <a:srgbClr val="FFD400"/>
                </a:solidFill>
                <a:latin typeface="Inter"/>
                <a:ea typeface="Inter"/>
                <a:cs typeface="Inter"/>
              </a:defRPr>
            </a:pPr>
            <a:r>
              <a:rPr sz="2625" b="1">
                <a:solidFill>
                  <a:srgbClr val="FFD400"/>
                </a:solidFill>
                <a:latin typeface="Inter"/>
                <a:ea typeface="Inter"/>
                <a:cs typeface="Inter"/>
              </a:rPr>
              <a:t>2</a:t>
            </a:r>
          </a:p>
        </p:txBody>
      </p:sp>
      <p:sp>
        <p:nvSpPr>
          <p:cNvPr id="10" name="step-1">
            <a:extLst xmlns:a="http://schemas.openxmlformats.org/drawingml/2006/main">
              <a:ext uri="{FF2B5EF4-FFF2-40B4-BE49-F238E27FC236}">
                <a16:creationId xmlns:a16="http://schemas.microsoft.com/office/drawing/2014/main" id="{E8B7DA9B-C3C7-4DF6-977E-92E6B6469373}"/>
              </a:ext>
            </a:extLst>
          </p:cNvPr>
          <p:cNvSpPr>
            <a:spLocks xmlns:a="http://schemas.openxmlformats.org/drawingml/2006/main" noGrp="1"/>
          </p:cNvSpPr>
          <p:nvPr/>
        </p:nvSpPr>
        <p:spPr>
          <a:xfrm xmlns:a="http://schemas.openxmlformats.org/drawingml/2006/main">
            <a:off x="1571625" y="4086225"/>
            <a:ext cx="3714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00" b="1">
                <a:solidFill>
                  <a:srgbClr val="F6FAF9"/>
                </a:solidFill>
                <a:latin typeface="Inter"/>
                <a:ea typeface="Inter"/>
                <a:cs typeface="Inter"/>
              </a:defRPr>
            </a:defPPr>
          </a:lstStyle>
          <a:p xmlns:a="http://schemas.openxmlformats.org/drawingml/2006/main">
            <a:pPr>
              <a:defRPr sz="2100" b="1">
                <a:solidFill>
                  <a:srgbClr val="F6FAF9"/>
                </a:solidFill>
                <a:latin typeface="Inter"/>
                <a:ea typeface="Inter"/>
                <a:cs typeface="Inter"/>
              </a:defRPr>
            </a:pPr>
            <a:r>
              <a:rPr sz="2100" b="1">
                <a:solidFill>
                  <a:srgbClr val="F6FAF9"/>
                </a:solidFill>
                <a:latin typeface="Inter"/>
                <a:ea typeface="Inter"/>
                <a:cs typeface="Inter"/>
              </a:rPr>
              <a:t>Agree the response</a:t>
            </a:r>
          </a:p>
        </p:txBody>
      </p:sp>
      <p:sp>
        <p:nvSpPr>
          <p:cNvPr id="11" name="step-detail-1">
            <a:extLst xmlns:a="http://schemas.openxmlformats.org/drawingml/2006/main">
              <a:ext uri="{FF2B5EF4-FFF2-40B4-BE49-F238E27FC236}">
                <a16:creationId xmlns:a16="http://schemas.microsoft.com/office/drawing/2014/main" id="{C1B56ADC-723D-4304-845F-0BF1E5AAA2FE}"/>
              </a:ext>
            </a:extLst>
          </p:cNvPr>
          <p:cNvSpPr>
            <a:spLocks xmlns:a="http://schemas.openxmlformats.org/drawingml/2006/main" noGrp="1"/>
          </p:cNvSpPr>
          <p:nvPr/>
        </p:nvSpPr>
        <p:spPr>
          <a:xfrm xmlns:a="http://schemas.openxmlformats.org/drawingml/2006/main">
            <a:off x="5695950" y="4114800"/>
            <a:ext cx="5810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75" b="0">
                <a:solidFill>
                  <a:srgbClr val="D7E2DF"/>
                </a:solidFill>
                <a:latin typeface="Inter"/>
                <a:ea typeface="Inter"/>
                <a:cs typeface="Inter"/>
              </a:defRPr>
            </a:defPPr>
          </a:lstStyle>
          <a:p xmlns:a="http://schemas.openxmlformats.org/drawingml/2006/main">
            <a:pPr>
              <a:defRPr sz="1875" b="0">
                <a:solidFill>
                  <a:srgbClr val="D7E2DF"/>
                </a:solidFill>
                <a:latin typeface="Inter"/>
                <a:ea typeface="Inter"/>
                <a:cs typeface="Inter"/>
              </a:defRPr>
            </a:pPr>
            <a:r>
              <a:rPr sz="1875" b="0">
                <a:solidFill>
                  <a:srgbClr val="D7E2DF"/>
                </a:solidFill>
                <a:latin typeface="Inter"/>
                <a:ea typeface="Inter"/>
                <a:cs typeface="Inter"/>
              </a:rPr>
              <a:t>Choose an action and a business owner.</a:t>
            </a:r>
          </a:p>
        </p:txBody>
      </p:sp>
      <p:sp>
        <p:nvSpPr>
          <p:cNvPr id="12" name="n-2">
            <a:extLst xmlns:a="http://schemas.openxmlformats.org/drawingml/2006/main">
              <a:ext uri="{FF2B5EF4-FFF2-40B4-BE49-F238E27FC236}">
                <a16:creationId xmlns:a16="http://schemas.microsoft.com/office/drawing/2014/main" id="{79AB35E2-3166-4A04-BF97-BFEE1F55ED19}"/>
              </a:ext>
            </a:extLst>
          </p:cNvPr>
          <p:cNvSpPr>
            <a:spLocks xmlns:a="http://schemas.openxmlformats.org/drawingml/2006/main" noGrp="1"/>
          </p:cNvSpPr>
          <p:nvPr/>
        </p:nvSpPr>
        <p:spPr>
          <a:xfrm xmlns:a="http://schemas.openxmlformats.org/drawingml/2006/main">
            <a:off x="685800" y="4743450"/>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625" b="1">
                <a:solidFill>
                  <a:srgbClr val="FFD400"/>
                </a:solidFill>
                <a:latin typeface="Inter"/>
                <a:ea typeface="Inter"/>
                <a:cs typeface="Inter"/>
              </a:defRPr>
            </a:defPPr>
          </a:lstStyle>
          <a:p xmlns:a="http://schemas.openxmlformats.org/drawingml/2006/main">
            <a:pPr>
              <a:defRPr sz="2625" b="1">
                <a:solidFill>
                  <a:srgbClr val="FFD400"/>
                </a:solidFill>
                <a:latin typeface="Inter"/>
                <a:ea typeface="Inter"/>
                <a:cs typeface="Inter"/>
              </a:defRPr>
            </a:pPr>
            <a:r>
              <a:rPr sz="2625" b="1">
                <a:solidFill>
                  <a:srgbClr val="FFD400"/>
                </a:solidFill>
                <a:latin typeface="Inter"/>
                <a:ea typeface="Inter"/>
                <a:cs typeface="Inter"/>
              </a:rPr>
              <a:t>3</a:t>
            </a:r>
          </a:p>
        </p:txBody>
      </p:sp>
      <p:sp>
        <p:nvSpPr>
          <p:cNvPr id="13" name="step-2">
            <a:extLst xmlns:a="http://schemas.openxmlformats.org/drawingml/2006/main">
              <a:ext uri="{FF2B5EF4-FFF2-40B4-BE49-F238E27FC236}">
                <a16:creationId xmlns:a16="http://schemas.microsoft.com/office/drawing/2014/main" id="{C5E8F1D4-7B69-4DFB-88F8-25A0EB0B8BBB}"/>
              </a:ext>
            </a:extLst>
          </p:cNvPr>
          <p:cNvSpPr>
            <a:spLocks xmlns:a="http://schemas.openxmlformats.org/drawingml/2006/main" noGrp="1"/>
          </p:cNvSpPr>
          <p:nvPr/>
        </p:nvSpPr>
        <p:spPr>
          <a:xfrm xmlns:a="http://schemas.openxmlformats.org/drawingml/2006/main">
            <a:off x="1571625" y="4752975"/>
            <a:ext cx="3714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00" b="1">
                <a:solidFill>
                  <a:srgbClr val="F6FAF9"/>
                </a:solidFill>
                <a:latin typeface="Inter"/>
                <a:ea typeface="Inter"/>
                <a:cs typeface="Inter"/>
              </a:defRPr>
            </a:defPPr>
          </a:lstStyle>
          <a:p xmlns:a="http://schemas.openxmlformats.org/drawingml/2006/main">
            <a:pPr>
              <a:defRPr sz="2100" b="1">
                <a:solidFill>
                  <a:srgbClr val="F6FAF9"/>
                </a:solidFill>
                <a:latin typeface="Inter"/>
                <a:ea typeface="Inter"/>
                <a:cs typeface="Inter"/>
              </a:defRPr>
            </a:pPr>
            <a:r>
              <a:rPr sz="2100" b="1">
                <a:solidFill>
                  <a:srgbClr val="F6FAF9"/>
                </a:solidFill>
                <a:latin typeface="Inter"/>
                <a:ea typeface="Inter"/>
                <a:cs typeface="Inter"/>
              </a:rPr>
              <a:t>Set completion criteria</a:t>
            </a:r>
          </a:p>
        </p:txBody>
      </p:sp>
      <p:sp>
        <p:nvSpPr>
          <p:cNvPr id="14" name="step-detail-2">
            <a:extLst xmlns:a="http://schemas.openxmlformats.org/drawingml/2006/main">
              <a:ext uri="{FF2B5EF4-FFF2-40B4-BE49-F238E27FC236}">
                <a16:creationId xmlns:a16="http://schemas.microsoft.com/office/drawing/2014/main" id="{8E747B90-AD38-4917-8C7D-16768C8BFD60}"/>
              </a:ext>
            </a:extLst>
          </p:cNvPr>
          <p:cNvSpPr>
            <a:spLocks xmlns:a="http://schemas.openxmlformats.org/drawingml/2006/main" noGrp="1"/>
          </p:cNvSpPr>
          <p:nvPr/>
        </p:nvSpPr>
        <p:spPr>
          <a:xfrm xmlns:a="http://schemas.openxmlformats.org/drawingml/2006/main">
            <a:off x="5695950" y="4781550"/>
            <a:ext cx="5810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75" b="0">
                <a:solidFill>
                  <a:srgbClr val="D7E2DF"/>
                </a:solidFill>
                <a:latin typeface="Inter"/>
                <a:ea typeface="Inter"/>
                <a:cs typeface="Inter"/>
              </a:defRPr>
            </a:defPPr>
          </a:lstStyle>
          <a:p xmlns:a="http://schemas.openxmlformats.org/drawingml/2006/main">
            <a:pPr>
              <a:defRPr sz="1875" b="0">
                <a:solidFill>
                  <a:srgbClr val="D7E2DF"/>
                </a:solidFill>
                <a:latin typeface="Inter"/>
                <a:ea typeface="Inter"/>
                <a:cs typeface="Inter"/>
              </a:defRPr>
            </a:pPr>
            <a:r>
              <a:rPr sz="1875" b="0">
                <a:solidFill>
                  <a:srgbClr val="D7E2DF"/>
                </a:solidFill>
                <a:latin typeface="Inter"/>
                <a:ea typeface="Inter"/>
                <a:cs typeface="Inter"/>
              </a:rPr>
              <a:t>Agree a due date and evidence of completion.</a:t>
            </a:r>
          </a:p>
        </p:txBody>
      </p:sp>
      <p:sp>
        <p:nvSpPr>
          <p:cNvPr id="15" name="n-3">
            <a:extLst xmlns:a="http://schemas.openxmlformats.org/drawingml/2006/main">
              <a:ext uri="{FF2B5EF4-FFF2-40B4-BE49-F238E27FC236}">
                <a16:creationId xmlns:a16="http://schemas.microsoft.com/office/drawing/2014/main" id="{CE16BE75-25EB-417C-A847-147A2959E067}"/>
              </a:ext>
            </a:extLst>
          </p:cNvPr>
          <p:cNvSpPr>
            <a:spLocks xmlns:a="http://schemas.openxmlformats.org/drawingml/2006/main" noGrp="1"/>
          </p:cNvSpPr>
          <p:nvPr/>
        </p:nvSpPr>
        <p:spPr>
          <a:xfrm xmlns:a="http://schemas.openxmlformats.org/drawingml/2006/main">
            <a:off x="685800" y="5410200"/>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625" b="1">
                <a:solidFill>
                  <a:srgbClr val="FFD400"/>
                </a:solidFill>
                <a:latin typeface="Inter"/>
                <a:ea typeface="Inter"/>
                <a:cs typeface="Inter"/>
              </a:defRPr>
            </a:defPPr>
          </a:lstStyle>
          <a:p xmlns:a="http://schemas.openxmlformats.org/drawingml/2006/main">
            <a:pPr>
              <a:defRPr sz="2625" b="1">
                <a:solidFill>
                  <a:srgbClr val="FFD400"/>
                </a:solidFill>
                <a:latin typeface="Inter"/>
                <a:ea typeface="Inter"/>
                <a:cs typeface="Inter"/>
              </a:defRPr>
            </a:pPr>
            <a:r>
              <a:rPr sz="2625" b="1">
                <a:solidFill>
                  <a:srgbClr val="FFD400"/>
                </a:solidFill>
                <a:latin typeface="Inter"/>
                <a:ea typeface="Inter"/>
                <a:cs typeface="Inter"/>
              </a:rPr>
              <a:t>4</a:t>
            </a:r>
          </a:p>
        </p:txBody>
      </p:sp>
      <p:sp>
        <p:nvSpPr>
          <p:cNvPr id="16" name="step-3">
            <a:extLst xmlns:a="http://schemas.openxmlformats.org/drawingml/2006/main">
              <a:ext uri="{FF2B5EF4-FFF2-40B4-BE49-F238E27FC236}">
                <a16:creationId xmlns:a16="http://schemas.microsoft.com/office/drawing/2014/main" id="{6044AB05-BE9A-4170-BD09-4E55BB594D9E}"/>
              </a:ext>
            </a:extLst>
          </p:cNvPr>
          <p:cNvSpPr>
            <a:spLocks xmlns:a="http://schemas.openxmlformats.org/drawingml/2006/main" noGrp="1"/>
          </p:cNvSpPr>
          <p:nvPr/>
        </p:nvSpPr>
        <p:spPr>
          <a:xfrm xmlns:a="http://schemas.openxmlformats.org/drawingml/2006/main">
            <a:off x="1571625" y="5419725"/>
            <a:ext cx="3714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00" b="1">
                <a:solidFill>
                  <a:srgbClr val="F6FAF9"/>
                </a:solidFill>
                <a:latin typeface="Inter"/>
                <a:ea typeface="Inter"/>
                <a:cs typeface="Inter"/>
              </a:defRPr>
            </a:defPPr>
          </a:lstStyle>
          <a:p xmlns:a="http://schemas.openxmlformats.org/drawingml/2006/main">
            <a:pPr>
              <a:defRPr sz="2100" b="1">
                <a:solidFill>
                  <a:srgbClr val="F6FAF9"/>
                </a:solidFill>
                <a:latin typeface="Inter"/>
                <a:ea typeface="Inter"/>
                <a:cs typeface="Inter"/>
              </a:defRPr>
            </a:pPr>
            <a:r>
              <a:rPr sz="2100" b="1">
                <a:solidFill>
                  <a:srgbClr val="F6FAF9"/>
                </a:solidFill>
                <a:latin typeface="Inter"/>
                <a:ea typeface="Inter"/>
                <a:cs typeface="Inter"/>
              </a:rPr>
              <a:t>Review the outcome</a:t>
            </a:r>
          </a:p>
        </p:txBody>
      </p:sp>
      <p:sp>
        <p:nvSpPr>
          <p:cNvPr id="17" name="step-detail-3">
            <a:extLst xmlns:a="http://schemas.openxmlformats.org/drawingml/2006/main">
              <a:ext uri="{FF2B5EF4-FFF2-40B4-BE49-F238E27FC236}">
                <a16:creationId xmlns:a16="http://schemas.microsoft.com/office/drawing/2014/main" id="{196CE8C1-2A04-4734-9BA6-19AB71EFE4CA}"/>
              </a:ext>
            </a:extLst>
          </p:cNvPr>
          <p:cNvSpPr>
            <a:spLocks xmlns:a="http://schemas.openxmlformats.org/drawingml/2006/main" noGrp="1"/>
          </p:cNvSpPr>
          <p:nvPr/>
        </p:nvSpPr>
        <p:spPr>
          <a:xfrm xmlns:a="http://schemas.openxmlformats.org/drawingml/2006/main">
            <a:off x="5695950" y="5448300"/>
            <a:ext cx="5810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75" b="0">
                <a:solidFill>
                  <a:srgbClr val="D7E2DF"/>
                </a:solidFill>
                <a:latin typeface="Inter"/>
                <a:ea typeface="Inter"/>
                <a:cs typeface="Inter"/>
              </a:defRPr>
            </a:defPPr>
          </a:lstStyle>
          <a:p xmlns:a="http://schemas.openxmlformats.org/drawingml/2006/main">
            <a:pPr>
              <a:defRPr sz="1875" b="0">
                <a:solidFill>
                  <a:srgbClr val="D7E2DF"/>
                </a:solidFill>
                <a:latin typeface="Inter"/>
                <a:ea typeface="Inter"/>
                <a:cs typeface="Inter"/>
              </a:defRPr>
            </a:pPr>
            <a:r>
              <a:rPr sz="1875" b="0">
                <a:solidFill>
                  <a:srgbClr val="D7E2DF"/>
                </a:solidFill>
                <a:latin typeface="Inter"/>
                <a:ea typeface="Inter"/>
                <a:cs typeface="Inter"/>
              </a:rPr>
              <a:t>Check what changed before the next assessment.</a:t>
            </a:r>
          </a:p>
        </p:txBody>
      </p:sp>
    </p:spTree>
    <p:extLst>
      <p:ext uri="{BB962C8B-B14F-4D97-AF65-F5344CB8AC3E}">
        <p14:creationId xmlns:p14="http://schemas.microsoft.com/office/powerpoint/2010/main" val="1207593773"/>
      </p:ext>
    </p:extLst>
  </p:cSld>
</p:sld>
</file>

<file path=ppt/slides/slide20.xml><?xml version="1.0" encoding="utf-8"?>
<p:sld xmlns:p="http://schemas.openxmlformats.org/presentationml/2006/main">
  <p:cSld>
    <p:bg>
      <p:bgPr>
        <a:solidFill xmlns:a="http://schemas.openxmlformats.org/drawingml/2006/main">
          <a:srgbClr val="08100F"/>
        </a:solidFill>
      </p:bgPr>
    </p:bg>
    <p:spTree>
      <p:nvGrpSpPr>
        <p:cNvPr id="1" name=""/>
        <p:cNvGrpSpPr/>
        <p:nvPr/>
      </p:nvGrpSpPr>
      <p:grpSpPr>
        <a:xfrm xmlns:a="http://schemas.openxmlformats.org/drawingml/2006/main"/>
      </p:grpSpPr>
      <p:sp>
        <p:nvSpPr>
          <p:cNvPr id="9" name="brand">
            <a:extLst xmlns:a="http://schemas.openxmlformats.org/drawingml/2006/main">
              <a:ext uri="{FF2B5EF4-FFF2-40B4-BE49-F238E27FC236}">
                <a16:creationId xmlns:a16="http://schemas.microsoft.com/office/drawing/2014/main" id="{BF590EBD-E547-40E4-AB0A-3545B063E5D4}"/>
              </a:ext>
            </a:extLst>
          </p:cNvPr>
          <p:cNvSpPr>
            <a:spLocks xmlns:a="http://schemas.openxmlformats.org/drawingml/2006/main" noGrp="1"/>
          </p:cNvSpPr>
          <p:nvPr/>
        </p:nvSpPr>
        <p:spPr>
          <a:xfrm xmlns:a="http://schemas.openxmlformats.org/drawingml/2006/main">
            <a:off x="685800" y="323850"/>
            <a:ext cx="2952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00" b="1">
                <a:solidFill>
                  <a:srgbClr val="F6FAF9"/>
                </a:solidFill>
                <a:latin typeface="Inter"/>
                <a:ea typeface="Inter"/>
                <a:cs typeface="Inter"/>
              </a:defRPr>
            </a:defPPr>
          </a:lstStyle>
          <a:p xmlns:a="http://schemas.openxmlformats.org/drawingml/2006/main">
            <a:pPr>
              <a:defRPr sz="1800" b="1">
                <a:solidFill>
                  <a:srgbClr val="F6FAF9"/>
                </a:solidFill>
                <a:latin typeface="Inter"/>
                <a:ea typeface="Inter"/>
                <a:cs typeface="Inter"/>
              </a:defRPr>
            </a:pPr>
            <a:r>
              <a:rPr sz="1800" b="1">
                <a:solidFill>
                  <a:srgbClr val="F6FAF9"/>
                </a:solidFill>
                <a:latin typeface="Inter"/>
                <a:ea typeface="Inter"/>
                <a:cs typeface="Inter"/>
              </a:rPr>
              <a:t>NO FRIES</a:t>
            </a:r>
          </a:p>
        </p:txBody>
      </p:sp>
      <p:sp>
        <p:nvSpPr>
          <p:cNvPr id="2" name="section">
            <a:extLst xmlns:a="http://schemas.openxmlformats.org/drawingml/2006/main">
              <a:ext uri="{FF2B5EF4-FFF2-40B4-BE49-F238E27FC236}">
                <a16:creationId xmlns:a16="http://schemas.microsoft.com/office/drawing/2014/main" id="{D079740E-E075-4F1B-AA63-55B06AD798FA}"/>
              </a:ext>
            </a:extLst>
          </p:cNvPr>
          <p:cNvSpPr>
            <a:spLocks xmlns:a="http://schemas.openxmlformats.org/drawingml/2006/main" noGrp="1"/>
          </p:cNvSpPr>
          <p:nvPr/>
        </p:nvSpPr>
        <p:spPr>
          <a:xfrm xmlns:a="http://schemas.openxmlformats.org/drawingml/2006/main">
            <a:off x="5524500" y="371475"/>
            <a:ext cx="59817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1">
                <a:solidFill>
                  <a:srgbClr val="6CD8C9"/>
                </a:solidFill>
                <a:latin typeface="Inter"/>
                <a:ea typeface="Inter"/>
                <a:cs typeface="Inter"/>
              </a:defRPr>
            </a:defPPr>
          </a:lstStyle>
          <a:p xmlns:a="http://schemas.openxmlformats.org/drawingml/2006/main">
            <a:pPr algn="r">
              <a:defRPr sz="1200" b="1">
                <a:solidFill>
                  <a:srgbClr val="6CD8C9"/>
                </a:solidFill>
                <a:latin typeface="Inter"/>
                <a:ea typeface="Inter"/>
                <a:cs typeface="Inter"/>
              </a:defRPr>
            </a:pPr>
            <a:r>
              <a:rPr sz="1200" b="1">
                <a:solidFill>
                  <a:srgbClr val="6CD8C9"/>
                </a:solidFill>
                <a:latin typeface="Inter"/>
                <a:ea typeface="Inter"/>
                <a:cs typeface="Inter"/>
              </a:rPr>
              <a:t>ASSESSMENT BASIS</a:t>
            </a:r>
          </a:p>
        </p:txBody>
      </p:sp>
      <p:sp>
        <p:nvSpPr>
          <p:cNvPr id="3" name="page">
            <a:extLst xmlns:a="http://schemas.openxmlformats.org/drawingml/2006/main">
              <a:ext uri="{FF2B5EF4-FFF2-40B4-BE49-F238E27FC236}">
                <a16:creationId xmlns:a16="http://schemas.microsoft.com/office/drawing/2014/main" id="{40EE6D7C-7669-4462-97F4-57B09474FC48}"/>
              </a:ext>
            </a:extLst>
          </p:cNvPr>
          <p:cNvSpPr>
            <a:spLocks xmlns:a="http://schemas.openxmlformats.org/drawingml/2006/main" noGrp="1"/>
          </p:cNvSpPr>
          <p:nvPr/>
        </p:nvSpPr>
        <p:spPr>
          <a:xfrm xmlns:a="http://schemas.openxmlformats.org/drawingml/2006/main">
            <a:off x="10934700" y="6429375"/>
            <a:ext cx="5715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A9BBB7"/>
                </a:solidFill>
                <a:latin typeface="Inter"/>
                <a:ea typeface="Inter"/>
                <a:cs typeface="Inter"/>
              </a:defRPr>
            </a:defPPr>
          </a:lstStyle>
          <a:p xmlns:a="http://schemas.openxmlformats.org/drawingml/2006/main">
            <a:pPr algn="r">
              <a:defRPr sz="1200" b="0">
                <a:solidFill>
                  <a:srgbClr val="A9BBB7"/>
                </a:solidFill>
                <a:latin typeface="Inter"/>
                <a:ea typeface="Inter"/>
                <a:cs typeface="Inter"/>
              </a:defRPr>
            </a:pPr>
            <a:r>
              <a:rPr sz="1200" b="0">
                <a:solidFill>
                  <a:srgbClr val="A9BBB7"/>
                </a:solidFill>
                <a:latin typeface="Inter"/>
                <a:ea typeface="Inter"/>
                <a:cs typeface="Inter"/>
              </a:rPr>
              <a:t>20</a:t>
            </a:r>
          </a:p>
        </p:txBody>
      </p:sp>
      <p:sp>
        <p:nvSpPr>
          <p:cNvPr id="4" name="title">
            <a:extLst xmlns:a="http://schemas.openxmlformats.org/drawingml/2006/main">
              <a:ext uri="{FF2B5EF4-FFF2-40B4-BE49-F238E27FC236}">
                <a16:creationId xmlns:a16="http://schemas.microsoft.com/office/drawing/2014/main" id="{A85A128A-AD37-4EB5-96C4-72736197A777}"/>
              </a:ext>
            </a:extLst>
          </p:cNvPr>
          <p:cNvSpPr>
            <a:spLocks xmlns:a="http://schemas.openxmlformats.org/drawingml/2006/main" noGrp="1"/>
          </p:cNvSpPr>
          <p:nvPr/>
        </p:nvSpPr>
        <p:spPr>
          <a:xfrm xmlns:a="http://schemas.openxmlformats.org/drawingml/2006/main">
            <a:off x="685800" y="1066800"/>
            <a:ext cx="10820400" cy="1219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4050" b="1">
                <a:solidFill>
                  <a:srgbClr val="F6FAF9"/>
                </a:solidFill>
                <a:latin typeface="Inter"/>
                <a:ea typeface="Inter"/>
                <a:cs typeface="Inter"/>
              </a:defRPr>
            </a:defPPr>
          </a:lstStyle>
          <a:p xmlns:a="http://schemas.openxmlformats.org/drawingml/2006/main">
            <a:pPr>
              <a:defRPr sz="4050" b="1">
                <a:solidFill>
                  <a:srgbClr val="F6FAF9"/>
                </a:solidFill>
                <a:latin typeface="Inter"/>
                <a:ea typeface="Inter"/>
                <a:cs typeface="Inter"/>
              </a:defRPr>
            </a:pPr>
            <a:r>
              <a:rPr sz="4050" b="1">
                <a:solidFill>
                  <a:srgbClr val="F6FAF9"/>
                </a:solidFill>
                <a:latin typeface="Inter"/>
                <a:ea typeface="Inter"/>
                <a:cs typeface="Inter"/>
              </a:rPr>
              <a:t>About this assessment</a:t>
            </a:r>
          </a:p>
        </p:txBody>
      </p:sp>
      <p:sp>
        <p:nvSpPr>
          <p:cNvPr id="5" name="subtitle">
            <a:extLst xmlns:a="http://schemas.openxmlformats.org/drawingml/2006/main">
              <a:ext uri="{FF2B5EF4-FFF2-40B4-BE49-F238E27FC236}">
                <a16:creationId xmlns:a16="http://schemas.microsoft.com/office/drawing/2014/main" id="{0BC04BF2-6C69-4851-8AA5-04F6A3EE33AD}"/>
              </a:ext>
            </a:extLst>
          </p:cNvPr>
          <p:cNvSpPr>
            <a:spLocks xmlns:a="http://schemas.openxmlformats.org/drawingml/2006/main" noGrp="1"/>
          </p:cNvSpPr>
          <p:nvPr/>
        </p:nvSpPr>
        <p:spPr>
          <a:xfrm xmlns:a="http://schemas.openxmlformats.org/drawingml/2006/main">
            <a:off x="685800" y="2400300"/>
            <a:ext cx="10668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00" b="0">
                <a:solidFill>
                  <a:srgbClr val="D7E2DF"/>
                </a:solidFill>
                <a:latin typeface="Inter"/>
                <a:ea typeface="Inter"/>
                <a:cs typeface="Inter"/>
              </a:defRPr>
            </a:defPPr>
          </a:lstStyle>
          <a:p xmlns:a="http://schemas.openxmlformats.org/drawingml/2006/main">
            <a:pPr>
              <a:defRPr sz="2100" b="0">
                <a:solidFill>
                  <a:srgbClr val="D7E2DF"/>
                </a:solidFill>
                <a:latin typeface="Inter"/>
                <a:ea typeface="Inter"/>
                <a:cs typeface="Inter"/>
              </a:defRPr>
            </a:pPr>
            <a:r>
              <a:rPr sz="2100" b="0">
                <a:solidFill>
                  <a:srgbClr val="D7E2DF"/>
                </a:solidFill>
                <a:latin typeface="Inter"/>
                <a:ea typeface="Inter"/>
                <a:cs typeface="Inter"/>
              </a:rPr>
              <a:t>No Fries questions adapted for New Zealand small and medium-sized organisations.</a:t>
            </a:r>
          </a:p>
        </p:txBody>
      </p:sp>
      <p:sp>
        <p:nvSpPr>
          <p:cNvPr id="6" name="limits">
            <a:extLst xmlns:a="http://schemas.openxmlformats.org/drawingml/2006/main">
              <a:ext uri="{FF2B5EF4-FFF2-40B4-BE49-F238E27FC236}">
                <a16:creationId xmlns:a16="http://schemas.microsoft.com/office/drawing/2014/main" id="{ABA2CD55-6B4A-43AF-AE1C-1BC9A21C14EB}"/>
              </a:ext>
            </a:extLst>
          </p:cNvPr>
          <p:cNvSpPr>
            <a:spLocks xmlns:a="http://schemas.openxmlformats.org/drawingml/2006/main" noGrp="1"/>
          </p:cNvSpPr>
          <p:nvPr/>
        </p:nvSpPr>
        <p:spPr>
          <a:xfrm xmlns:a="http://schemas.openxmlformats.org/drawingml/2006/main">
            <a:off x="685800" y="3495675"/>
            <a:ext cx="106680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00" b="0">
                <a:solidFill>
                  <a:srgbClr val="D7E2DF"/>
                </a:solidFill>
                <a:latin typeface="Inter"/>
                <a:ea typeface="Inter"/>
                <a:cs typeface="Inter"/>
              </a:defRPr>
            </a:defPPr>
          </a:lstStyle>
          <a:p xmlns:a="http://schemas.openxmlformats.org/drawingml/2006/main">
            <a:pPr>
              <a:defRPr sz="2100" b="0">
                <a:solidFill>
                  <a:srgbClr val="D7E2DF"/>
                </a:solidFill>
                <a:latin typeface="Inter"/>
                <a:ea typeface="Inter"/>
                <a:cs typeface="Inter"/>
              </a:defRPr>
            </a:pPr>
            <a:r>
              <a:rPr sz="2100" b="0">
                <a:solidFill>
                  <a:srgbClr val="D7E2DF"/>
                </a:solidFill>
                <a:latin typeface="Inter"/>
                <a:ea typeface="Inter"/>
                <a:cs typeface="Inter"/>
              </a:rPr>
              <a:t>A concise implementation assessment</a:t>
            </a:r>
          </a:p>
          <a:p xmlns:a="http://schemas.openxmlformats.org/drawingml/2006/main">
            <a:r>
              <a:t/>
            </a:r>
          </a:p>
          <a:p xmlns:a="http://schemas.openxmlformats.org/drawingml/2006/main">
            <a:pPr>
              <a:defRPr sz="2100" b="0">
                <a:solidFill>
                  <a:srgbClr val="D7E2DF"/>
                </a:solidFill>
                <a:latin typeface="Inter"/>
                <a:ea typeface="Inter"/>
                <a:cs typeface="Inter"/>
              </a:defRPr>
            </a:pPr>
            <a:r>
              <a:rPr sz="2100" b="0">
                <a:solidFill>
                  <a:srgbClr val="D7E2DF"/>
                </a:solidFill>
                <a:latin typeface="Inter"/>
                <a:ea typeface="Inter"/>
                <a:cs typeface="Inter"/>
              </a:rPr>
              <a:t>It does not test every Minimum Standard requirement or establish</a:t>
            </a:r>
          </a:p>
          <a:p xmlns:a="http://schemas.openxmlformats.org/drawingml/2006/main">
            <a:pPr>
              <a:defRPr sz="2100" b="0">
                <a:solidFill>
                  <a:srgbClr val="D7E2DF"/>
                </a:solidFill>
                <a:latin typeface="Inter"/>
                <a:ea typeface="Inter"/>
                <a:cs typeface="Inter"/>
              </a:defRPr>
            </a:pPr>
            <a:r>
              <a:rPr sz="2100" b="0">
                <a:solidFill>
                  <a:srgbClr val="D7E2DF"/>
                </a:solidFill>
                <a:latin typeface="Inter"/>
                <a:ea typeface="Inter"/>
                <a:cs typeface="Inter"/>
              </a:rPr>
              <a:t>a CS-CMM level, certification, compliance or a formal risk score.</a:t>
            </a:r>
          </a:p>
        </p:txBody>
      </p:sp>
      <p:sp>
        <p:nvSpPr>
          <p:cNvPr id="7" name="attribution">
            <a:extLst xmlns:a="http://schemas.openxmlformats.org/drawingml/2006/main">
              <a:ext uri="{FF2B5EF4-FFF2-40B4-BE49-F238E27FC236}">
                <a16:creationId xmlns:a16="http://schemas.microsoft.com/office/drawing/2014/main" id="{C0AED2DB-E5AA-4531-9BF7-FDEE1AF7ACB1}"/>
              </a:ext>
            </a:extLst>
          </p:cNvPr>
          <p:cNvSpPr>
            <a:spLocks xmlns:a="http://schemas.openxmlformats.org/drawingml/2006/main" noGrp="1"/>
          </p:cNvSpPr>
          <p:nvPr/>
        </p:nvSpPr>
        <p:spPr>
          <a:xfrm xmlns:a="http://schemas.openxmlformats.org/drawingml/2006/main">
            <a:off x="685800" y="5314950"/>
            <a:ext cx="10668000" cy="828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350" b="0">
                <a:solidFill>
                  <a:srgbClr val="A9BBB7"/>
                </a:solidFill>
                <a:latin typeface="Inter"/>
                <a:ea typeface="Inter"/>
                <a:cs typeface="Inter"/>
              </a:defRPr>
            </a:defPPr>
          </a:lstStyle>
          <a:p xmlns:a="http://schemas.openxmlformats.org/drawingml/2006/main">
            <a:pPr>
              <a:defRPr sz="1350" b="0">
                <a:solidFill>
                  <a:srgbClr val="A9BBB7"/>
                </a:solidFill>
                <a:latin typeface="Inter"/>
                <a:ea typeface="Inter"/>
                <a:cs typeface="Inter"/>
              </a:defRPr>
            </a:pPr>
            <a:r>
              <a:rPr sz="1350" b="0">
                <a:solidFill>
                  <a:srgbClr val="A9BBB7"/>
                </a:solidFill>
                <a:latin typeface="Inter"/>
                <a:ea typeface="Inter"/>
                <a:cs typeface="Inter"/>
              </a:rPr>
              <a:t>Adapted by No Fries Limited from the NCSC Cyber Security Framework and Minimum Cyber Security Standards 2025, © Crown copyright, GCSB on behalf of the Crown, licensed under CC BY 4.0. Changes were made for New Zealand SMEs. No NCSC endorsement is implied.</a:t>
            </a:r>
          </a:p>
        </p:txBody>
      </p:sp>
      <p:sp>
        <p:nvSpPr>
          <p:cNvPr id="8" name="licence">
            <a:extLst xmlns:a="http://schemas.openxmlformats.org/drawingml/2006/main">
              <a:ext uri="{FF2B5EF4-FFF2-40B4-BE49-F238E27FC236}">
                <a16:creationId xmlns:a16="http://schemas.microsoft.com/office/drawing/2014/main" id="{815C1DF1-09F1-4CFB-AEE2-A115EC218F11}"/>
              </a:ext>
            </a:extLst>
          </p:cNvPr>
          <p:cNvSpPr>
            <a:spLocks xmlns:a="http://schemas.openxmlformats.org/drawingml/2006/main" noGrp="1"/>
          </p:cNvSpPr>
          <p:nvPr/>
        </p:nvSpPr>
        <p:spPr>
          <a:xfrm xmlns:a="http://schemas.openxmlformats.org/drawingml/2006/main">
            <a:off x="685800" y="6200775"/>
            <a:ext cx="1000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6CD8C9"/>
                </a:solidFill>
                <a:latin typeface="Inter"/>
                <a:ea typeface="Inter"/>
                <a:cs typeface="Inter"/>
              </a:defRPr>
            </a:defPPr>
          </a:lstStyle>
          <a:p xmlns:a="http://schemas.openxmlformats.org/drawingml/2006/main">
            <a:pPr>
              <a:defRPr sz="1275" b="0">
                <a:solidFill>
                  <a:srgbClr val="6CD8C9"/>
                </a:solidFill>
                <a:latin typeface="Inter"/>
                <a:ea typeface="Inter"/>
                <a:cs typeface="Inter"/>
              </a:defRPr>
            </a:pPr>
            <a:r>
              <a:rPr sz="1275" b="0">
                <a:solidFill>
                  <a:srgbClr val="6CD8C9"/>
                </a:solidFill>
                <a:latin typeface="Inter"/>
                <a:ea typeface="Inter"/>
                <a:cs typeface="Inter"/>
              </a:rPr>
              <a:t>CC BY 4.0: https://creativecommons.org/licenses/by/4.0/</a:t>
            </a:r>
          </a:p>
        </p:txBody>
      </p:sp>
    </p:spTree>
    <p:extLst>
      <p:ext uri="{BB962C8B-B14F-4D97-AF65-F5344CB8AC3E}">
        <p14:creationId xmlns:p14="http://schemas.microsoft.com/office/powerpoint/2010/main" val="1045974882"/>
      </p:ext>
    </p:extLst>
  </p:cSld>
</p:sld>
</file>

<file path=ppt/slides/slide21.xml><?xml version="1.0" encoding="utf-8"?>
<p:sld xmlns:p="http://schemas.openxmlformats.org/presentationml/2006/main">
  <p:cSld>
    <p:bg>
      <p:bgPr>
        <a:solidFill xmlns:a="http://schemas.openxmlformats.org/drawingml/2006/main">
          <a:srgbClr val="08100F"/>
        </a:solidFill>
      </p:bgPr>
    </p:bg>
    <p:spTree>
      <p:nvGrpSpPr>
        <p:cNvPr id="1" name=""/>
        <p:cNvGrpSpPr/>
        <p:nvPr/>
      </p:nvGrpSpPr>
      <p:grpSpPr>
        <a:xfrm xmlns:a="http://schemas.openxmlformats.org/drawingml/2006/main"/>
      </p:grpSpPr>
      <p:sp>
        <p:nvSpPr>
          <p:cNvPr id="12" name="brand">
            <a:extLst xmlns:a="http://schemas.openxmlformats.org/drawingml/2006/main">
              <a:ext uri="{FF2B5EF4-FFF2-40B4-BE49-F238E27FC236}">
                <a16:creationId xmlns:a16="http://schemas.microsoft.com/office/drawing/2014/main" id="{E40D7E0F-E78A-42CA-BEBF-DC27AE77CA3D}"/>
              </a:ext>
            </a:extLst>
          </p:cNvPr>
          <p:cNvSpPr>
            <a:spLocks xmlns:a="http://schemas.openxmlformats.org/drawingml/2006/main" noGrp="1"/>
          </p:cNvSpPr>
          <p:nvPr/>
        </p:nvSpPr>
        <p:spPr>
          <a:xfrm xmlns:a="http://schemas.openxmlformats.org/drawingml/2006/main">
            <a:off x="685800" y="323850"/>
            <a:ext cx="2952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00" b="1">
                <a:solidFill>
                  <a:srgbClr val="F6FAF9"/>
                </a:solidFill>
                <a:latin typeface="Inter"/>
                <a:ea typeface="Inter"/>
                <a:cs typeface="Inter"/>
              </a:defRPr>
            </a:defPPr>
          </a:lstStyle>
          <a:p xmlns:a="http://schemas.openxmlformats.org/drawingml/2006/main">
            <a:pPr>
              <a:defRPr sz="1800" b="1">
                <a:solidFill>
                  <a:srgbClr val="F6FAF9"/>
                </a:solidFill>
                <a:latin typeface="Inter"/>
                <a:ea typeface="Inter"/>
                <a:cs typeface="Inter"/>
              </a:defRPr>
            </a:pPr>
            <a:r>
              <a:rPr sz="1800" b="1">
                <a:solidFill>
                  <a:srgbClr val="F6FAF9"/>
                </a:solidFill>
                <a:latin typeface="Inter"/>
                <a:ea typeface="Inter"/>
                <a:cs typeface="Inter"/>
              </a:rPr>
              <a:t>NO FRIES</a:t>
            </a:r>
          </a:p>
        </p:txBody>
      </p:sp>
      <p:sp>
        <p:nvSpPr>
          <p:cNvPr id="2" name="section">
            <a:extLst xmlns:a="http://schemas.openxmlformats.org/drawingml/2006/main">
              <a:ext uri="{FF2B5EF4-FFF2-40B4-BE49-F238E27FC236}">
                <a16:creationId xmlns:a16="http://schemas.microsoft.com/office/drawing/2014/main" id="{CC5A9314-2185-4ED9-ADA4-D78FBC37E549}"/>
              </a:ext>
            </a:extLst>
          </p:cNvPr>
          <p:cNvSpPr>
            <a:spLocks xmlns:a="http://schemas.openxmlformats.org/drawingml/2006/main" noGrp="1"/>
          </p:cNvSpPr>
          <p:nvPr/>
        </p:nvSpPr>
        <p:spPr>
          <a:xfrm xmlns:a="http://schemas.openxmlformats.org/drawingml/2006/main">
            <a:off x="5524500" y="371475"/>
            <a:ext cx="59817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1">
                <a:solidFill>
                  <a:srgbClr val="6CD8C9"/>
                </a:solidFill>
                <a:latin typeface="Inter"/>
                <a:ea typeface="Inter"/>
                <a:cs typeface="Inter"/>
              </a:defRPr>
            </a:defPPr>
          </a:lstStyle>
          <a:p xmlns:a="http://schemas.openxmlformats.org/drawingml/2006/main">
            <a:pPr algn="r">
              <a:defRPr sz="1200" b="1">
                <a:solidFill>
                  <a:srgbClr val="6CD8C9"/>
                </a:solidFill>
                <a:latin typeface="Inter"/>
                <a:ea typeface="Inter"/>
                <a:cs typeface="Inter"/>
              </a:defRPr>
            </a:pPr>
            <a:r>
              <a:rPr sz="1200" b="1">
                <a:solidFill>
                  <a:srgbClr val="6CD8C9"/>
                </a:solidFill>
                <a:latin typeface="Inter"/>
                <a:ea typeface="Inter"/>
                <a:cs typeface="Inter"/>
              </a:rPr>
              <a:t>OPTIONAL NZISM SECTION</a:t>
            </a:r>
          </a:p>
        </p:txBody>
      </p:sp>
      <p:sp>
        <p:nvSpPr>
          <p:cNvPr id="3" name="page">
            <a:extLst xmlns:a="http://schemas.openxmlformats.org/drawingml/2006/main">
              <a:ext uri="{FF2B5EF4-FFF2-40B4-BE49-F238E27FC236}">
                <a16:creationId xmlns:a16="http://schemas.microsoft.com/office/drawing/2014/main" id="{45A2D749-CF30-41B3-B3F9-5D944D47E650}"/>
              </a:ext>
            </a:extLst>
          </p:cNvPr>
          <p:cNvSpPr>
            <a:spLocks xmlns:a="http://schemas.openxmlformats.org/drawingml/2006/main" noGrp="1"/>
          </p:cNvSpPr>
          <p:nvPr/>
        </p:nvSpPr>
        <p:spPr>
          <a:xfrm xmlns:a="http://schemas.openxmlformats.org/drawingml/2006/main">
            <a:off x="10934700" y="6429375"/>
            <a:ext cx="5715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A9BBB7"/>
                </a:solidFill>
                <a:latin typeface="Inter"/>
                <a:ea typeface="Inter"/>
                <a:cs typeface="Inter"/>
              </a:defRPr>
            </a:defPPr>
          </a:lstStyle>
          <a:p xmlns:a="http://schemas.openxmlformats.org/drawingml/2006/main">
            <a:pPr algn="r">
              <a:defRPr sz="1200" b="0">
                <a:solidFill>
                  <a:srgbClr val="A9BBB7"/>
                </a:solidFill>
                <a:latin typeface="Inter"/>
                <a:ea typeface="Inter"/>
                <a:cs typeface="Inter"/>
              </a:defRPr>
            </a:pPr>
            <a:r>
              <a:rPr sz="1200" b="0">
                <a:solidFill>
                  <a:srgbClr val="A9BBB7"/>
                </a:solidFill>
                <a:latin typeface="Inter"/>
                <a:ea typeface="Inter"/>
                <a:cs typeface="Inter"/>
              </a:rPr>
              <a:t>21</a:t>
            </a:r>
          </a:p>
        </p:txBody>
      </p:sp>
      <p:sp>
        <p:nvSpPr>
          <p:cNvPr id="4" name="title">
            <a:extLst xmlns:a="http://schemas.openxmlformats.org/drawingml/2006/main">
              <a:ext uri="{FF2B5EF4-FFF2-40B4-BE49-F238E27FC236}">
                <a16:creationId xmlns:a16="http://schemas.microsoft.com/office/drawing/2014/main" id="{7B467C52-6451-460D-8112-3E0D177C0984}"/>
              </a:ext>
            </a:extLst>
          </p:cNvPr>
          <p:cNvSpPr>
            <a:spLocks xmlns:a="http://schemas.openxmlformats.org/drawingml/2006/main" noGrp="1"/>
          </p:cNvSpPr>
          <p:nvPr/>
        </p:nvSpPr>
        <p:spPr>
          <a:xfrm xmlns:a="http://schemas.openxmlformats.org/drawingml/2006/main">
            <a:off x="685800" y="1066800"/>
            <a:ext cx="10820400" cy="1219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4050" b="1">
                <a:solidFill>
                  <a:srgbClr val="F6FAF9"/>
                </a:solidFill>
                <a:latin typeface="Inter"/>
                <a:ea typeface="Inter"/>
                <a:cs typeface="Inter"/>
              </a:defRPr>
            </a:defPPr>
          </a:lstStyle>
          <a:p xmlns:a="http://schemas.openxmlformats.org/drawingml/2006/main">
            <a:pPr>
              <a:defRPr sz="4050" b="1">
                <a:solidFill>
                  <a:srgbClr val="F6FAF9"/>
                </a:solidFill>
                <a:latin typeface="Inter"/>
                <a:ea typeface="Inter"/>
                <a:cs typeface="Inter"/>
              </a:defRPr>
            </a:pPr>
            <a:r>
              <a:rPr sz="4050" b="1">
                <a:solidFill>
                  <a:srgbClr val="F6FAF9"/>
                </a:solidFill>
                <a:latin typeface="Inter"/>
                <a:ea typeface="Inter"/>
                <a:cs typeface="Inter"/>
              </a:rPr>
              <a:t>How this workshop relates to NZISM</a:t>
            </a:r>
          </a:p>
        </p:txBody>
      </p:sp>
      <p:sp>
        <p:nvSpPr>
          <p:cNvPr id="5" name="subtitle">
            <a:extLst xmlns:a="http://schemas.openxmlformats.org/drawingml/2006/main">
              <a:ext uri="{FF2B5EF4-FFF2-40B4-BE49-F238E27FC236}">
                <a16:creationId xmlns:a16="http://schemas.microsoft.com/office/drawing/2014/main" id="{94A01E38-AC8A-4160-AA3A-3D18D4789719}"/>
              </a:ext>
            </a:extLst>
          </p:cNvPr>
          <p:cNvSpPr>
            <a:spLocks xmlns:a="http://schemas.openxmlformats.org/drawingml/2006/main" noGrp="1"/>
          </p:cNvSpPr>
          <p:nvPr/>
        </p:nvSpPr>
        <p:spPr>
          <a:xfrm xmlns:a="http://schemas.openxmlformats.org/drawingml/2006/main">
            <a:off x="685800" y="2400300"/>
            <a:ext cx="10668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00" b="0">
                <a:solidFill>
                  <a:srgbClr val="D7E2DF"/>
                </a:solidFill>
                <a:latin typeface="Inter"/>
                <a:ea typeface="Inter"/>
                <a:cs typeface="Inter"/>
              </a:defRPr>
            </a:defPPr>
          </a:lstStyle>
          <a:p xmlns:a="http://schemas.openxmlformats.org/drawingml/2006/main">
            <a:pPr>
              <a:defRPr sz="2100" b="0">
                <a:solidFill>
                  <a:srgbClr val="D7E2DF"/>
                </a:solidFill>
                <a:latin typeface="Inter"/>
                <a:ea typeface="Inter"/>
                <a:cs typeface="Inter"/>
              </a:defRPr>
            </a:pPr>
            <a:r>
              <a:rPr sz="2100" b="0">
                <a:solidFill>
                  <a:srgbClr val="D7E2DF"/>
                </a:solidFill>
                <a:latin typeface="Inter"/>
                <a:ea typeface="Inter"/>
                <a:cs typeface="Inter"/>
              </a:rPr>
              <a:t>Selected topic mapping. A starting point for further review.</a:t>
            </a:r>
          </a:p>
        </p:txBody>
      </p:sp>
      <p:sp>
        <p:nvSpPr>
          <p:cNvPr id="6" name="nzism-when">
            <a:extLst xmlns:a="http://schemas.openxmlformats.org/drawingml/2006/main">
              <a:ext uri="{FF2B5EF4-FFF2-40B4-BE49-F238E27FC236}">
                <a16:creationId xmlns:a16="http://schemas.microsoft.com/office/drawing/2014/main" id="{8D059AF6-1AE6-4AD0-B28C-D882FC90F207}"/>
              </a:ext>
            </a:extLst>
          </p:cNvPr>
          <p:cNvSpPr>
            <a:spLocks xmlns:a="http://schemas.openxmlformats.org/drawingml/2006/main" noGrp="1"/>
          </p:cNvSpPr>
          <p:nvPr/>
        </p:nvSpPr>
        <p:spPr>
          <a:xfrm xmlns:a="http://schemas.openxmlformats.org/drawingml/2006/main">
            <a:off x="685800" y="3476625"/>
            <a:ext cx="4857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350" b="1">
                <a:solidFill>
                  <a:srgbClr val="6CD8C9"/>
                </a:solidFill>
                <a:latin typeface="Inter"/>
                <a:ea typeface="Inter"/>
                <a:cs typeface="Inter"/>
              </a:defRPr>
            </a:defPPr>
          </a:lstStyle>
          <a:p xmlns:a="http://schemas.openxmlformats.org/drawingml/2006/main">
            <a:pPr>
              <a:defRPr sz="1350" b="1">
                <a:solidFill>
                  <a:srgbClr val="6CD8C9"/>
                </a:solidFill>
                <a:latin typeface="Inter"/>
                <a:ea typeface="Inter"/>
                <a:cs typeface="Inter"/>
              </a:defRPr>
            </a:pPr>
            <a:r>
              <a:rPr sz="1350" b="1">
                <a:solidFill>
                  <a:srgbClr val="6CD8C9"/>
                </a:solidFill>
                <a:latin typeface="Inter"/>
                <a:ea typeface="Inter"/>
                <a:cs typeface="Inter"/>
              </a:rPr>
              <a:t>WHEN IT HELPS</a:t>
            </a:r>
          </a:p>
        </p:txBody>
      </p:sp>
      <p:sp>
        <p:nvSpPr>
          <p:cNvPr id="7" name="nzism-when-body">
            <a:extLst xmlns:a="http://schemas.openxmlformats.org/drawingml/2006/main">
              <a:ext uri="{FF2B5EF4-FFF2-40B4-BE49-F238E27FC236}">
                <a16:creationId xmlns:a16="http://schemas.microsoft.com/office/drawing/2014/main" id="{C5779CCB-1F9E-48C0-8553-C0D65A2A7640}"/>
              </a:ext>
            </a:extLst>
          </p:cNvPr>
          <p:cNvSpPr>
            <a:spLocks xmlns:a="http://schemas.openxmlformats.org/drawingml/2006/main" noGrp="1"/>
          </p:cNvSpPr>
          <p:nvPr/>
        </p:nvSpPr>
        <p:spPr>
          <a:xfrm xmlns:a="http://schemas.openxmlformats.org/drawingml/2006/main">
            <a:off x="685800" y="3895725"/>
            <a:ext cx="5105400" cy="1638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025" b="0">
                <a:solidFill>
                  <a:srgbClr val="D7E2DF"/>
                </a:solidFill>
                <a:latin typeface="Inter"/>
                <a:ea typeface="Inter"/>
                <a:cs typeface="Inter"/>
              </a:defRPr>
            </a:defPPr>
          </a:lstStyle>
          <a:p xmlns:a="http://schemas.openxmlformats.org/drawingml/2006/main">
            <a:pPr>
              <a:defRPr sz="2025" b="0">
                <a:solidFill>
                  <a:srgbClr val="D7E2DF"/>
                </a:solidFill>
                <a:latin typeface="Inter"/>
                <a:ea typeface="Inter"/>
                <a:cs typeface="Inter"/>
              </a:defRPr>
            </a:pPr>
            <a:r>
              <a:rPr sz="2025" b="0">
                <a:solidFill>
                  <a:srgbClr val="D7E2DF"/>
                </a:solidFill>
                <a:latin typeface="Inter"/>
                <a:ea typeface="Inter"/>
                <a:cs typeface="Inter"/>
              </a:rPr>
              <a:t>Government customers and suppliers</a:t>
            </a:r>
          </a:p>
          <a:p xmlns:a="http://schemas.openxmlformats.org/drawingml/2006/main">
            <a:pPr>
              <a:defRPr sz="2025" b="0">
                <a:solidFill>
                  <a:srgbClr val="D7E2DF"/>
                </a:solidFill>
                <a:latin typeface="Inter"/>
                <a:ea typeface="Inter"/>
                <a:cs typeface="Inter"/>
              </a:defRPr>
            </a:pPr>
            <a:r>
              <a:rPr sz="2025" b="0">
                <a:solidFill>
                  <a:srgbClr val="D7E2DF"/>
                </a:solidFill>
                <a:latin typeface="Inter"/>
                <a:ea typeface="Inter"/>
                <a:cs typeface="Inter"/>
              </a:rPr>
              <a:t>may have specific assurance needs.</a:t>
            </a:r>
          </a:p>
          <a:p xmlns:a="http://schemas.openxmlformats.org/drawingml/2006/main">
            <a:r>
              <a:t/>
            </a:r>
          </a:p>
          <a:p xmlns:a="http://schemas.openxmlformats.org/drawingml/2006/main">
            <a:pPr>
              <a:defRPr sz="2025" b="0">
                <a:solidFill>
                  <a:srgbClr val="D7E2DF"/>
                </a:solidFill>
                <a:latin typeface="Inter"/>
                <a:ea typeface="Inter"/>
                <a:cs typeface="Inter"/>
              </a:defRPr>
            </a:pPr>
            <a:r>
              <a:rPr sz="2025" b="0">
                <a:solidFill>
                  <a:srgbClr val="D7E2DF"/>
                </a:solidFill>
                <a:latin typeface="Inter"/>
                <a:ea typeface="Inter"/>
                <a:cs typeface="Inter"/>
              </a:rPr>
              <a:t>We confirm the actual systems,</a:t>
            </a:r>
          </a:p>
          <a:p xmlns:a="http://schemas.openxmlformats.org/drawingml/2006/main">
            <a:pPr>
              <a:defRPr sz="2025" b="0">
                <a:solidFill>
                  <a:srgbClr val="D7E2DF"/>
                </a:solidFill>
                <a:latin typeface="Inter"/>
                <a:ea typeface="Inter"/>
                <a:cs typeface="Inter"/>
              </a:defRPr>
            </a:pPr>
            <a:r>
              <a:rPr sz="2025" b="0">
                <a:solidFill>
                  <a:srgbClr val="D7E2DF"/>
                </a:solidFill>
                <a:latin typeface="Inter"/>
                <a:ea typeface="Inter"/>
                <a:cs typeface="Inter"/>
              </a:rPr>
              <a:t>information and customer requirements.</a:t>
            </a:r>
          </a:p>
        </p:txBody>
      </p:sp>
      <p:sp>
        <p:nvSpPr>
          <p:cNvPr id="8" name="nzism-output">
            <a:extLst xmlns:a="http://schemas.openxmlformats.org/drawingml/2006/main">
              <a:ext uri="{FF2B5EF4-FFF2-40B4-BE49-F238E27FC236}">
                <a16:creationId xmlns:a16="http://schemas.microsoft.com/office/drawing/2014/main" id="{D14A0ECC-48D6-4B99-A11F-AB7F460D8733}"/>
              </a:ext>
            </a:extLst>
          </p:cNvPr>
          <p:cNvSpPr>
            <a:spLocks xmlns:a="http://schemas.openxmlformats.org/drawingml/2006/main" noGrp="1"/>
          </p:cNvSpPr>
          <p:nvPr/>
        </p:nvSpPr>
        <p:spPr>
          <a:xfrm xmlns:a="http://schemas.openxmlformats.org/drawingml/2006/main">
            <a:off x="6800850" y="3476625"/>
            <a:ext cx="4705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350" b="1">
                <a:solidFill>
                  <a:srgbClr val="6CD8C9"/>
                </a:solidFill>
                <a:latin typeface="Inter"/>
                <a:ea typeface="Inter"/>
                <a:cs typeface="Inter"/>
              </a:defRPr>
            </a:defPPr>
          </a:lstStyle>
          <a:p xmlns:a="http://schemas.openxmlformats.org/drawingml/2006/main">
            <a:pPr>
              <a:defRPr sz="1350" b="1">
                <a:solidFill>
                  <a:srgbClr val="6CD8C9"/>
                </a:solidFill>
                <a:latin typeface="Inter"/>
                <a:ea typeface="Inter"/>
                <a:cs typeface="Inter"/>
              </a:defRPr>
            </a:pPr>
            <a:r>
              <a:rPr sz="1350" b="1">
                <a:solidFill>
                  <a:srgbClr val="6CD8C9"/>
                </a:solidFill>
                <a:latin typeface="Inter"/>
                <a:ea typeface="Inter"/>
                <a:cs typeface="Inter"/>
              </a:rPr>
              <a:t>WHAT IT PROVIDES</a:t>
            </a:r>
          </a:p>
        </p:txBody>
      </p:sp>
      <p:sp>
        <p:nvSpPr>
          <p:cNvPr id="9" name="nzism-output-body">
            <a:extLst xmlns:a="http://schemas.openxmlformats.org/drawingml/2006/main">
              <a:ext uri="{FF2B5EF4-FFF2-40B4-BE49-F238E27FC236}">
                <a16:creationId xmlns:a16="http://schemas.microsoft.com/office/drawing/2014/main" id="{7C68BE85-C3F0-4744-A65B-2EBD2E5E5EA4}"/>
              </a:ext>
            </a:extLst>
          </p:cNvPr>
          <p:cNvSpPr>
            <a:spLocks xmlns:a="http://schemas.openxmlformats.org/drawingml/2006/main" noGrp="1"/>
          </p:cNvSpPr>
          <p:nvPr/>
        </p:nvSpPr>
        <p:spPr>
          <a:xfrm xmlns:a="http://schemas.openxmlformats.org/drawingml/2006/main">
            <a:off x="6800850" y="3895725"/>
            <a:ext cx="4705350" cy="1638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025" b="0">
                <a:solidFill>
                  <a:srgbClr val="D7E2DF"/>
                </a:solidFill>
                <a:latin typeface="Inter"/>
                <a:ea typeface="Inter"/>
                <a:cs typeface="Inter"/>
              </a:defRPr>
            </a:defPPr>
          </a:lstStyle>
          <a:p xmlns:a="http://schemas.openxmlformats.org/drawingml/2006/main">
            <a:pPr>
              <a:defRPr sz="2025" b="0">
                <a:solidFill>
                  <a:srgbClr val="D7E2DF"/>
                </a:solidFill>
                <a:latin typeface="Inter"/>
                <a:ea typeface="Inter"/>
                <a:cs typeface="Inter"/>
              </a:defRPr>
            </a:pPr>
            <a:r>
              <a:rPr sz="2025" b="0">
                <a:solidFill>
                  <a:srgbClr val="D7E2DF"/>
                </a:solidFill>
                <a:latin typeface="Inter"/>
                <a:ea typeface="Inter"/>
                <a:cs typeface="Inter"/>
              </a:rPr>
              <a:t>The appendix identifies selected</a:t>
            </a:r>
          </a:p>
          <a:p xmlns:a="http://schemas.openxmlformats.org/drawingml/2006/main">
            <a:pPr>
              <a:defRPr sz="2025" b="0">
                <a:solidFill>
                  <a:srgbClr val="D7E2DF"/>
                </a:solidFill>
                <a:latin typeface="Inter"/>
                <a:ea typeface="Inter"/>
                <a:cs typeface="Inter"/>
              </a:defRPr>
            </a:pPr>
            <a:r>
              <a:rPr sz="2025" b="0">
                <a:solidFill>
                  <a:srgbClr val="D7E2DF"/>
                </a:solidFill>
                <a:latin typeface="Inter"/>
                <a:ea typeface="Inter"/>
                <a:cs typeface="Inter"/>
              </a:rPr>
              <a:t>references and evidence to explore.</a:t>
            </a:r>
          </a:p>
          <a:p xmlns:a="http://schemas.openxmlformats.org/drawingml/2006/main">
            <a:r>
              <a:t/>
            </a:r>
          </a:p>
          <a:p xmlns:a="http://schemas.openxmlformats.org/drawingml/2006/main">
            <a:pPr>
              <a:defRPr sz="2025" b="0">
                <a:solidFill>
                  <a:srgbClr val="D7E2DF"/>
                </a:solidFill>
                <a:latin typeface="Inter"/>
                <a:ea typeface="Inter"/>
                <a:cs typeface="Inter"/>
              </a:defRPr>
            </a:pPr>
            <a:r>
              <a:rPr sz="2025" b="0">
                <a:solidFill>
                  <a:srgbClr val="D7E2DF"/>
                </a:solidFill>
                <a:latin typeface="Inter"/>
                <a:ea typeface="Inter"/>
                <a:cs typeface="Inter"/>
              </a:rPr>
              <a:t>Required assurance needs a separate,</a:t>
            </a:r>
          </a:p>
          <a:p xmlns:a="http://schemas.openxmlformats.org/drawingml/2006/main">
            <a:pPr>
              <a:defRPr sz="2025" b="0">
                <a:solidFill>
                  <a:srgbClr val="D7E2DF"/>
                </a:solidFill>
                <a:latin typeface="Inter"/>
                <a:ea typeface="Inter"/>
                <a:cs typeface="Inter"/>
              </a:defRPr>
            </a:pPr>
            <a:r>
              <a:rPr sz="2025" b="0">
                <a:solidFill>
                  <a:srgbClr val="D7E2DF"/>
                </a:solidFill>
                <a:latin typeface="Inter"/>
                <a:ea typeface="Inter"/>
                <a:cs typeface="Inter"/>
              </a:rPr>
              <a:t>scoped control-level assessment.</a:t>
            </a:r>
          </a:p>
        </p:txBody>
      </p:sp>
      <p:sp>
        <p:nvSpPr>
          <p:cNvPr id="10" name="nzism-boundary">
            <a:extLst xmlns:a="http://schemas.openxmlformats.org/drawingml/2006/main">
              <a:ext uri="{FF2B5EF4-FFF2-40B4-BE49-F238E27FC236}">
                <a16:creationId xmlns:a16="http://schemas.microsoft.com/office/drawing/2014/main" id="{E97EA5E4-C3D4-4494-8C69-B12C9405D065}"/>
              </a:ext>
            </a:extLst>
          </p:cNvPr>
          <p:cNvSpPr>
            <a:spLocks xmlns:a="http://schemas.openxmlformats.org/drawingml/2006/main" noGrp="1"/>
          </p:cNvSpPr>
          <p:nvPr/>
        </p:nvSpPr>
        <p:spPr>
          <a:xfrm xmlns:a="http://schemas.openxmlformats.org/drawingml/2006/main">
            <a:off x="685800" y="5734050"/>
            <a:ext cx="108204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b="1">
                <a:solidFill>
                  <a:srgbClr val="FFD400"/>
                </a:solidFill>
                <a:latin typeface="Inter"/>
                <a:ea typeface="Inter"/>
                <a:cs typeface="Inter"/>
              </a:defRPr>
            </a:defPPr>
          </a:lstStyle>
          <a:p xmlns:a="http://schemas.openxmlformats.org/drawingml/2006/main">
            <a:pPr>
              <a:defRPr sz="1650" b="1">
                <a:solidFill>
                  <a:srgbClr val="FFD400"/>
                </a:solidFill>
                <a:latin typeface="Inter"/>
                <a:ea typeface="Inter"/>
                <a:cs typeface="Inter"/>
              </a:defRPr>
            </a:pPr>
            <a:r>
              <a:rPr sz="1650" b="1">
                <a:solidFill>
                  <a:srgbClr val="FFD400"/>
                </a:solidFill>
                <a:latin typeface="Inter"/>
                <a:ea typeface="Inter"/>
                <a:cs typeface="Inter"/>
              </a:rPr>
              <a:t>Selected references only. No full NZISM assessment, compliance conclusion, accreditation or certification is provided.</a:t>
            </a:r>
          </a:p>
        </p:txBody>
      </p:sp>
      <p:sp>
        <p:nvSpPr>
          <p:cNvPr id="11" name="nzism-version">
            <a:extLst xmlns:a="http://schemas.openxmlformats.org/drawingml/2006/main">
              <a:ext uri="{FF2B5EF4-FFF2-40B4-BE49-F238E27FC236}">
                <a16:creationId xmlns:a16="http://schemas.microsoft.com/office/drawing/2014/main" id="{FF87E18D-D032-4B63-8DFD-F67E2C2D1822}"/>
              </a:ext>
            </a:extLst>
          </p:cNvPr>
          <p:cNvSpPr>
            <a:spLocks xmlns:a="http://schemas.openxmlformats.org/drawingml/2006/main" noGrp="1"/>
          </p:cNvSpPr>
          <p:nvPr/>
        </p:nvSpPr>
        <p:spPr>
          <a:xfrm xmlns:a="http://schemas.openxmlformats.org/drawingml/2006/main">
            <a:off x="685800" y="6334125"/>
            <a:ext cx="9906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00" b="0">
                <a:solidFill>
                  <a:srgbClr val="A9BBB7"/>
                </a:solidFill>
                <a:latin typeface="Inter"/>
                <a:ea typeface="Inter"/>
                <a:cs typeface="Inter"/>
              </a:defRPr>
            </a:defPPr>
          </a:lstStyle>
          <a:p xmlns:a="http://schemas.openxmlformats.org/drawingml/2006/main">
            <a:pPr>
              <a:defRPr sz="1200" b="0">
                <a:solidFill>
                  <a:srgbClr val="A9BBB7"/>
                </a:solidFill>
                <a:latin typeface="Inter"/>
                <a:ea typeface="Inter"/>
                <a:cs typeface="Inter"/>
              </a:defRPr>
            </a:pPr>
            <a:r>
              <a:rPr sz="1200" b="0">
                <a:solidFill>
                  <a:srgbClr val="A9BBB7"/>
                </a:solidFill>
                <a:latin typeface="Inter"/>
                <a:ea typeface="Inter"/>
                <a:cs typeface="Inter"/>
              </a:rPr>
              <a:t>NZISM v3.9, current online edition, updated November 2025. Checked 19 October 2026.</a:t>
            </a:r>
          </a:p>
        </p:txBody>
      </p:sp>
    </p:spTree>
    <p:extLst>
      <p:ext uri="{BB962C8B-B14F-4D97-AF65-F5344CB8AC3E}">
        <p14:creationId xmlns:p14="http://schemas.microsoft.com/office/powerpoint/2010/main" val="1860423981"/>
      </p:ext>
    </p:extLst>
  </p:cSld>
</p:sld>
</file>

<file path=ppt/slides/slide22.xml><?xml version="1.0" encoding="utf-8"?>
<p:sld xmlns:p="http://schemas.openxmlformats.org/presentationml/2006/main">
  <p:cSld>
    <p:bg>
      <p:bgPr>
        <a:solidFill xmlns:a="http://schemas.openxmlformats.org/drawingml/2006/main">
          <a:srgbClr val="08100F"/>
        </a:solidFill>
      </p:bgPr>
    </p:bg>
    <p:spTree>
      <p:nvGrpSpPr>
        <p:cNvPr id="1" name=""/>
        <p:cNvGrpSpPr/>
        <p:nvPr/>
      </p:nvGrpSpPr>
      <p:grpSpPr>
        <a:xfrm xmlns:a="http://schemas.openxmlformats.org/drawingml/2006/main"/>
      </p:grpSpPr>
      <p:sp>
        <p:nvSpPr>
          <p:cNvPr id="9" name="brand">
            <a:extLst xmlns:a="http://schemas.openxmlformats.org/drawingml/2006/main">
              <a:ext uri="{FF2B5EF4-FFF2-40B4-BE49-F238E27FC236}">
                <a16:creationId xmlns:a16="http://schemas.microsoft.com/office/drawing/2014/main" id="{30E715BE-6C67-4D23-817C-B95506C38621}"/>
              </a:ext>
            </a:extLst>
          </p:cNvPr>
          <p:cNvSpPr>
            <a:spLocks xmlns:a="http://schemas.openxmlformats.org/drawingml/2006/main" noGrp="1"/>
          </p:cNvSpPr>
          <p:nvPr/>
        </p:nvSpPr>
        <p:spPr>
          <a:xfrm xmlns:a="http://schemas.openxmlformats.org/drawingml/2006/main">
            <a:off x="685800" y="323850"/>
            <a:ext cx="2952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00" b="1">
                <a:solidFill>
                  <a:srgbClr val="F6FAF9"/>
                </a:solidFill>
                <a:latin typeface="Inter"/>
                <a:ea typeface="Inter"/>
                <a:cs typeface="Inter"/>
              </a:defRPr>
            </a:defPPr>
          </a:lstStyle>
          <a:p xmlns:a="http://schemas.openxmlformats.org/drawingml/2006/main">
            <a:pPr>
              <a:defRPr sz="1800" b="1">
                <a:solidFill>
                  <a:srgbClr val="F6FAF9"/>
                </a:solidFill>
                <a:latin typeface="Inter"/>
                <a:ea typeface="Inter"/>
                <a:cs typeface="Inter"/>
              </a:defRPr>
            </a:pPr>
            <a:r>
              <a:rPr sz="1800" b="1">
                <a:solidFill>
                  <a:srgbClr val="F6FAF9"/>
                </a:solidFill>
                <a:latin typeface="Inter"/>
                <a:ea typeface="Inter"/>
                <a:cs typeface="Inter"/>
              </a:rPr>
              <a:t>NO FRIES</a:t>
            </a:r>
          </a:p>
        </p:txBody>
      </p:sp>
      <p:sp>
        <p:nvSpPr>
          <p:cNvPr id="2" name="section">
            <a:extLst xmlns:a="http://schemas.openxmlformats.org/drawingml/2006/main">
              <a:ext uri="{FF2B5EF4-FFF2-40B4-BE49-F238E27FC236}">
                <a16:creationId xmlns:a16="http://schemas.microsoft.com/office/drawing/2014/main" id="{508D4C23-8A3F-41E6-A703-20DD2613BD97}"/>
              </a:ext>
            </a:extLst>
          </p:cNvPr>
          <p:cNvSpPr>
            <a:spLocks xmlns:a="http://schemas.openxmlformats.org/drawingml/2006/main" noGrp="1"/>
          </p:cNvSpPr>
          <p:nvPr/>
        </p:nvSpPr>
        <p:spPr>
          <a:xfrm xmlns:a="http://schemas.openxmlformats.org/drawingml/2006/main">
            <a:off x="5524500" y="371475"/>
            <a:ext cx="59817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1">
                <a:solidFill>
                  <a:srgbClr val="6CD8C9"/>
                </a:solidFill>
                <a:latin typeface="Inter"/>
                <a:ea typeface="Inter"/>
                <a:cs typeface="Inter"/>
              </a:defRPr>
            </a:defPPr>
          </a:lstStyle>
          <a:p xmlns:a="http://schemas.openxmlformats.org/drawingml/2006/main">
            <a:pPr algn="r">
              <a:defRPr sz="1200" b="1">
                <a:solidFill>
                  <a:srgbClr val="6CD8C9"/>
                </a:solidFill>
                <a:latin typeface="Inter"/>
                <a:ea typeface="Inter"/>
                <a:cs typeface="Inter"/>
              </a:defRPr>
            </a:pPr>
            <a:r>
              <a:rPr sz="1200" b="1">
                <a:solidFill>
                  <a:srgbClr val="6CD8C9"/>
                </a:solidFill>
                <a:latin typeface="Inter"/>
                <a:ea typeface="Inter"/>
                <a:cs typeface="Inter"/>
              </a:rPr>
              <a:t>OPTIONAL NZISM APPENDIX</a:t>
            </a:r>
          </a:p>
        </p:txBody>
      </p:sp>
      <p:sp>
        <p:nvSpPr>
          <p:cNvPr id="3" name="page">
            <a:extLst xmlns:a="http://schemas.openxmlformats.org/drawingml/2006/main">
              <a:ext uri="{FF2B5EF4-FFF2-40B4-BE49-F238E27FC236}">
                <a16:creationId xmlns:a16="http://schemas.microsoft.com/office/drawing/2014/main" id="{B343B507-C2A7-4355-AE30-B59D00E58172}"/>
              </a:ext>
            </a:extLst>
          </p:cNvPr>
          <p:cNvSpPr>
            <a:spLocks xmlns:a="http://schemas.openxmlformats.org/drawingml/2006/main" noGrp="1"/>
          </p:cNvSpPr>
          <p:nvPr/>
        </p:nvSpPr>
        <p:spPr>
          <a:xfrm xmlns:a="http://schemas.openxmlformats.org/drawingml/2006/main">
            <a:off x="10934700" y="6429375"/>
            <a:ext cx="5715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A9BBB7"/>
                </a:solidFill>
                <a:latin typeface="Inter"/>
                <a:ea typeface="Inter"/>
                <a:cs typeface="Inter"/>
              </a:defRPr>
            </a:defPPr>
          </a:lstStyle>
          <a:p xmlns:a="http://schemas.openxmlformats.org/drawingml/2006/main">
            <a:pPr algn="r">
              <a:defRPr sz="1200" b="0">
                <a:solidFill>
                  <a:srgbClr val="A9BBB7"/>
                </a:solidFill>
                <a:latin typeface="Inter"/>
                <a:ea typeface="Inter"/>
                <a:cs typeface="Inter"/>
              </a:defRPr>
            </a:pPr>
            <a:r>
              <a:rPr sz="1200" b="0">
                <a:solidFill>
                  <a:srgbClr val="A9BBB7"/>
                </a:solidFill>
                <a:latin typeface="Inter"/>
                <a:ea typeface="Inter"/>
                <a:cs typeface="Inter"/>
              </a:rPr>
              <a:t>22</a:t>
            </a:r>
          </a:p>
        </p:txBody>
      </p:sp>
      <p:sp>
        <p:nvSpPr>
          <p:cNvPr id="4" name="appendix-title">
            <a:extLst xmlns:a="http://schemas.openxmlformats.org/drawingml/2006/main">
              <a:ext uri="{FF2B5EF4-FFF2-40B4-BE49-F238E27FC236}">
                <a16:creationId xmlns:a16="http://schemas.microsoft.com/office/drawing/2014/main" id="{B38ED836-3F41-4E5B-8FED-D9AAFE79591C}"/>
              </a:ext>
            </a:extLst>
          </p:cNvPr>
          <p:cNvSpPr>
            <a:spLocks xmlns:a="http://schemas.openxmlformats.org/drawingml/2006/main" noGrp="1"/>
          </p:cNvSpPr>
          <p:nvPr/>
        </p:nvSpPr>
        <p:spPr>
          <a:xfrm xmlns:a="http://schemas.openxmlformats.org/drawingml/2006/main">
            <a:off x="685800" y="1047750"/>
            <a:ext cx="108204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525" b="1">
                <a:solidFill>
                  <a:srgbClr val="F6FAF9"/>
                </a:solidFill>
                <a:latin typeface="Inter"/>
                <a:ea typeface="Inter"/>
                <a:cs typeface="Inter"/>
              </a:defRPr>
            </a:defPPr>
          </a:lstStyle>
          <a:p xmlns:a="http://schemas.openxmlformats.org/drawingml/2006/main">
            <a:pPr>
              <a:defRPr sz="3525" b="1">
                <a:solidFill>
                  <a:srgbClr val="F6FAF9"/>
                </a:solidFill>
                <a:latin typeface="Inter"/>
                <a:ea typeface="Inter"/>
                <a:cs typeface="Inter"/>
              </a:defRPr>
            </a:pPr>
            <a:r>
              <a:rPr sz="3525" b="1">
                <a:solidFill>
                  <a:srgbClr val="F6FAF9"/>
                </a:solidFill>
                <a:latin typeface="Inter"/>
                <a:ea typeface="Inter"/>
                <a:cs typeface="Inter"/>
              </a:rPr>
              <a:t>NZISM starting-point references</a:t>
            </a:r>
          </a:p>
        </p:txBody>
      </p:sp>
      <p:sp>
        <p:nvSpPr>
          <p:cNvPr id="5" name="appendix-range">
            <a:extLst xmlns:a="http://schemas.openxmlformats.org/drawingml/2006/main">
              <a:ext uri="{FF2B5EF4-FFF2-40B4-BE49-F238E27FC236}">
                <a16:creationId xmlns:a16="http://schemas.microsoft.com/office/drawing/2014/main" id="{740BCDB3-A38D-4C41-AB99-818494021369}"/>
              </a:ext>
            </a:extLst>
          </p:cNvPr>
          <p:cNvSpPr>
            <a:spLocks xmlns:a="http://schemas.openxmlformats.org/drawingml/2006/main" noGrp="1"/>
          </p:cNvSpPr>
          <p:nvPr/>
        </p:nvSpPr>
        <p:spPr>
          <a:xfrm xmlns:a="http://schemas.openxmlformats.org/drawingml/2006/main">
            <a:off x="685800" y="1752600"/>
            <a:ext cx="108204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75" b="0">
                <a:solidFill>
                  <a:srgbClr val="D7E2DF"/>
                </a:solidFill>
                <a:latin typeface="Inter"/>
                <a:ea typeface="Inter"/>
                <a:cs typeface="Inter"/>
              </a:defRPr>
            </a:defPPr>
          </a:lstStyle>
          <a:p xmlns:a="http://schemas.openxmlformats.org/drawingml/2006/main">
            <a:pPr>
              <a:defRPr sz="1875" b="0">
                <a:solidFill>
                  <a:srgbClr val="D7E2DF"/>
                </a:solidFill>
                <a:latin typeface="Inter"/>
                <a:ea typeface="Inter"/>
                <a:cs typeface="Inter"/>
              </a:defRPr>
            </a:pPr>
            <a:r>
              <a:rPr sz="1875" b="0">
                <a:solidFill>
                  <a:srgbClr val="D7E2DF"/>
                </a:solidFill>
                <a:latin typeface="Inter"/>
                <a:ea typeface="Inter"/>
                <a:cs typeface="Inter"/>
              </a:rPr>
              <a:t>Questions 1–4. Selected references and gaps for further review.</a:t>
            </a:r>
          </a:p>
        </p:txBody>
      </p:sp>
      <p:graphicFrame>
        <p:nvGraphicFramePr>
          <p:cNvPr id="6" name="">
            <a:extLst xmlns:a="http://schemas.openxmlformats.org/drawingml/2006/main">
              <a:ext uri="{FF2B5EF4-FFF2-40B4-BE49-F238E27FC236}">
                <a16:creationId xmlns:a16="http://schemas.microsoft.com/office/drawing/2014/main" id="{6C451CEE-C77F-43A4-8E79-60F09A15D856}"/>
              </a:ext>
            </a:extLst>
          </p:cNvPr>
          <p:cNvGraphicFramePr/>
          <p:nvPr/>
        </p:nvGraphicFramePr>
        <p:xfrm>
          <a:off xmlns:a="http://schemas.openxmlformats.org/drawingml/2006/main" x="685800" y="2390775"/>
          <a:ext xmlns:a="http://schemas.openxmlformats.org/drawingml/2006/main" cx="10820400" cy="3486150"/>
        </p:xfrm>
        <a:graphic xmlns:a="http://schemas.openxmlformats.org/drawingml/2006/main">
          <a:graphicData uri="http://schemas.openxmlformats.org/drawingml/2006/table">
            <a:tbl>
              <a:tblPr firstRow="0" firstCol="0" lastRow="0" lastCol="0" bandRow="0" bandCol="0"/>
              <a:tblGrid>
                <a:gridCol w="2333625"/>
                <a:gridCol w="3190875"/>
                <a:gridCol w="5295900"/>
              </a:tblGrid>
              <a:tr h="409575">
                <a:tc>
                  <a:txBody>
                    <a:bodyPr wrap="square" lIns="85725" tIns="85725" rIns="85725" bIns="85725">
                      <a:noAutofit/>
                    </a:bodyPr>
                    <a:lstStyle/>
                    <a:p>
                      <a:r>
                        <a:rPr sz="1650" b="1">
                          <a:solidFill>
                            <a:srgbClr val="6CD8C9"/>
                          </a:solidFill>
                          <a:latin typeface="Inter"/>
                          <a:ea typeface="Inter"/>
                          <a:cs typeface="Inter"/>
                        </a:rPr>
                        <a:t>Question topic</a:t>
                      </a:r>
                    </a:p>
                  </a:txBody>
                  <a:tcPr marL="91440" marR="91440" marT="45720" marB="45720" anchor="t">
                    <a:lnL w="7620">
                      <a:solidFill>
                        <a:srgbClr val="2A3B38"/>
                      </a:solidFill>
                      <a:prstDash val="solid"/>
                    </a:lnL>
                    <a:lnR w="7620">
                      <a:solidFill>
                        <a:srgbClr val="2A3B38"/>
                      </a:solidFill>
                      <a:prstDash val="solid"/>
                    </a:lnR>
                    <a:lnT w="7620">
                      <a:solidFill>
                        <a:srgbClr val="2A3B38"/>
                      </a:solidFill>
                      <a:prstDash val="solid"/>
                    </a:lnT>
                    <a:lnB w="7620">
                      <a:solidFill>
                        <a:srgbClr val="2A3B38"/>
                      </a:solidFill>
                      <a:prstDash val="solid"/>
                    </a:lnB>
                    <a:solidFill>
                      <a:srgbClr val="08100F"/>
                    </a:solidFill>
                  </a:tcPr>
                </a:tc>
                <a:tc>
                  <a:txBody>
                    <a:bodyPr wrap="square" lIns="85725" tIns="85725" rIns="85725" bIns="85725">
                      <a:noAutofit/>
                    </a:bodyPr>
                    <a:lstStyle/>
                    <a:p>
                      <a:r>
                        <a:rPr sz="1650" b="1">
                          <a:solidFill>
                            <a:srgbClr val="6CD8C9"/>
                          </a:solidFill>
                          <a:latin typeface="Inter"/>
                          <a:ea typeface="Inter"/>
                          <a:cs typeface="Inter"/>
                        </a:rPr>
                        <a:t>Selected references</a:t>
                      </a:r>
                    </a:p>
                  </a:txBody>
                  <a:tcPr marL="91440" marR="91440" marT="45720" marB="45720" anchor="t">
                    <a:lnR w="7620">
                      <a:solidFill>
                        <a:srgbClr val="2A3B38"/>
                      </a:solidFill>
                      <a:prstDash val="solid"/>
                    </a:lnR>
                    <a:lnT w="7620">
                      <a:solidFill>
                        <a:srgbClr val="2A3B38"/>
                      </a:solidFill>
                      <a:prstDash val="solid"/>
                    </a:lnT>
                    <a:lnB w="7620">
                      <a:solidFill>
                        <a:srgbClr val="2A3B38"/>
                      </a:solidFill>
                      <a:prstDash val="solid"/>
                    </a:lnB>
                    <a:solidFill>
                      <a:srgbClr val="08100F"/>
                    </a:solidFill>
                  </a:tcPr>
                </a:tc>
                <a:tc>
                  <a:txBody>
                    <a:bodyPr wrap="square" lIns="85725" tIns="85725" rIns="85725" bIns="85725">
                      <a:noAutofit/>
                    </a:bodyPr>
                    <a:lstStyle/>
                    <a:p>
                      <a:r>
                        <a:rPr sz="1650" b="1">
                          <a:solidFill>
                            <a:srgbClr val="6CD8C9"/>
                          </a:solidFill>
                          <a:latin typeface="Inter"/>
                          <a:ea typeface="Inter"/>
                          <a:cs typeface="Inter"/>
                        </a:rPr>
                        <a:t>Further checks</a:t>
                      </a:r>
                    </a:p>
                  </a:txBody>
                  <a:tcPr marL="91440" marR="91440" marT="45720" marB="45720" anchor="t">
                    <a:lnR w="7620">
                      <a:solidFill>
                        <a:srgbClr val="2A3B38"/>
                      </a:solidFill>
                      <a:prstDash val="solid"/>
                    </a:lnR>
                    <a:lnT w="7620">
                      <a:solidFill>
                        <a:srgbClr val="2A3B38"/>
                      </a:solidFill>
                      <a:prstDash val="solid"/>
                    </a:lnT>
                    <a:lnB w="7620">
                      <a:solidFill>
                        <a:srgbClr val="2A3B38"/>
                      </a:solidFill>
                      <a:prstDash val="solid"/>
                    </a:lnB>
                    <a:solidFill>
                      <a:srgbClr val="08100F"/>
                    </a:solidFill>
                  </a:tcPr>
                </a:tc>
              </a:tr>
              <a:tr h="769144">
                <a:tc>
                  <a:txBody>
                    <a:bodyPr wrap="square" lIns="85725" tIns="85725" rIns="85725" bIns="85725">
                      <a:noAutofit/>
                    </a:bodyPr>
                    <a:lstStyle/>
                    <a:p>
                      <a:r>
                        <a:rPr sz="1575" b="0">
                          <a:solidFill>
                            <a:srgbClr val="D7E2DF"/>
                          </a:solidFill>
                          <a:latin typeface="Inter"/>
                          <a:ea typeface="Inter"/>
                          <a:cs typeface="Inter"/>
                        </a:rPr>
                        <a:t>Q1 Risk management</a:t>
                      </a:r>
                    </a:p>
                  </a:txBody>
                  <a:tcPr marL="91440" marR="91440" marT="45720" marB="45720" anchor="t">
                    <a:lnL w="7620">
                      <a:solidFill>
                        <a:srgbClr val="2A3B38"/>
                      </a:solidFill>
                      <a:prstDash val="solid"/>
                    </a:lnL>
                    <a:lnR w="7620">
                      <a:solidFill>
                        <a:srgbClr val="2A3B38"/>
                      </a:solidFill>
                      <a:prstDash val="solid"/>
                    </a:lnR>
                    <a:lnB w="7620">
                      <a:solidFill>
                        <a:srgbClr val="2A3B38"/>
                      </a:solidFill>
                      <a:prstDash val="solid"/>
                    </a:lnB>
                    <a:solidFill>
                      <a:srgbClr val="08100F"/>
                    </a:solidFill>
                  </a:tcPr>
                </a:tc>
                <a:tc>
                  <a:txBody>
                    <a:bodyPr wrap="square" lIns="85725" tIns="85725" rIns="85725" bIns="85725">
                      <a:noAutofit/>
                    </a:bodyPr>
                    <a:lstStyle/>
                    <a:p>
                      <a:r>
                        <a:rPr sz="1575" b="0">
                          <a:solidFill>
                            <a:srgbClr val="D7E2DF"/>
                          </a:solidFill>
                          <a:latin typeface="Inter"/>
                          <a:ea typeface="Inter"/>
                          <a:cs typeface="Inter"/>
                        </a:rPr>
                        <a:t>5.3.7.C.01; 5.3.8.C.01</a:t>
                      </a:r>
                    </a:p>
                    <a:p>
                      <a:r>
                        <a:rPr sz="1575" b="0">
                          <a:solidFill>
                            <a:srgbClr val="D7E2DF"/>
                          </a:solidFill>
                          <a:latin typeface="Inter"/>
                          <a:ea typeface="Inter"/>
                          <a:cs typeface="Inter"/>
                        </a:rPr>
                        <a:t>CIDs 805, 808</a:t>
                      </a:r>
                    </a:p>
                  </a:txBody>
                  <a:tcPr marL="91440" marR="91440" marT="45720" marB="45720" anchor="t">
                    <a:lnR w="7620">
                      <a:solidFill>
                        <a:srgbClr val="2A3B38"/>
                      </a:solidFill>
                      <a:prstDash val="solid"/>
                    </a:lnR>
                    <a:lnB w="7620">
                      <a:solidFill>
                        <a:srgbClr val="2A3B38"/>
                      </a:solidFill>
                      <a:prstDash val="solid"/>
                    </a:lnB>
                    <a:solidFill>
                      <a:srgbClr val="08100F"/>
                    </a:solidFill>
                  </a:tcPr>
                </a:tc>
                <a:tc>
                  <a:txBody>
                    <a:bodyPr wrap="square" lIns="85725" tIns="85725" rIns="85725" bIns="85725">
                      <a:noAutofit/>
                    </a:bodyPr>
                    <a:lstStyle/>
                    <a:p>
                      <a:r>
                        <a:rPr sz="1575" b="0">
                          <a:solidFill>
                            <a:srgbClr val="D7E2DF"/>
                          </a:solidFill>
                          <a:latin typeface="Inter"/>
                          <a:ea typeface="Inter"/>
                          <a:cs typeface="Inter"/>
                        </a:rPr>
                        <a:t>System-specific risk, treatment decisions and residual-risk approval still need review.</a:t>
                      </a:r>
                    </a:p>
                  </a:txBody>
                  <a:tcPr marL="91440" marR="91440" marT="45720" marB="45720" anchor="t">
                    <a:lnR w="7620">
                      <a:solidFill>
                        <a:srgbClr val="2A3B38"/>
                      </a:solidFill>
                      <a:prstDash val="solid"/>
                    </a:lnR>
                    <a:lnB w="7620">
                      <a:solidFill>
                        <a:srgbClr val="2A3B38"/>
                      </a:solidFill>
                      <a:prstDash val="solid"/>
                    </a:lnB>
                    <a:solidFill>
                      <a:srgbClr val="08100F"/>
                    </a:solidFill>
                  </a:tcPr>
                </a:tc>
              </a:tr>
              <a:tr h="769144">
                <a:tc>
                  <a:txBody>
                    <a:bodyPr wrap="square" lIns="85725" tIns="85725" rIns="85725" bIns="85725">
                      <a:noAutofit/>
                    </a:bodyPr>
                    <a:lstStyle/>
                    <a:p>
                      <a:r>
                        <a:rPr sz="1575" b="0">
                          <a:solidFill>
                            <a:srgbClr val="D7E2DF"/>
                          </a:solidFill>
                          <a:latin typeface="Inter"/>
                          <a:ea typeface="Inter"/>
                          <a:cs typeface="Inter"/>
                        </a:rPr>
                        <a:t>Q2 Security awareness</a:t>
                      </a:r>
                    </a:p>
                  </a:txBody>
                  <a:tcPr marL="91440" marR="91440" marT="45720" marB="45720" anchor="t">
                    <a:lnL w="7620">
                      <a:solidFill>
                        <a:srgbClr val="2A3B38"/>
                      </a:solidFill>
                      <a:prstDash val="solid"/>
                    </a:lnL>
                    <a:lnR w="7620">
                      <a:solidFill>
                        <a:srgbClr val="2A3B38"/>
                      </a:solidFill>
                      <a:prstDash val="solid"/>
                    </a:lnR>
                    <a:lnB w="7620">
                      <a:solidFill>
                        <a:srgbClr val="2A3B38"/>
                      </a:solidFill>
                      <a:prstDash val="solid"/>
                    </a:lnB>
                    <a:solidFill>
                      <a:srgbClr val="08100F"/>
                    </a:solidFill>
                  </a:tcPr>
                </a:tc>
                <a:tc>
                  <a:txBody>
                    <a:bodyPr wrap="square" lIns="85725" tIns="85725" rIns="85725" bIns="85725">
                      <a:noAutofit/>
                    </a:bodyPr>
                    <a:lstStyle/>
                    <a:p>
                      <a:r>
                        <a:rPr sz="1575" b="0">
                          <a:solidFill>
                            <a:srgbClr val="D7E2DF"/>
                          </a:solidFill>
                          <a:latin typeface="Inter"/>
                          <a:ea typeface="Inter"/>
                          <a:cs typeface="Inter"/>
                        </a:rPr>
                        <a:t>9.1.5.C.01–02; 9.1.6.C.01</a:t>
                      </a:r>
                    </a:p>
                    <a:p>
                      <a:r>
                        <a:rPr sz="1575" b="0">
                          <a:solidFill>
                            <a:srgbClr val="D7E2DF"/>
                          </a:solidFill>
                          <a:latin typeface="Inter"/>
                          <a:ea typeface="Inter"/>
                          <a:cs typeface="Inter"/>
                        </a:rPr>
                        <a:t>CIDs 1452, 1453, 1457</a:t>
                      </a:r>
                    </a:p>
                  </a:txBody>
                  <a:tcPr marL="91440" marR="91440" marT="45720" marB="45720" anchor="t">
                    <a:lnR w="7620">
                      <a:solidFill>
                        <a:srgbClr val="2A3B38"/>
                      </a:solidFill>
                      <a:prstDash val="solid"/>
                    </a:lnR>
                    <a:lnB w="7620">
                      <a:solidFill>
                        <a:srgbClr val="2A3B38"/>
                      </a:solidFill>
                      <a:prstDash val="solid"/>
                    </a:lnB>
                    <a:solidFill>
                      <a:srgbClr val="08100F"/>
                    </a:solidFill>
                  </a:tcPr>
                </a:tc>
                <a:tc>
                  <a:txBody>
                    <a:bodyPr wrap="square" lIns="85725" tIns="85725" rIns="85725" bIns="85725">
                      <a:noAutofit/>
                    </a:bodyPr>
                    <a:lstStyle/>
                    <a:p>
                      <a:r>
                        <a:rPr sz="1575" b="0">
                          <a:solidFill>
                            <a:srgbClr val="D7E2DF"/>
                          </a:solidFill>
                          <a:latin typeface="Inter"/>
                          <a:ea typeface="Inter"/>
                          <a:cs typeface="Inter"/>
                        </a:rPr>
                        <a:t>Check required subjects, role coverage and effective behaviour beyond course completion.</a:t>
                      </a:r>
                    </a:p>
                  </a:txBody>
                  <a:tcPr marL="91440" marR="91440" marT="45720" marB="45720" anchor="t">
                    <a:lnR w="7620">
                      <a:solidFill>
                        <a:srgbClr val="2A3B38"/>
                      </a:solidFill>
                      <a:prstDash val="solid"/>
                    </a:lnR>
                    <a:lnB w="7620">
                      <a:solidFill>
                        <a:srgbClr val="2A3B38"/>
                      </a:solidFill>
                      <a:prstDash val="solid"/>
                    </a:lnB>
                    <a:solidFill>
                      <a:srgbClr val="08100F"/>
                    </a:solidFill>
                  </a:tcPr>
                </a:tc>
              </a:tr>
              <a:tr h="769144">
                <a:tc>
                  <a:txBody>
                    <a:bodyPr wrap="square" lIns="85725" tIns="85725" rIns="85725" bIns="85725">
                      <a:noAutofit/>
                    </a:bodyPr>
                    <a:lstStyle/>
                    <a:p>
                      <a:r>
                        <a:rPr sz="1575" b="0">
                          <a:solidFill>
                            <a:srgbClr val="D7E2DF"/>
                          </a:solidFill>
                          <a:latin typeface="Inter"/>
                          <a:ea typeface="Inter"/>
                          <a:cs typeface="Inter"/>
                        </a:rPr>
                        <a:t>Q3 Assets and importance</a:t>
                      </a:r>
                    </a:p>
                  </a:txBody>
                  <a:tcPr marL="91440" marR="91440" marT="45720" marB="45720" anchor="t">
                    <a:lnL w="7620">
                      <a:solidFill>
                        <a:srgbClr val="2A3B38"/>
                      </a:solidFill>
                      <a:prstDash val="solid"/>
                    </a:lnL>
                    <a:lnR w="7620">
                      <a:solidFill>
                        <a:srgbClr val="2A3B38"/>
                      </a:solidFill>
                      <a:prstDash val="solid"/>
                    </a:lnR>
                    <a:lnB w="7620">
                      <a:solidFill>
                        <a:srgbClr val="2A3B38"/>
                      </a:solidFill>
                      <a:prstDash val="solid"/>
                    </a:lnB>
                    <a:solidFill>
                      <a:srgbClr val="08100F"/>
                    </a:solidFill>
                  </a:tcPr>
                </a:tc>
                <a:tc>
                  <a:txBody>
                    <a:bodyPr wrap="square" lIns="85725" tIns="85725" rIns="85725" bIns="85725">
                      <a:noAutofit/>
                    </a:bodyPr>
                    <a:lstStyle/>
                    <a:p>
                      <a:r>
                        <a:rPr sz="1575" b="0">
                          <a:solidFill>
                            <a:srgbClr val="D7E2DF"/>
                          </a:solidFill>
                          <a:latin typeface="Inter"/>
                          <a:ea typeface="Inter"/>
                          <a:cs typeface="Inter"/>
                        </a:rPr>
                        <a:t>3.4.10.C.01; 13.1.9.C.01</a:t>
                      </a:r>
                    </a:p>
                    <a:p>
                      <a:r>
                        <a:rPr sz="1575" b="0">
                          <a:solidFill>
                            <a:srgbClr val="D7E2DF"/>
                          </a:solidFill>
                          <a:latin typeface="Inter"/>
                          <a:ea typeface="Inter"/>
                          <a:cs typeface="Inter"/>
                        </a:rPr>
                        <a:t>CIDs 442, 3829</a:t>
                      </a:r>
                    </a:p>
                  </a:txBody>
                  <a:tcPr marL="91440" marR="91440" marT="45720" marB="45720" anchor="t">
                    <a:lnR w="7620">
                      <a:solidFill>
                        <a:srgbClr val="2A3B38"/>
                      </a:solidFill>
                      <a:prstDash val="solid"/>
                    </a:lnR>
                    <a:lnB w="7620">
                      <a:solidFill>
                        <a:srgbClr val="2A3B38"/>
                      </a:solidFill>
                      <a:prstDash val="solid"/>
                    </a:lnB>
                    <a:solidFill>
                      <a:srgbClr val="08100F"/>
                    </a:solidFill>
                  </a:tcPr>
                </a:tc>
                <a:tc>
                  <a:txBody>
                    <a:bodyPr wrap="square" lIns="85725" tIns="85725" rIns="85725" bIns="85725">
                      <a:noAutofit/>
                    </a:bodyPr>
                    <a:lstStyle/>
                    <a:p>
                      <a:r>
                        <a:rPr sz="1575" b="0">
                          <a:solidFill>
                            <a:srgbClr val="D7E2DF"/>
                          </a:solidFill>
                          <a:latin typeface="Inter"/>
                          <a:ea typeface="Inter"/>
                          <a:cs typeface="Inter"/>
                        </a:rPr>
                        <a:t>An inventory does not establish secure procurement, classification, handling or disposal.</a:t>
                      </a:r>
                    </a:p>
                  </a:txBody>
                  <a:tcPr marL="91440" marR="91440" marT="45720" marB="45720" anchor="t">
                    <a:lnR w="7620">
                      <a:solidFill>
                        <a:srgbClr val="2A3B38"/>
                      </a:solidFill>
                      <a:prstDash val="solid"/>
                    </a:lnR>
                    <a:lnB w="7620">
                      <a:solidFill>
                        <a:srgbClr val="2A3B38"/>
                      </a:solidFill>
                      <a:prstDash val="solid"/>
                    </a:lnB>
                    <a:solidFill>
                      <a:srgbClr val="08100F"/>
                    </a:solidFill>
                  </a:tcPr>
                </a:tc>
              </a:tr>
              <a:tr h="769144">
                <a:tc>
                  <a:txBody>
                    <a:bodyPr wrap="square" lIns="85725" tIns="85725" rIns="85725" bIns="85725">
                      <a:noAutofit/>
                    </a:bodyPr>
                    <a:lstStyle/>
                    <a:p>
                      <a:r>
                        <a:rPr sz="1575" b="0">
                          <a:solidFill>
                            <a:srgbClr val="D7E2DF"/>
                          </a:solidFill>
                          <a:latin typeface="Inter"/>
                          <a:ea typeface="Inter"/>
                          <a:cs typeface="Inter"/>
                        </a:rPr>
                        <a:t>Q4 Secure configuration</a:t>
                      </a:r>
                    </a:p>
                  </a:txBody>
                  <a:tcPr marL="91440" marR="91440" marT="45720" marB="45720" anchor="t">
                    <a:lnL w="7620">
                      <a:solidFill>
                        <a:srgbClr val="2A3B38"/>
                      </a:solidFill>
                      <a:prstDash val="solid"/>
                    </a:lnL>
                    <a:lnR w="7620">
                      <a:solidFill>
                        <a:srgbClr val="2A3B38"/>
                      </a:solidFill>
                      <a:prstDash val="solid"/>
                    </a:lnR>
                    <a:lnB w="7620">
                      <a:solidFill>
                        <a:srgbClr val="2A3B38"/>
                      </a:solidFill>
                      <a:prstDash val="solid"/>
                    </a:lnB>
                    <a:solidFill>
                      <a:srgbClr val="08100F"/>
                    </a:solidFill>
                  </a:tcPr>
                </a:tc>
                <a:tc>
                  <a:txBody>
                    <a:bodyPr wrap="square" lIns="85725" tIns="85725" rIns="85725" bIns="85725">
                      <a:noAutofit/>
                    </a:bodyPr>
                    <a:lstStyle/>
                    <a:p>
                      <a:r>
                        <a:rPr sz="1575" b="0">
                          <a:solidFill>
                            <a:srgbClr val="D7E2DF"/>
                          </a:solidFill>
                          <a:latin typeface="Inter"/>
                          <a:ea typeface="Inter"/>
                          <a:cs typeface="Inter"/>
                        </a:rPr>
                        <a:t>14.1.9.C.01</a:t>
                      </a:r>
                    </a:p>
                    <a:p>
                      <a:r>
                        <a:rPr sz="1575" b="0">
                          <a:solidFill>
                            <a:srgbClr val="D7E2DF"/>
                          </a:solidFill>
                          <a:latin typeface="Inter"/>
                          <a:ea typeface="Inter"/>
                          <a:cs typeface="Inter"/>
                        </a:rPr>
                        <a:t>CID 1158</a:t>
                      </a:r>
                    </a:p>
                  </a:txBody>
                  <a:tcPr marL="91440" marR="91440" marT="45720" marB="45720" anchor="t">
                    <a:lnR w="7620">
                      <a:solidFill>
                        <a:srgbClr val="2A3B38"/>
                      </a:solidFill>
                      <a:prstDash val="solid"/>
                    </a:lnR>
                    <a:lnB w="7620">
                      <a:solidFill>
                        <a:srgbClr val="2A3B38"/>
                      </a:solidFill>
                      <a:prstDash val="solid"/>
                    </a:lnB>
                    <a:solidFill>
                      <a:srgbClr val="08100F"/>
                    </a:solidFill>
                  </a:tcPr>
                </a:tc>
                <a:tc>
                  <a:txBody>
                    <a:bodyPr wrap="square" lIns="85725" tIns="85725" rIns="85725" bIns="85725">
                      <a:noAutofit/>
                    </a:bodyPr>
                    <a:lstStyle/>
                    <a:p>
                      <a:r>
                        <a:rPr sz="1575" b="0">
                          <a:solidFill>
                            <a:srgbClr val="D7E2DF"/>
                          </a:solidFill>
                          <a:latin typeface="Inter"/>
                          <a:ea typeface="Inter"/>
                          <a:cs typeface="Inter"/>
                        </a:rPr>
                        <a:t>Detailed platform, application, cloud, network and cryptographic settings need checking.</a:t>
                      </a:r>
                    </a:p>
                  </a:txBody>
                  <a:tcPr marL="91440" marR="91440" marT="45720" marB="45720" anchor="t">
                    <a:lnR w="7620">
                      <a:solidFill>
                        <a:srgbClr val="2A3B38"/>
                      </a:solidFill>
                      <a:prstDash val="solid"/>
                    </a:lnR>
                    <a:lnB w="7620">
                      <a:solidFill>
                        <a:srgbClr val="2A3B38"/>
                      </a:solidFill>
                      <a:prstDash val="solid"/>
                    </a:lnB>
                    <a:solidFill>
                      <a:srgbClr val="08100F"/>
                    </a:solidFill>
                  </a:tcPr>
                </a:tc>
              </a:tr>
            </a:tbl>
          </a:graphicData>
        </a:graphic>
      </p:graphicFrame>
      <p:sp>
        <p:nvSpPr>
          <p:cNvPr id="7" name="appendix-qualifier">
            <a:extLst xmlns:a="http://schemas.openxmlformats.org/drawingml/2006/main">
              <a:ext uri="{FF2B5EF4-FFF2-40B4-BE49-F238E27FC236}">
                <a16:creationId xmlns:a16="http://schemas.microsoft.com/office/drawing/2014/main" id="{EA9F8CC4-997D-4122-98F4-776E5309B6BE}"/>
              </a:ext>
            </a:extLst>
          </p:cNvPr>
          <p:cNvSpPr>
            <a:spLocks xmlns:a="http://schemas.openxmlformats.org/drawingml/2006/main" noGrp="1"/>
          </p:cNvSpPr>
          <p:nvPr/>
        </p:nvSpPr>
        <p:spPr>
          <a:xfrm xmlns:a="http://schemas.openxmlformats.org/drawingml/2006/main">
            <a:off x="685800" y="6105525"/>
            <a:ext cx="10334625"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350" b="0">
                <a:solidFill>
                  <a:srgbClr val="FFD400"/>
                </a:solidFill>
                <a:latin typeface="Inter"/>
                <a:ea typeface="Inter"/>
                <a:cs typeface="Inter"/>
              </a:defRPr>
            </a:defPPr>
          </a:lstStyle>
          <a:p xmlns:a="http://schemas.openxmlformats.org/drawingml/2006/main">
            <a:pPr>
              <a:defRPr sz="1350" b="0">
                <a:solidFill>
                  <a:srgbClr val="FFD400"/>
                </a:solidFill>
                <a:latin typeface="Inter"/>
                <a:ea typeface="Inter"/>
                <a:cs typeface="Inter"/>
              </a:defRPr>
            </a:pPr>
            <a:r>
              <a:rPr sz="1350" b="0">
                <a:solidFill>
                  <a:srgbClr val="FFD400"/>
                </a:solidFill>
                <a:latin typeface="Inter"/>
                <a:ea typeface="Inter"/>
                <a:cs typeface="Inter"/>
              </a:rPr>
              <a:t>No Fries topic mapping only. Confirm applicability and control wording in a separate assessment.</a:t>
            </a:r>
          </a:p>
        </p:txBody>
      </p:sp>
      <p:sp>
        <p:nvSpPr>
          <p:cNvPr id="8" name="appendix-version">
            <a:extLst xmlns:a="http://schemas.openxmlformats.org/drawingml/2006/main">
              <a:ext uri="{FF2B5EF4-FFF2-40B4-BE49-F238E27FC236}">
                <a16:creationId xmlns:a16="http://schemas.microsoft.com/office/drawing/2014/main" id="{EE8AEBAE-5D03-4E8A-A939-EA58F5617B32}"/>
              </a:ext>
            </a:extLst>
          </p:cNvPr>
          <p:cNvSpPr>
            <a:spLocks xmlns:a="http://schemas.openxmlformats.org/drawingml/2006/main" noGrp="1"/>
          </p:cNvSpPr>
          <p:nvPr/>
        </p:nvSpPr>
        <p:spPr>
          <a:xfrm xmlns:a="http://schemas.openxmlformats.org/drawingml/2006/main">
            <a:off x="685800" y="6429375"/>
            <a:ext cx="99060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125" b="0">
                <a:solidFill>
                  <a:srgbClr val="A9BBB7"/>
                </a:solidFill>
                <a:latin typeface="Inter"/>
                <a:ea typeface="Inter"/>
                <a:cs typeface="Inter"/>
              </a:defRPr>
            </a:defPPr>
          </a:lstStyle>
          <a:p xmlns:a="http://schemas.openxmlformats.org/drawingml/2006/main">
            <a:pPr>
              <a:defRPr sz="1125" b="0">
                <a:solidFill>
                  <a:srgbClr val="A9BBB7"/>
                </a:solidFill>
                <a:latin typeface="Inter"/>
                <a:ea typeface="Inter"/>
                <a:cs typeface="Inter"/>
              </a:defRPr>
            </a:pPr>
            <a:r>
              <a:rPr sz="1125" b="0">
                <a:solidFill>
                  <a:srgbClr val="A9BBB7"/>
                </a:solidFill>
                <a:latin typeface="Inter"/>
                <a:ea typeface="Inter"/>
                <a:cs typeface="Inter"/>
              </a:rPr>
              <a:t>NZISM v3.9, current online edition, updated November 2025. Checked 19 October 2026.</a:t>
            </a:r>
          </a:p>
        </p:txBody>
      </p:sp>
    </p:spTree>
    <p:extLst>
      <p:ext uri="{BB962C8B-B14F-4D97-AF65-F5344CB8AC3E}">
        <p14:creationId xmlns:p14="http://schemas.microsoft.com/office/powerpoint/2010/main" val="109804460"/>
      </p:ext>
    </p:extLst>
  </p:cSld>
</p:sld>
</file>

<file path=ppt/slides/slide23.xml><?xml version="1.0" encoding="utf-8"?>
<p:sld xmlns:p="http://schemas.openxmlformats.org/presentationml/2006/main">
  <p:cSld>
    <p:bg>
      <p:bgPr>
        <a:solidFill xmlns:a="http://schemas.openxmlformats.org/drawingml/2006/main">
          <a:srgbClr val="08100F"/>
        </a:solidFill>
      </p:bgPr>
    </p:bg>
    <p:spTree>
      <p:nvGrpSpPr>
        <p:cNvPr id="1" name=""/>
        <p:cNvGrpSpPr/>
        <p:nvPr/>
      </p:nvGrpSpPr>
      <p:grpSpPr>
        <a:xfrm xmlns:a="http://schemas.openxmlformats.org/drawingml/2006/main"/>
      </p:grpSpPr>
      <p:sp>
        <p:nvSpPr>
          <p:cNvPr id="9" name="brand">
            <a:extLst xmlns:a="http://schemas.openxmlformats.org/drawingml/2006/main">
              <a:ext uri="{FF2B5EF4-FFF2-40B4-BE49-F238E27FC236}">
                <a16:creationId xmlns:a16="http://schemas.microsoft.com/office/drawing/2014/main" id="{8702DCE3-66D6-46E0-9121-ACAA3B00DB3F}"/>
              </a:ext>
            </a:extLst>
          </p:cNvPr>
          <p:cNvSpPr>
            <a:spLocks xmlns:a="http://schemas.openxmlformats.org/drawingml/2006/main" noGrp="1"/>
          </p:cNvSpPr>
          <p:nvPr/>
        </p:nvSpPr>
        <p:spPr>
          <a:xfrm xmlns:a="http://schemas.openxmlformats.org/drawingml/2006/main">
            <a:off x="685800" y="323850"/>
            <a:ext cx="2952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00" b="1">
                <a:solidFill>
                  <a:srgbClr val="F6FAF9"/>
                </a:solidFill>
                <a:latin typeface="Inter"/>
                <a:ea typeface="Inter"/>
                <a:cs typeface="Inter"/>
              </a:defRPr>
            </a:defPPr>
          </a:lstStyle>
          <a:p xmlns:a="http://schemas.openxmlformats.org/drawingml/2006/main">
            <a:pPr>
              <a:defRPr sz="1800" b="1">
                <a:solidFill>
                  <a:srgbClr val="F6FAF9"/>
                </a:solidFill>
                <a:latin typeface="Inter"/>
                <a:ea typeface="Inter"/>
                <a:cs typeface="Inter"/>
              </a:defRPr>
            </a:pPr>
            <a:r>
              <a:rPr sz="1800" b="1">
                <a:solidFill>
                  <a:srgbClr val="F6FAF9"/>
                </a:solidFill>
                <a:latin typeface="Inter"/>
                <a:ea typeface="Inter"/>
                <a:cs typeface="Inter"/>
              </a:rPr>
              <a:t>NO FRIES</a:t>
            </a:r>
          </a:p>
        </p:txBody>
      </p:sp>
      <p:sp>
        <p:nvSpPr>
          <p:cNvPr id="2" name="section">
            <a:extLst xmlns:a="http://schemas.openxmlformats.org/drawingml/2006/main">
              <a:ext uri="{FF2B5EF4-FFF2-40B4-BE49-F238E27FC236}">
                <a16:creationId xmlns:a16="http://schemas.microsoft.com/office/drawing/2014/main" id="{E2289E07-F8ED-4955-8207-45D5986625BA}"/>
              </a:ext>
            </a:extLst>
          </p:cNvPr>
          <p:cNvSpPr>
            <a:spLocks xmlns:a="http://schemas.openxmlformats.org/drawingml/2006/main" noGrp="1"/>
          </p:cNvSpPr>
          <p:nvPr/>
        </p:nvSpPr>
        <p:spPr>
          <a:xfrm xmlns:a="http://schemas.openxmlformats.org/drawingml/2006/main">
            <a:off x="5524500" y="371475"/>
            <a:ext cx="59817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1">
                <a:solidFill>
                  <a:srgbClr val="6CD8C9"/>
                </a:solidFill>
                <a:latin typeface="Inter"/>
                <a:ea typeface="Inter"/>
                <a:cs typeface="Inter"/>
              </a:defRPr>
            </a:defPPr>
          </a:lstStyle>
          <a:p xmlns:a="http://schemas.openxmlformats.org/drawingml/2006/main">
            <a:pPr algn="r">
              <a:defRPr sz="1200" b="1">
                <a:solidFill>
                  <a:srgbClr val="6CD8C9"/>
                </a:solidFill>
                <a:latin typeface="Inter"/>
                <a:ea typeface="Inter"/>
                <a:cs typeface="Inter"/>
              </a:defRPr>
            </a:pPr>
            <a:r>
              <a:rPr sz="1200" b="1">
                <a:solidFill>
                  <a:srgbClr val="6CD8C9"/>
                </a:solidFill>
                <a:latin typeface="Inter"/>
                <a:ea typeface="Inter"/>
                <a:cs typeface="Inter"/>
              </a:rPr>
              <a:t>OPTIONAL NZISM APPENDIX</a:t>
            </a:r>
          </a:p>
        </p:txBody>
      </p:sp>
      <p:sp>
        <p:nvSpPr>
          <p:cNvPr id="3" name="page">
            <a:extLst xmlns:a="http://schemas.openxmlformats.org/drawingml/2006/main">
              <a:ext uri="{FF2B5EF4-FFF2-40B4-BE49-F238E27FC236}">
                <a16:creationId xmlns:a16="http://schemas.microsoft.com/office/drawing/2014/main" id="{B35CCABE-AD8D-438C-804F-BA5BBCD6E976}"/>
              </a:ext>
            </a:extLst>
          </p:cNvPr>
          <p:cNvSpPr>
            <a:spLocks xmlns:a="http://schemas.openxmlformats.org/drawingml/2006/main" noGrp="1"/>
          </p:cNvSpPr>
          <p:nvPr/>
        </p:nvSpPr>
        <p:spPr>
          <a:xfrm xmlns:a="http://schemas.openxmlformats.org/drawingml/2006/main">
            <a:off x="10934700" y="6429375"/>
            <a:ext cx="5715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A9BBB7"/>
                </a:solidFill>
                <a:latin typeface="Inter"/>
                <a:ea typeface="Inter"/>
                <a:cs typeface="Inter"/>
              </a:defRPr>
            </a:defPPr>
          </a:lstStyle>
          <a:p xmlns:a="http://schemas.openxmlformats.org/drawingml/2006/main">
            <a:pPr algn="r">
              <a:defRPr sz="1200" b="0">
                <a:solidFill>
                  <a:srgbClr val="A9BBB7"/>
                </a:solidFill>
                <a:latin typeface="Inter"/>
                <a:ea typeface="Inter"/>
                <a:cs typeface="Inter"/>
              </a:defRPr>
            </a:pPr>
            <a:r>
              <a:rPr sz="1200" b="0">
                <a:solidFill>
                  <a:srgbClr val="A9BBB7"/>
                </a:solidFill>
                <a:latin typeface="Inter"/>
                <a:ea typeface="Inter"/>
                <a:cs typeface="Inter"/>
              </a:rPr>
              <a:t>23</a:t>
            </a:r>
          </a:p>
        </p:txBody>
      </p:sp>
      <p:sp>
        <p:nvSpPr>
          <p:cNvPr id="4" name="appendix-title">
            <a:extLst xmlns:a="http://schemas.openxmlformats.org/drawingml/2006/main">
              <a:ext uri="{FF2B5EF4-FFF2-40B4-BE49-F238E27FC236}">
                <a16:creationId xmlns:a16="http://schemas.microsoft.com/office/drawing/2014/main" id="{F35650A9-889D-41BC-9A47-E5166DFCAA53}"/>
              </a:ext>
            </a:extLst>
          </p:cNvPr>
          <p:cNvSpPr>
            <a:spLocks xmlns:a="http://schemas.openxmlformats.org/drawingml/2006/main" noGrp="1"/>
          </p:cNvSpPr>
          <p:nvPr/>
        </p:nvSpPr>
        <p:spPr>
          <a:xfrm xmlns:a="http://schemas.openxmlformats.org/drawingml/2006/main">
            <a:off x="685800" y="1047750"/>
            <a:ext cx="108204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525" b="1">
                <a:solidFill>
                  <a:srgbClr val="F6FAF9"/>
                </a:solidFill>
                <a:latin typeface="Inter"/>
                <a:ea typeface="Inter"/>
                <a:cs typeface="Inter"/>
              </a:defRPr>
            </a:defPPr>
          </a:lstStyle>
          <a:p xmlns:a="http://schemas.openxmlformats.org/drawingml/2006/main">
            <a:pPr>
              <a:defRPr sz="3525" b="1">
                <a:solidFill>
                  <a:srgbClr val="F6FAF9"/>
                </a:solidFill>
                <a:latin typeface="Inter"/>
                <a:ea typeface="Inter"/>
                <a:cs typeface="Inter"/>
              </a:defRPr>
            </a:pPr>
            <a:r>
              <a:rPr sz="3525" b="1">
                <a:solidFill>
                  <a:srgbClr val="F6FAF9"/>
                </a:solidFill>
                <a:latin typeface="Inter"/>
                <a:ea typeface="Inter"/>
                <a:cs typeface="Inter"/>
              </a:rPr>
              <a:t>NZISM starting-point references</a:t>
            </a:r>
          </a:p>
        </p:txBody>
      </p:sp>
      <p:sp>
        <p:nvSpPr>
          <p:cNvPr id="5" name="appendix-range">
            <a:extLst xmlns:a="http://schemas.openxmlformats.org/drawingml/2006/main">
              <a:ext uri="{FF2B5EF4-FFF2-40B4-BE49-F238E27FC236}">
                <a16:creationId xmlns:a16="http://schemas.microsoft.com/office/drawing/2014/main" id="{D7879712-57A2-4BAA-B84C-A2E490F6B1CE}"/>
              </a:ext>
            </a:extLst>
          </p:cNvPr>
          <p:cNvSpPr>
            <a:spLocks xmlns:a="http://schemas.openxmlformats.org/drawingml/2006/main" noGrp="1"/>
          </p:cNvSpPr>
          <p:nvPr/>
        </p:nvSpPr>
        <p:spPr>
          <a:xfrm xmlns:a="http://schemas.openxmlformats.org/drawingml/2006/main">
            <a:off x="685800" y="1752600"/>
            <a:ext cx="108204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75" b="0">
                <a:solidFill>
                  <a:srgbClr val="D7E2DF"/>
                </a:solidFill>
                <a:latin typeface="Inter"/>
                <a:ea typeface="Inter"/>
                <a:cs typeface="Inter"/>
              </a:defRPr>
            </a:defPPr>
          </a:lstStyle>
          <a:p xmlns:a="http://schemas.openxmlformats.org/drawingml/2006/main">
            <a:pPr>
              <a:defRPr sz="1875" b="0">
                <a:solidFill>
                  <a:srgbClr val="D7E2DF"/>
                </a:solidFill>
                <a:latin typeface="Inter"/>
                <a:ea typeface="Inter"/>
                <a:cs typeface="Inter"/>
              </a:defRPr>
            </a:pPr>
            <a:r>
              <a:rPr sz="1875" b="0">
                <a:solidFill>
                  <a:srgbClr val="D7E2DF"/>
                </a:solidFill>
                <a:latin typeface="Inter"/>
                <a:ea typeface="Inter"/>
                <a:cs typeface="Inter"/>
              </a:rPr>
              <a:t>Questions 5–8. Selected references and gaps for further review.</a:t>
            </a:r>
          </a:p>
        </p:txBody>
      </p:sp>
      <p:graphicFrame>
        <p:nvGraphicFramePr>
          <p:cNvPr id="6" name="">
            <a:extLst xmlns:a="http://schemas.openxmlformats.org/drawingml/2006/main">
              <a:ext uri="{FF2B5EF4-FFF2-40B4-BE49-F238E27FC236}">
                <a16:creationId xmlns:a16="http://schemas.microsoft.com/office/drawing/2014/main" id="{3B2EE519-2E7E-428A-A47E-A840AB76C031}"/>
              </a:ext>
            </a:extLst>
          </p:cNvPr>
          <p:cNvGraphicFramePr/>
          <p:nvPr/>
        </p:nvGraphicFramePr>
        <p:xfrm>
          <a:off xmlns:a="http://schemas.openxmlformats.org/drawingml/2006/main" x="685800" y="2390775"/>
          <a:ext xmlns:a="http://schemas.openxmlformats.org/drawingml/2006/main" cx="10820400" cy="3486150"/>
        </p:xfrm>
        <a:graphic xmlns:a="http://schemas.openxmlformats.org/drawingml/2006/main">
          <a:graphicData uri="http://schemas.openxmlformats.org/drawingml/2006/table">
            <a:tbl>
              <a:tblPr firstRow="0" firstCol="0" lastRow="0" lastCol="0" bandRow="0" bandCol="0"/>
              <a:tblGrid>
                <a:gridCol w="2333625"/>
                <a:gridCol w="3190875"/>
                <a:gridCol w="5295900"/>
              </a:tblGrid>
              <a:tr h="409575">
                <a:tc>
                  <a:txBody>
                    <a:bodyPr wrap="square" lIns="85725" tIns="85725" rIns="85725" bIns="85725">
                      <a:noAutofit/>
                    </a:bodyPr>
                    <a:lstStyle/>
                    <a:p>
                      <a:r>
                        <a:rPr sz="1650" b="1">
                          <a:solidFill>
                            <a:srgbClr val="6CD8C9"/>
                          </a:solidFill>
                          <a:latin typeface="Inter"/>
                          <a:ea typeface="Inter"/>
                          <a:cs typeface="Inter"/>
                        </a:rPr>
                        <a:t>Question topic</a:t>
                      </a:r>
                    </a:p>
                  </a:txBody>
                  <a:tcPr marL="91440" marR="91440" marT="45720" marB="45720" anchor="t">
                    <a:lnL w="7620">
                      <a:solidFill>
                        <a:srgbClr val="2A3B38"/>
                      </a:solidFill>
                      <a:prstDash val="solid"/>
                    </a:lnL>
                    <a:lnR w="7620">
                      <a:solidFill>
                        <a:srgbClr val="2A3B38"/>
                      </a:solidFill>
                      <a:prstDash val="solid"/>
                    </a:lnR>
                    <a:lnT w="7620">
                      <a:solidFill>
                        <a:srgbClr val="2A3B38"/>
                      </a:solidFill>
                      <a:prstDash val="solid"/>
                    </a:lnT>
                    <a:lnB w="7620">
                      <a:solidFill>
                        <a:srgbClr val="2A3B38"/>
                      </a:solidFill>
                      <a:prstDash val="solid"/>
                    </a:lnB>
                    <a:solidFill>
                      <a:srgbClr val="08100F"/>
                    </a:solidFill>
                  </a:tcPr>
                </a:tc>
                <a:tc>
                  <a:txBody>
                    <a:bodyPr wrap="square" lIns="85725" tIns="85725" rIns="85725" bIns="85725">
                      <a:noAutofit/>
                    </a:bodyPr>
                    <a:lstStyle/>
                    <a:p>
                      <a:r>
                        <a:rPr sz="1650" b="1">
                          <a:solidFill>
                            <a:srgbClr val="6CD8C9"/>
                          </a:solidFill>
                          <a:latin typeface="Inter"/>
                          <a:ea typeface="Inter"/>
                          <a:cs typeface="Inter"/>
                        </a:rPr>
                        <a:t>Selected references</a:t>
                      </a:r>
                    </a:p>
                  </a:txBody>
                  <a:tcPr marL="91440" marR="91440" marT="45720" marB="45720" anchor="t">
                    <a:lnR w="7620">
                      <a:solidFill>
                        <a:srgbClr val="2A3B38"/>
                      </a:solidFill>
                      <a:prstDash val="solid"/>
                    </a:lnR>
                    <a:lnT w="7620">
                      <a:solidFill>
                        <a:srgbClr val="2A3B38"/>
                      </a:solidFill>
                      <a:prstDash val="solid"/>
                    </a:lnT>
                    <a:lnB w="7620">
                      <a:solidFill>
                        <a:srgbClr val="2A3B38"/>
                      </a:solidFill>
                      <a:prstDash val="solid"/>
                    </a:lnB>
                    <a:solidFill>
                      <a:srgbClr val="08100F"/>
                    </a:solidFill>
                  </a:tcPr>
                </a:tc>
                <a:tc>
                  <a:txBody>
                    <a:bodyPr wrap="square" lIns="85725" tIns="85725" rIns="85725" bIns="85725">
                      <a:noAutofit/>
                    </a:bodyPr>
                    <a:lstStyle/>
                    <a:p>
                      <a:r>
                        <a:rPr sz="1650" b="1">
                          <a:solidFill>
                            <a:srgbClr val="6CD8C9"/>
                          </a:solidFill>
                          <a:latin typeface="Inter"/>
                          <a:ea typeface="Inter"/>
                          <a:cs typeface="Inter"/>
                        </a:rPr>
                        <a:t>Further checks</a:t>
                      </a:r>
                    </a:p>
                  </a:txBody>
                  <a:tcPr marL="91440" marR="91440" marT="45720" marB="45720" anchor="t">
                    <a:lnR w="7620">
                      <a:solidFill>
                        <a:srgbClr val="2A3B38"/>
                      </a:solidFill>
                      <a:prstDash val="solid"/>
                    </a:lnR>
                    <a:lnT w="7620">
                      <a:solidFill>
                        <a:srgbClr val="2A3B38"/>
                      </a:solidFill>
                      <a:prstDash val="solid"/>
                    </a:lnT>
                    <a:lnB w="7620">
                      <a:solidFill>
                        <a:srgbClr val="2A3B38"/>
                      </a:solidFill>
                      <a:prstDash val="solid"/>
                    </a:lnB>
                    <a:solidFill>
                      <a:srgbClr val="08100F"/>
                    </a:solidFill>
                  </a:tcPr>
                </a:tc>
              </a:tr>
              <a:tr h="769144">
                <a:tc>
                  <a:txBody>
                    <a:bodyPr wrap="square" lIns="85725" tIns="85725" rIns="85725" bIns="85725">
                      <a:noAutofit/>
                    </a:bodyPr>
                    <a:lstStyle/>
                    <a:p>
                      <a:r>
                        <a:rPr sz="1575" b="0">
                          <a:solidFill>
                            <a:srgbClr val="D7E2DF"/>
                          </a:solidFill>
                          <a:latin typeface="Inter"/>
                          <a:ea typeface="Inter"/>
                          <a:cs typeface="Inter"/>
                        </a:rPr>
                        <a:t>Q5 Patching</a:t>
                      </a:r>
                    </a:p>
                  </a:txBody>
                  <a:tcPr marL="91440" marR="91440" marT="45720" marB="45720" anchor="t">
                    <a:lnL w="7620">
                      <a:solidFill>
                        <a:srgbClr val="2A3B38"/>
                      </a:solidFill>
                      <a:prstDash val="solid"/>
                    </a:lnL>
                    <a:lnR w="7620">
                      <a:solidFill>
                        <a:srgbClr val="2A3B38"/>
                      </a:solidFill>
                      <a:prstDash val="solid"/>
                    </a:lnR>
                    <a:lnB w="7620">
                      <a:solidFill>
                        <a:srgbClr val="2A3B38"/>
                      </a:solidFill>
                      <a:prstDash val="solid"/>
                    </a:lnB>
                    <a:solidFill>
                      <a:srgbClr val="08100F"/>
                    </a:solidFill>
                  </a:tcPr>
                </a:tc>
                <a:tc>
                  <a:txBody>
                    <a:bodyPr wrap="square" lIns="85725" tIns="85725" rIns="85725" bIns="85725">
                      <a:noAutofit/>
                    </a:bodyPr>
                    <a:lstStyle/>
                    <a:p>
                      <a:r>
                        <a:rPr sz="1575" b="0">
                          <a:solidFill>
                            <a:srgbClr val="D7E2DF"/>
                          </a:solidFill>
                          <a:latin typeface="Inter"/>
                          <a:ea typeface="Inter"/>
                          <a:cs typeface="Inter"/>
                        </a:rPr>
                        <a:t>12.4.4.C.02; 12.4.4.C.06</a:t>
                      </a:r>
                    </a:p>
                    <a:p>
                      <a:r>
                        <a:rPr sz="1575" b="0">
                          <a:solidFill>
                            <a:srgbClr val="D7E2DF"/>
                          </a:solidFill>
                          <a:latin typeface="Inter"/>
                          <a:ea typeface="Inter"/>
                          <a:cs typeface="Inter"/>
                        </a:rPr>
                        <a:t>CIDs 3449, 3453</a:t>
                      </a:r>
                    </a:p>
                  </a:txBody>
                  <a:tcPr marL="91440" marR="91440" marT="45720" marB="45720" anchor="t">
                    <a:lnR w="7620">
                      <a:solidFill>
                        <a:srgbClr val="2A3B38"/>
                      </a:solidFill>
                      <a:prstDash val="solid"/>
                    </a:lnR>
                    <a:lnB w="7620">
                      <a:solidFill>
                        <a:srgbClr val="2A3B38"/>
                      </a:solidFill>
                      <a:prstDash val="solid"/>
                    </a:lnB>
                    <a:solidFill>
                      <a:srgbClr val="08100F"/>
                    </a:solidFill>
                  </a:tcPr>
                </a:tc>
                <a:tc>
                  <a:txBody>
                    <a:bodyPr wrap="square" lIns="85725" tIns="85725" rIns="85725" bIns="85725">
                      <a:noAutofit/>
                    </a:bodyPr>
                    <a:lstStyle/>
                    <a:p>
                      <a:r>
                        <a:rPr sz="1575" b="0">
                          <a:solidFill>
                            <a:srgbClr val="D7E2DF"/>
                          </a:solidFill>
                          <a:latin typeface="Inter"/>
                          <a:ea typeface="Inter"/>
                          <a:cs typeface="Inter"/>
                        </a:rPr>
                        <a:t>Check actual patch deadlines, coverage and mitigations against current NZISM obligations.</a:t>
                      </a:r>
                    </a:p>
                  </a:txBody>
                  <a:tcPr marL="91440" marR="91440" marT="45720" marB="45720" anchor="t">
                    <a:lnR w="7620">
                      <a:solidFill>
                        <a:srgbClr val="2A3B38"/>
                      </a:solidFill>
                      <a:prstDash val="solid"/>
                    </a:lnR>
                    <a:lnB w="7620">
                      <a:solidFill>
                        <a:srgbClr val="2A3B38"/>
                      </a:solidFill>
                      <a:prstDash val="solid"/>
                    </a:lnB>
                    <a:solidFill>
                      <a:srgbClr val="08100F"/>
                    </a:solidFill>
                  </a:tcPr>
                </a:tc>
              </a:tr>
              <a:tr h="769144">
                <a:tc>
                  <a:txBody>
                    <a:bodyPr wrap="square" lIns="85725" tIns="85725" rIns="85725" bIns="85725">
                      <a:noAutofit/>
                    </a:bodyPr>
                    <a:lstStyle/>
                    <a:p>
                      <a:r>
                        <a:rPr sz="1575" b="0">
                          <a:solidFill>
                            <a:srgbClr val="D7E2DF"/>
                          </a:solidFill>
                          <a:latin typeface="Inter"/>
                          <a:ea typeface="Inter"/>
                          <a:cs typeface="Inter"/>
                        </a:rPr>
                        <a:t>Q6 MFA</a:t>
                      </a:r>
                    </a:p>
                  </a:txBody>
                  <a:tcPr marL="91440" marR="91440" marT="45720" marB="45720" anchor="t">
                    <a:lnL w="7620">
                      <a:solidFill>
                        <a:srgbClr val="2A3B38"/>
                      </a:solidFill>
                      <a:prstDash val="solid"/>
                    </a:lnL>
                    <a:lnR w="7620">
                      <a:solidFill>
                        <a:srgbClr val="2A3B38"/>
                      </a:solidFill>
                      <a:prstDash val="solid"/>
                    </a:lnR>
                    <a:lnB w="7620">
                      <a:solidFill>
                        <a:srgbClr val="2A3B38"/>
                      </a:solidFill>
                      <a:prstDash val="solid"/>
                    </a:lnB>
                    <a:solidFill>
                      <a:srgbClr val="08100F"/>
                    </a:solidFill>
                  </a:tcPr>
                </a:tc>
                <a:tc>
                  <a:txBody>
                    <a:bodyPr wrap="square" lIns="85725" tIns="85725" rIns="85725" bIns="85725">
                      <a:noAutofit/>
                    </a:bodyPr>
                    <a:lstStyle/>
                    <a:p>
                      <a:r>
                        <a:rPr sz="1575" b="0">
                          <a:solidFill>
                            <a:srgbClr val="D7E2DF"/>
                          </a:solidFill>
                          <a:latin typeface="Inter"/>
                          <a:ea typeface="Inter"/>
                          <a:cs typeface="Inter"/>
                        </a:rPr>
                        <a:t>16.7.42.C.01–03</a:t>
                      </a:r>
                    </a:p>
                    <a:p>
                      <a:r>
                        <a:rPr sz="1575" b="0">
                          <a:solidFill>
                            <a:srgbClr val="D7E2DF"/>
                          </a:solidFill>
                          <a:latin typeface="Inter"/>
                          <a:ea typeface="Inter"/>
                          <a:cs typeface="Inter"/>
                        </a:rPr>
                        <a:t>CIDs 7563, 6953, 7564</a:t>
                      </a:r>
                    </a:p>
                  </a:txBody>
                  <a:tcPr marL="91440" marR="91440" marT="45720" marB="45720" anchor="t">
                    <a:lnR w="7620">
                      <a:solidFill>
                        <a:srgbClr val="2A3B38"/>
                      </a:solidFill>
                      <a:prstDash val="solid"/>
                    </a:lnR>
                    <a:lnB w="7620">
                      <a:solidFill>
                        <a:srgbClr val="2A3B38"/>
                      </a:solidFill>
                      <a:prstDash val="solid"/>
                    </a:lnB>
                    <a:solidFill>
                      <a:srgbClr val="08100F"/>
                    </a:solidFill>
                  </a:tcPr>
                </a:tc>
                <a:tc>
                  <a:txBody>
                    <a:bodyPr wrap="square" lIns="85725" tIns="85725" rIns="85725" bIns="85725">
                      <a:noAutofit/>
                    </a:bodyPr>
                    <a:lstStyle/>
                    <a:p>
                      <a:r>
                        <a:rPr sz="1575" b="0">
                          <a:solidFill>
                            <a:srgbClr val="D7E2DF"/>
                          </a:solidFill>
                          <a:latin typeface="Inter"/>
                          <a:ea typeface="Inter"/>
                          <a:cs typeface="Inter"/>
                        </a:rPr>
                        <a:t>Check enforcement, secure recovery, exclusions and phishing-resistant MFA guidance.</a:t>
                      </a:r>
                    </a:p>
                  </a:txBody>
                  <a:tcPr marL="91440" marR="91440" marT="45720" marB="45720" anchor="t">
                    <a:lnR w="7620">
                      <a:solidFill>
                        <a:srgbClr val="2A3B38"/>
                      </a:solidFill>
                      <a:prstDash val="solid"/>
                    </a:lnR>
                    <a:lnB w="7620">
                      <a:solidFill>
                        <a:srgbClr val="2A3B38"/>
                      </a:solidFill>
                      <a:prstDash val="solid"/>
                    </a:lnB>
                    <a:solidFill>
                      <a:srgbClr val="08100F"/>
                    </a:solidFill>
                  </a:tcPr>
                </a:tc>
              </a:tr>
              <a:tr h="769144">
                <a:tc>
                  <a:txBody>
                    <a:bodyPr wrap="square" lIns="85725" tIns="85725" rIns="85725" bIns="85725">
                      <a:noAutofit/>
                    </a:bodyPr>
                    <a:lstStyle/>
                    <a:p>
                      <a:r>
                        <a:rPr sz="1575" b="0">
                          <a:solidFill>
                            <a:srgbClr val="D7E2DF"/>
                          </a:solidFill>
                          <a:latin typeface="Inter"/>
                          <a:ea typeface="Inter"/>
                          <a:cs typeface="Inter"/>
                        </a:rPr>
                        <a:t>Q7 Unusual behaviour</a:t>
                      </a:r>
                    </a:p>
                  </a:txBody>
                  <a:tcPr marL="91440" marR="91440" marT="45720" marB="45720" anchor="t">
                    <a:lnL w="7620">
                      <a:solidFill>
                        <a:srgbClr val="2A3B38"/>
                      </a:solidFill>
                      <a:prstDash val="solid"/>
                    </a:lnL>
                    <a:lnR w="7620">
                      <a:solidFill>
                        <a:srgbClr val="2A3B38"/>
                      </a:solidFill>
                      <a:prstDash val="solid"/>
                    </a:lnR>
                    <a:lnB w="7620">
                      <a:solidFill>
                        <a:srgbClr val="2A3B38"/>
                      </a:solidFill>
                      <a:prstDash val="solid"/>
                    </a:lnB>
                    <a:solidFill>
                      <a:srgbClr val="08100F"/>
                    </a:solidFill>
                  </a:tcPr>
                </a:tc>
                <a:tc>
                  <a:txBody>
                    <a:bodyPr wrap="square" lIns="85725" tIns="85725" rIns="85725" bIns="85725">
                      <a:noAutofit/>
                    </a:bodyPr>
                    <a:lstStyle/>
                    <a:p>
                      <a:r>
                        <a:rPr sz="1575" b="0">
                          <a:solidFill>
                            <a:srgbClr val="D7E2DF"/>
                          </a:solidFill>
                          <a:latin typeface="Inter"/>
                          <a:ea typeface="Inter"/>
                          <a:cs typeface="Inter"/>
                        </a:rPr>
                        <a:t>16.6.10.C.02; 23.5.12.C.01</a:t>
                      </a:r>
                    </a:p>
                    <a:p>
                      <a:r>
                        <a:rPr sz="1575" b="0">
                          <a:solidFill>
                            <a:srgbClr val="D7E2DF"/>
                          </a:solidFill>
                          <a:latin typeface="Inter"/>
                          <a:ea typeface="Inter"/>
                          <a:cs typeface="Inter"/>
                        </a:rPr>
                        <a:t>CIDs 2013, 7498</a:t>
                      </a:r>
                    </a:p>
                  </a:txBody>
                  <a:tcPr marL="91440" marR="91440" marT="45720" marB="45720" anchor="t">
                    <a:lnR w="7620">
                      <a:solidFill>
                        <a:srgbClr val="2A3B38"/>
                      </a:solidFill>
                      <a:prstDash val="solid"/>
                    </a:lnR>
                    <a:lnB w="7620">
                      <a:solidFill>
                        <a:srgbClr val="2A3B38"/>
                      </a:solidFill>
                      <a:prstDash val="solid"/>
                    </a:lnB>
                    <a:solidFill>
                      <a:srgbClr val="08100F"/>
                    </a:solidFill>
                  </a:tcPr>
                </a:tc>
                <a:tc>
                  <a:txBody>
                    <a:bodyPr wrap="square" lIns="85725" tIns="85725" rIns="85725" bIns="85725">
                      <a:noAutofit/>
                    </a:bodyPr>
                    <a:lstStyle/>
                    <a:p>
                      <a:r>
                        <a:rPr sz="1575" b="0">
                          <a:solidFill>
                            <a:srgbClr val="D7E2DF"/>
                          </a:solidFill>
                          <a:latin typeface="Inter"/>
                          <a:ea typeface="Inter"/>
                          <a:cs typeface="Inter"/>
                        </a:rPr>
                        <a:t>Check retention, protected logs, time alignment, detection quality and response coverage.</a:t>
                      </a:r>
                    </a:p>
                  </a:txBody>
                  <a:tcPr marL="91440" marR="91440" marT="45720" marB="45720" anchor="t">
                    <a:lnR w="7620">
                      <a:solidFill>
                        <a:srgbClr val="2A3B38"/>
                      </a:solidFill>
                      <a:prstDash val="solid"/>
                    </a:lnR>
                    <a:lnB w="7620">
                      <a:solidFill>
                        <a:srgbClr val="2A3B38"/>
                      </a:solidFill>
                      <a:prstDash val="solid"/>
                    </a:lnB>
                    <a:solidFill>
                      <a:srgbClr val="08100F"/>
                    </a:solidFill>
                  </a:tcPr>
                </a:tc>
              </a:tr>
              <a:tr h="769144">
                <a:tc>
                  <a:txBody>
                    <a:bodyPr wrap="square" lIns="85725" tIns="85725" rIns="85725" bIns="85725">
                      <a:noAutofit/>
                    </a:bodyPr>
                    <a:lstStyle/>
                    <a:p>
                      <a:r>
                        <a:rPr sz="1575" b="0">
                          <a:solidFill>
                            <a:srgbClr val="D7E2DF"/>
                          </a:solidFill>
                          <a:latin typeface="Inter"/>
                          <a:ea typeface="Inter"/>
                          <a:cs typeface="Inter"/>
                        </a:rPr>
                        <a:t>Q8 Least privilege</a:t>
                      </a:r>
                    </a:p>
                  </a:txBody>
                  <a:tcPr marL="91440" marR="91440" marT="45720" marB="45720" anchor="t">
                    <a:lnL w="7620">
                      <a:solidFill>
                        <a:srgbClr val="2A3B38"/>
                      </a:solidFill>
                      <a:prstDash val="solid"/>
                    </a:lnL>
                    <a:lnR w="7620">
                      <a:solidFill>
                        <a:srgbClr val="2A3B38"/>
                      </a:solidFill>
                      <a:prstDash val="solid"/>
                    </a:lnR>
                    <a:lnB w="7620">
                      <a:solidFill>
                        <a:srgbClr val="2A3B38"/>
                      </a:solidFill>
                      <a:prstDash val="solid"/>
                    </a:lnB>
                    <a:solidFill>
                      <a:srgbClr val="08100F"/>
                    </a:solidFill>
                  </a:tcPr>
                </a:tc>
                <a:tc>
                  <a:txBody>
                    <a:bodyPr wrap="square" lIns="85725" tIns="85725" rIns="85725" bIns="85725">
                      <a:noAutofit/>
                    </a:bodyPr>
                    <a:lstStyle/>
                    <a:p>
                      <a:r>
                        <a:rPr sz="1575" b="0">
                          <a:solidFill>
                            <a:srgbClr val="D7E2DF"/>
                          </a:solidFill>
                          <a:latin typeface="Inter"/>
                          <a:ea typeface="Inter"/>
                          <a:cs typeface="Inter"/>
                        </a:rPr>
                        <a:t>16.4.37.C.01</a:t>
                      </a:r>
                    </a:p>
                    <a:p>
                      <a:r>
                        <a:rPr sz="1575" b="0">
                          <a:solidFill>
                            <a:srgbClr val="D7E2DF"/>
                          </a:solidFill>
                          <a:latin typeface="Inter"/>
                          <a:ea typeface="Inter"/>
                          <a:cs typeface="Inter"/>
                        </a:rPr>
                        <a:t>16.4.38.C.01–02</a:t>
                      </a:r>
                    </a:p>
                    <a:p>
                      <a:r>
                        <a:rPr sz="1575" b="0">
                          <a:solidFill>
                            <a:srgbClr val="D7E2DF"/>
                          </a:solidFill>
                          <a:latin typeface="Inter"/>
                          <a:ea typeface="Inter"/>
                          <a:cs typeface="Inter"/>
                        </a:rPr>
                        <a:t>CIDs 6842, 6846, 6847</a:t>
                      </a:r>
                    </a:p>
                  </a:txBody>
                  <a:tcPr marL="91440" marR="91440" marT="45720" marB="45720" anchor="t">
                    <a:lnR w="7620">
                      <a:solidFill>
                        <a:srgbClr val="2A3B38"/>
                      </a:solidFill>
                      <a:prstDash val="solid"/>
                    </a:lnR>
                    <a:lnB w="7620">
                      <a:solidFill>
                        <a:srgbClr val="2A3B38"/>
                      </a:solidFill>
                      <a:prstDash val="solid"/>
                    </a:lnB>
                    <a:solidFill>
                      <a:srgbClr val="08100F"/>
                    </a:solidFill>
                  </a:tcPr>
                </a:tc>
                <a:tc>
                  <a:txBody>
                    <a:bodyPr wrap="square" lIns="85725" tIns="85725" rIns="85725" bIns="85725">
                      <a:noAutofit/>
                    </a:bodyPr>
                    <a:lstStyle/>
                    <a:p>
                      <a:r>
                        <a:rPr sz="1575" b="0">
                          <a:solidFill>
                            <a:srgbClr val="D7E2DF"/>
                          </a:solidFill>
                          <a:latin typeface="Inter"/>
                          <a:ea typeface="Inter"/>
                          <a:cs typeface="Inter"/>
                        </a:rPr>
                        <a:t>Test service accounts, emergency access, revocation, monitoring and approvals.</a:t>
                      </a:r>
                    </a:p>
                  </a:txBody>
                  <a:tcPr marL="91440" marR="91440" marT="45720" marB="45720" anchor="t">
                    <a:lnR w="7620">
                      <a:solidFill>
                        <a:srgbClr val="2A3B38"/>
                      </a:solidFill>
                      <a:prstDash val="solid"/>
                    </a:lnR>
                    <a:lnB w="7620">
                      <a:solidFill>
                        <a:srgbClr val="2A3B38"/>
                      </a:solidFill>
                      <a:prstDash val="solid"/>
                    </a:lnB>
                    <a:solidFill>
                      <a:srgbClr val="08100F"/>
                    </a:solidFill>
                  </a:tcPr>
                </a:tc>
              </a:tr>
            </a:tbl>
          </a:graphicData>
        </a:graphic>
      </p:graphicFrame>
      <p:sp>
        <p:nvSpPr>
          <p:cNvPr id="7" name="appendix-qualifier">
            <a:extLst xmlns:a="http://schemas.openxmlformats.org/drawingml/2006/main">
              <a:ext uri="{FF2B5EF4-FFF2-40B4-BE49-F238E27FC236}">
                <a16:creationId xmlns:a16="http://schemas.microsoft.com/office/drawing/2014/main" id="{2013C585-8D64-4275-A9BD-E49B4A0136F8}"/>
              </a:ext>
            </a:extLst>
          </p:cNvPr>
          <p:cNvSpPr>
            <a:spLocks xmlns:a="http://schemas.openxmlformats.org/drawingml/2006/main" noGrp="1"/>
          </p:cNvSpPr>
          <p:nvPr/>
        </p:nvSpPr>
        <p:spPr>
          <a:xfrm xmlns:a="http://schemas.openxmlformats.org/drawingml/2006/main">
            <a:off x="685800" y="6105525"/>
            <a:ext cx="10334625"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350" b="0">
                <a:solidFill>
                  <a:srgbClr val="FFD400"/>
                </a:solidFill>
                <a:latin typeface="Inter"/>
                <a:ea typeface="Inter"/>
                <a:cs typeface="Inter"/>
              </a:defRPr>
            </a:defPPr>
          </a:lstStyle>
          <a:p xmlns:a="http://schemas.openxmlformats.org/drawingml/2006/main">
            <a:pPr>
              <a:defRPr sz="1350" b="0">
                <a:solidFill>
                  <a:srgbClr val="FFD400"/>
                </a:solidFill>
                <a:latin typeface="Inter"/>
                <a:ea typeface="Inter"/>
                <a:cs typeface="Inter"/>
              </a:defRPr>
            </a:pPr>
            <a:r>
              <a:rPr sz="1350" b="0">
                <a:solidFill>
                  <a:srgbClr val="FFD400"/>
                </a:solidFill>
                <a:latin typeface="Inter"/>
                <a:ea typeface="Inter"/>
                <a:cs typeface="Inter"/>
              </a:rPr>
              <a:t>No Fries topic mapping only. Confirm applicability and control wording in a separate assessment.</a:t>
            </a:r>
          </a:p>
        </p:txBody>
      </p:sp>
      <p:sp>
        <p:nvSpPr>
          <p:cNvPr id="8" name="appendix-version">
            <a:extLst xmlns:a="http://schemas.openxmlformats.org/drawingml/2006/main">
              <a:ext uri="{FF2B5EF4-FFF2-40B4-BE49-F238E27FC236}">
                <a16:creationId xmlns:a16="http://schemas.microsoft.com/office/drawing/2014/main" id="{B13A5459-C30B-4A17-BE77-5A801568D589}"/>
              </a:ext>
            </a:extLst>
          </p:cNvPr>
          <p:cNvSpPr>
            <a:spLocks xmlns:a="http://schemas.openxmlformats.org/drawingml/2006/main" noGrp="1"/>
          </p:cNvSpPr>
          <p:nvPr/>
        </p:nvSpPr>
        <p:spPr>
          <a:xfrm xmlns:a="http://schemas.openxmlformats.org/drawingml/2006/main">
            <a:off x="685800" y="6429375"/>
            <a:ext cx="99060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125" b="0">
                <a:solidFill>
                  <a:srgbClr val="A9BBB7"/>
                </a:solidFill>
                <a:latin typeface="Inter"/>
                <a:ea typeface="Inter"/>
                <a:cs typeface="Inter"/>
              </a:defRPr>
            </a:defPPr>
          </a:lstStyle>
          <a:p xmlns:a="http://schemas.openxmlformats.org/drawingml/2006/main">
            <a:pPr>
              <a:defRPr sz="1125" b="0">
                <a:solidFill>
                  <a:srgbClr val="A9BBB7"/>
                </a:solidFill>
                <a:latin typeface="Inter"/>
                <a:ea typeface="Inter"/>
                <a:cs typeface="Inter"/>
              </a:defRPr>
            </a:pPr>
            <a:r>
              <a:rPr sz="1125" b="0">
                <a:solidFill>
                  <a:srgbClr val="A9BBB7"/>
                </a:solidFill>
                <a:latin typeface="Inter"/>
                <a:ea typeface="Inter"/>
                <a:cs typeface="Inter"/>
              </a:rPr>
              <a:t>NZISM v3.9, current online edition, updated November 2025. Checked 19 October 2026.</a:t>
            </a:r>
          </a:p>
        </p:txBody>
      </p:sp>
    </p:spTree>
    <p:extLst>
      <p:ext uri="{BB962C8B-B14F-4D97-AF65-F5344CB8AC3E}">
        <p14:creationId xmlns:p14="http://schemas.microsoft.com/office/powerpoint/2010/main" val="1684674583"/>
      </p:ext>
    </p:extLst>
  </p:cSld>
</p:sld>
</file>

<file path=ppt/slides/slide24.xml><?xml version="1.0" encoding="utf-8"?>
<p:sld xmlns:p="http://schemas.openxmlformats.org/presentationml/2006/main">
  <p:cSld>
    <p:bg>
      <p:bgPr>
        <a:solidFill xmlns:a="http://schemas.openxmlformats.org/drawingml/2006/main">
          <a:srgbClr val="08100F"/>
        </a:solidFill>
      </p:bgPr>
    </p:bg>
    <p:spTree>
      <p:nvGrpSpPr>
        <p:cNvPr id="1" name=""/>
        <p:cNvGrpSpPr/>
        <p:nvPr/>
      </p:nvGrpSpPr>
      <p:grpSpPr>
        <a:xfrm xmlns:a="http://schemas.openxmlformats.org/drawingml/2006/main"/>
      </p:grpSpPr>
      <p:sp>
        <p:nvSpPr>
          <p:cNvPr id="9" name="brand">
            <a:extLst xmlns:a="http://schemas.openxmlformats.org/drawingml/2006/main">
              <a:ext uri="{FF2B5EF4-FFF2-40B4-BE49-F238E27FC236}">
                <a16:creationId xmlns:a16="http://schemas.microsoft.com/office/drawing/2014/main" id="{C6BFE19B-679A-40E9-92E1-1C120F68CF7B}"/>
              </a:ext>
            </a:extLst>
          </p:cNvPr>
          <p:cNvSpPr>
            <a:spLocks xmlns:a="http://schemas.openxmlformats.org/drawingml/2006/main" noGrp="1"/>
          </p:cNvSpPr>
          <p:nvPr/>
        </p:nvSpPr>
        <p:spPr>
          <a:xfrm xmlns:a="http://schemas.openxmlformats.org/drawingml/2006/main">
            <a:off x="685800" y="323850"/>
            <a:ext cx="2952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00" b="1">
                <a:solidFill>
                  <a:srgbClr val="F6FAF9"/>
                </a:solidFill>
                <a:latin typeface="Inter"/>
                <a:ea typeface="Inter"/>
                <a:cs typeface="Inter"/>
              </a:defRPr>
            </a:defPPr>
          </a:lstStyle>
          <a:p xmlns:a="http://schemas.openxmlformats.org/drawingml/2006/main">
            <a:pPr>
              <a:defRPr sz="1800" b="1">
                <a:solidFill>
                  <a:srgbClr val="F6FAF9"/>
                </a:solidFill>
                <a:latin typeface="Inter"/>
                <a:ea typeface="Inter"/>
                <a:cs typeface="Inter"/>
              </a:defRPr>
            </a:pPr>
            <a:r>
              <a:rPr sz="1800" b="1">
                <a:solidFill>
                  <a:srgbClr val="F6FAF9"/>
                </a:solidFill>
                <a:latin typeface="Inter"/>
                <a:ea typeface="Inter"/>
                <a:cs typeface="Inter"/>
              </a:rPr>
              <a:t>NO FRIES</a:t>
            </a:r>
          </a:p>
        </p:txBody>
      </p:sp>
      <p:sp>
        <p:nvSpPr>
          <p:cNvPr id="2" name="section">
            <a:extLst xmlns:a="http://schemas.openxmlformats.org/drawingml/2006/main">
              <a:ext uri="{FF2B5EF4-FFF2-40B4-BE49-F238E27FC236}">
                <a16:creationId xmlns:a16="http://schemas.microsoft.com/office/drawing/2014/main" id="{102E0295-3566-4A75-A0A2-5385258DBF28}"/>
              </a:ext>
            </a:extLst>
          </p:cNvPr>
          <p:cNvSpPr>
            <a:spLocks xmlns:a="http://schemas.openxmlformats.org/drawingml/2006/main" noGrp="1"/>
          </p:cNvSpPr>
          <p:nvPr/>
        </p:nvSpPr>
        <p:spPr>
          <a:xfrm xmlns:a="http://schemas.openxmlformats.org/drawingml/2006/main">
            <a:off x="5524500" y="371475"/>
            <a:ext cx="59817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1">
                <a:solidFill>
                  <a:srgbClr val="6CD8C9"/>
                </a:solidFill>
                <a:latin typeface="Inter"/>
                <a:ea typeface="Inter"/>
                <a:cs typeface="Inter"/>
              </a:defRPr>
            </a:defPPr>
          </a:lstStyle>
          <a:p xmlns:a="http://schemas.openxmlformats.org/drawingml/2006/main">
            <a:pPr algn="r">
              <a:defRPr sz="1200" b="1">
                <a:solidFill>
                  <a:srgbClr val="6CD8C9"/>
                </a:solidFill>
                <a:latin typeface="Inter"/>
                <a:ea typeface="Inter"/>
                <a:cs typeface="Inter"/>
              </a:defRPr>
            </a:pPr>
            <a:r>
              <a:rPr sz="1200" b="1">
                <a:solidFill>
                  <a:srgbClr val="6CD8C9"/>
                </a:solidFill>
                <a:latin typeface="Inter"/>
                <a:ea typeface="Inter"/>
                <a:cs typeface="Inter"/>
              </a:rPr>
              <a:t>OPTIONAL NZISM APPENDIX</a:t>
            </a:r>
          </a:p>
        </p:txBody>
      </p:sp>
      <p:sp>
        <p:nvSpPr>
          <p:cNvPr id="3" name="page">
            <a:extLst xmlns:a="http://schemas.openxmlformats.org/drawingml/2006/main">
              <a:ext uri="{FF2B5EF4-FFF2-40B4-BE49-F238E27FC236}">
                <a16:creationId xmlns:a16="http://schemas.microsoft.com/office/drawing/2014/main" id="{3F5A4924-47E3-4DE6-B7D5-5E90E45D54E4}"/>
              </a:ext>
            </a:extLst>
          </p:cNvPr>
          <p:cNvSpPr>
            <a:spLocks xmlns:a="http://schemas.openxmlformats.org/drawingml/2006/main" noGrp="1"/>
          </p:cNvSpPr>
          <p:nvPr/>
        </p:nvSpPr>
        <p:spPr>
          <a:xfrm xmlns:a="http://schemas.openxmlformats.org/drawingml/2006/main">
            <a:off x="10934700" y="6429375"/>
            <a:ext cx="5715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A9BBB7"/>
                </a:solidFill>
                <a:latin typeface="Inter"/>
                <a:ea typeface="Inter"/>
                <a:cs typeface="Inter"/>
              </a:defRPr>
            </a:defPPr>
          </a:lstStyle>
          <a:p xmlns:a="http://schemas.openxmlformats.org/drawingml/2006/main">
            <a:pPr algn="r">
              <a:defRPr sz="1200" b="0">
                <a:solidFill>
                  <a:srgbClr val="A9BBB7"/>
                </a:solidFill>
                <a:latin typeface="Inter"/>
                <a:ea typeface="Inter"/>
                <a:cs typeface="Inter"/>
              </a:defRPr>
            </a:pPr>
            <a:r>
              <a:rPr sz="1200" b="0">
                <a:solidFill>
                  <a:srgbClr val="A9BBB7"/>
                </a:solidFill>
                <a:latin typeface="Inter"/>
                <a:ea typeface="Inter"/>
                <a:cs typeface="Inter"/>
              </a:rPr>
              <a:t>24</a:t>
            </a:r>
          </a:p>
        </p:txBody>
      </p:sp>
      <p:sp>
        <p:nvSpPr>
          <p:cNvPr id="4" name="appendix-title">
            <a:extLst xmlns:a="http://schemas.openxmlformats.org/drawingml/2006/main">
              <a:ext uri="{FF2B5EF4-FFF2-40B4-BE49-F238E27FC236}">
                <a16:creationId xmlns:a16="http://schemas.microsoft.com/office/drawing/2014/main" id="{43CDDFC8-526A-45C5-94B5-94126AF1E4D5}"/>
              </a:ext>
            </a:extLst>
          </p:cNvPr>
          <p:cNvSpPr>
            <a:spLocks xmlns:a="http://schemas.openxmlformats.org/drawingml/2006/main" noGrp="1"/>
          </p:cNvSpPr>
          <p:nvPr/>
        </p:nvSpPr>
        <p:spPr>
          <a:xfrm xmlns:a="http://schemas.openxmlformats.org/drawingml/2006/main">
            <a:off x="685800" y="1047750"/>
            <a:ext cx="108204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525" b="1">
                <a:solidFill>
                  <a:srgbClr val="F6FAF9"/>
                </a:solidFill>
                <a:latin typeface="Inter"/>
                <a:ea typeface="Inter"/>
                <a:cs typeface="Inter"/>
              </a:defRPr>
            </a:defPPr>
          </a:lstStyle>
          <a:p xmlns:a="http://schemas.openxmlformats.org/drawingml/2006/main">
            <a:pPr>
              <a:defRPr sz="3525" b="1">
                <a:solidFill>
                  <a:srgbClr val="F6FAF9"/>
                </a:solidFill>
                <a:latin typeface="Inter"/>
                <a:ea typeface="Inter"/>
                <a:cs typeface="Inter"/>
              </a:defRPr>
            </a:pPr>
            <a:r>
              <a:rPr sz="3525" b="1">
                <a:solidFill>
                  <a:srgbClr val="F6FAF9"/>
                </a:solidFill>
                <a:latin typeface="Inter"/>
                <a:ea typeface="Inter"/>
                <a:cs typeface="Inter"/>
              </a:rPr>
              <a:t>NZISM starting-point references</a:t>
            </a:r>
          </a:p>
        </p:txBody>
      </p:sp>
      <p:sp>
        <p:nvSpPr>
          <p:cNvPr id="5" name="appendix-range">
            <a:extLst xmlns:a="http://schemas.openxmlformats.org/drawingml/2006/main">
              <a:ext uri="{FF2B5EF4-FFF2-40B4-BE49-F238E27FC236}">
                <a16:creationId xmlns:a16="http://schemas.microsoft.com/office/drawing/2014/main" id="{386C391E-B3F3-4538-AE64-5C7CD2E6DEE1}"/>
              </a:ext>
            </a:extLst>
          </p:cNvPr>
          <p:cNvSpPr>
            <a:spLocks xmlns:a="http://schemas.openxmlformats.org/drawingml/2006/main" noGrp="1"/>
          </p:cNvSpPr>
          <p:nvPr/>
        </p:nvSpPr>
        <p:spPr>
          <a:xfrm xmlns:a="http://schemas.openxmlformats.org/drawingml/2006/main">
            <a:off x="685800" y="1752600"/>
            <a:ext cx="108204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75" b="0">
                <a:solidFill>
                  <a:srgbClr val="D7E2DF"/>
                </a:solidFill>
                <a:latin typeface="Inter"/>
                <a:ea typeface="Inter"/>
                <a:cs typeface="Inter"/>
              </a:defRPr>
            </a:defPPr>
          </a:lstStyle>
          <a:p xmlns:a="http://schemas.openxmlformats.org/drawingml/2006/main">
            <a:pPr>
              <a:defRPr sz="1875" b="0">
                <a:solidFill>
                  <a:srgbClr val="D7E2DF"/>
                </a:solidFill>
                <a:latin typeface="Inter"/>
                <a:ea typeface="Inter"/>
                <a:cs typeface="Inter"/>
              </a:defRPr>
            </a:pPr>
            <a:r>
              <a:rPr sz="1875" b="0">
                <a:solidFill>
                  <a:srgbClr val="D7E2DF"/>
                </a:solidFill>
                <a:latin typeface="Inter"/>
                <a:ea typeface="Inter"/>
                <a:cs typeface="Inter"/>
              </a:rPr>
              <a:t>Questions 9–11. Selected references and gaps for further review.</a:t>
            </a:r>
          </a:p>
        </p:txBody>
      </p:sp>
      <p:graphicFrame>
        <p:nvGraphicFramePr>
          <p:cNvPr id="6" name="">
            <a:extLst xmlns:a="http://schemas.openxmlformats.org/drawingml/2006/main">
              <a:ext uri="{FF2B5EF4-FFF2-40B4-BE49-F238E27FC236}">
                <a16:creationId xmlns:a16="http://schemas.microsoft.com/office/drawing/2014/main" id="{4147D622-FB25-4E3B-859C-B248E39A6AA6}"/>
              </a:ext>
            </a:extLst>
          </p:cNvPr>
          <p:cNvGraphicFramePr/>
          <p:nvPr/>
        </p:nvGraphicFramePr>
        <p:xfrm>
          <a:off xmlns:a="http://schemas.openxmlformats.org/drawingml/2006/main" x="685800" y="2390775"/>
          <a:ext xmlns:a="http://schemas.openxmlformats.org/drawingml/2006/main" cx="10820400" cy="3486150"/>
        </p:xfrm>
        <a:graphic xmlns:a="http://schemas.openxmlformats.org/drawingml/2006/main">
          <a:graphicData uri="http://schemas.openxmlformats.org/drawingml/2006/table">
            <a:tbl>
              <a:tblPr firstRow="0" firstCol="0" lastRow="0" lastCol="0" bandRow="0" bandCol="0"/>
              <a:tblGrid>
                <a:gridCol w="2333625"/>
                <a:gridCol w="3190875"/>
                <a:gridCol w="5295900"/>
              </a:tblGrid>
              <a:tr h="409575">
                <a:tc>
                  <a:txBody>
                    <a:bodyPr wrap="square" lIns="85725" tIns="85725" rIns="85725" bIns="85725">
                      <a:noAutofit/>
                    </a:bodyPr>
                    <a:lstStyle/>
                    <a:p>
                      <a:r>
                        <a:rPr sz="1650" b="1">
                          <a:solidFill>
                            <a:srgbClr val="6CD8C9"/>
                          </a:solidFill>
                          <a:latin typeface="Inter"/>
                          <a:ea typeface="Inter"/>
                          <a:cs typeface="Inter"/>
                        </a:rPr>
                        <a:t>Question topic</a:t>
                      </a:r>
                    </a:p>
                  </a:txBody>
                  <a:tcPr marL="91440" marR="91440" marT="45720" marB="45720" anchor="t">
                    <a:lnL w="7620">
                      <a:solidFill>
                        <a:srgbClr val="2A3B38"/>
                      </a:solidFill>
                      <a:prstDash val="solid"/>
                    </a:lnL>
                    <a:lnR w="7620">
                      <a:solidFill>
                        <a:srgbClr val="2A3B38"/>
                      </a:solidFill>
                      <a:prstDash val="solid"/>
                    </a:lnR>
                    <a:lnT w="7620">
                      <a:solidFill>
                        <a:srgbClr val="2A3B38"/>
                      </a:solidFill>
                      <a:prstDash val="solid"/>
                    </a:lnT>
                    <a:lnB w="7620">
                      <a:solidFill>
                        <a:srgbClr val="2A3B38"/>
                      </a:solidFill>
                      <a:prstDash val="solid"/>
                    </a:lnB>
                    <a:solidFill>
                      <a:srgbClr val="08100F"/>
                    </a:solidFill>
                  </a:tcPr>
                </a:tc>
                <a:tc>
                  <a:txBody>
                    <a:bodyPr wrap="square" lIns="85725" tIns="85725" rIns="85725" bIns="85725">
                      <a:noAutofit/>
                    </a:bodyPr>
                    <a:lstStyle/>
                    <a:p>
                      <a:r>
                        <a:rPr sz="1650" b="1">
                          <a:solidFill>
                            <a:srgbClr val="6CD8C9"/>
                          </a:solidFill>
                          <a:latin typeface="Inter"/>
                          <a:ea typeface="Inter"/>
                          <a:cs typeface="Inter"/>
                        </a:rPr>
                        <a:t>Selected references</a:t>
                      </a:r>
                    </a:p>
                  </a:txBody>
                  <a:tcPr marL="91440" marR="91440" marT="45720" marB="45720" anchor="t">
                    <a:lnR w="7620">
                      <a:solidFill>
                        <a:srgbClr val="2A3B38"/>
                      </a:solidFill>
                      <a:prstDash val="solid"/>
                    </a:lnR>
                    <a:lnT w="7620">
                      <a:solidFill>
                        <a:srgbClr val="2A3B38"/>
                      </a:solidFill>
                      <a:prstDash val="solid"/>
                    </a:lnT>
                    <a:lnB w="7620">
                      <a:solidFill>
                        <a:srgbClr val="2A3B38"/>
                      </a:solidFill>
                      <a:prstDash val="solid"/>
                    </a:lnB>
                    <a:solidFill>
                      <a:srgbClr val="08100F"/>
                    </a:solidFill>
                  </a:tcPr>
                </a:tc>
                <a:tc>
                  <a:txBody>
                    <a:bodyPr wrap="square" lIns="85725" tIns="85725" rIns="85725" bIns="85725">
                      <a:noAutofit/>
                    </a:bodyPr>
                    <a:lstStyle/>
                    <a:p>
                      <a:r>
                        <a:rPr sz="1650" b="1">
                          <a:solidFill>
                            <a:srgbClr val="6CD8C9"/>
                          </a:solidFill>
                          <a:latin typeface="Inter"/>
                          <a:ea typeface="Inter"/>
                          <a:cs typeface="Inter"/>
                        </a:rPr>
                        <a:t>Further checks</a:t>
                      </a:r>
                    </a:p>
                  </a:txBody>
                  <a:tcPr marL="91440" marR="91440" marT="45720" marB="45720" anchor="t">
                    <a:lnR w="7620">
                      <a:solidFill>
                        <a:srgbClr val="2A3B38"/>
                      </a:solidFill>
                      <a:prstDash val="solid"/>
                    </a:lnR>
                    <a:lnT w="7620">
                      <a:solidFill>
                        <a:srgbClr val="2A3B38"/>
                      </a:solidFill>
                      <a:prstDash val="solid"/>
                    </a:lnT>
                    <a:lnB w="7620">
                      <a:solidFill>
                        <a:srgbClr val="2A3B38"/>
                      </a:solidFill>
                      <a:prstDash val="solid"/>
                    </a:lnB>
                    <a:solidFill>
                      <a:srgbClr val="08100F"/>
                    </a:solidFill>
                  </a:tcPr>
                </a:tc>
              </a:tr>
              <a:tr h="1025525">
                <a:tc>
                  <a:txBody>
                    <a:bodyPr wrap="square" lIns="85725" tIns="85725" rIns="85725" bIns="85725">
                      <a:noAutofit/>
                    </a:bodyPr>
                    <a:lstStyle/>
                    <a:p>
                      <a:r>
                        <a:rPr sz="1575" b="0">
                          <a:solidFill>
                            <a:srgbClr val="D7E2DF"/>
                          </a:solidFill>
                          <a:latin typeface="Inter"/>
                          <a:ea typeface="Inter"/>
                          <a:cs typeface="Inter"/>
                        </a:rPr>
                        <a:t>Q9 Data recovery</a:t>
                      </a:r>
                    </a:p>
                  </a:txBody>
                  <a:tcPr marL="91440" marR="91440" marT="45720" marB="45720" anchor="t">
                    <a:lnL w="7620">
                      <a:solidFill>
                        <a:srgbClr val="2A3B38"/>
                      </a:solidFill>
                      <a:prstDash val="solid"/>
                    </a:lnL>
                    <a:lnR w="7620">
                      <a:solidFill>
                        <a:srgbClr val="2A3B38"/>
                      </a:solidFill>
                      <a:prstDash val="solid"/>
                    </a:lnR>
                    <a:lnB w="7620">
                      <a:solidFill>
                        <a:srgbClr val="2A3B38"/>
                      </a:solidFill>
                      <a:prstDash val="solid"/>
                    </a:lnB>
                    <a:solidFill>
                      <a:srgbClr val="08100F"/>
                    </a:solidFill>
                  </a:tcPr>
                </a:tc>
                <a:tc>
                  <a:txBody>
                    <a:bodyPr wrap="square" lIns="85725" tIns="85725" rIns="85725" bIns="85725">
                      <a:noAutofit/>
                    </a:bodyPr>
                    <a:lstStyle/>
                    <a:p>
                      <a:r>
                        <a:rPr sz="1575" b="0">
                          <a:solidFill>
                            <a:srgbClr val="D7E2DF"/>
                          </a:solidFill>
                          <a:latin typeface="Inter"/>
                          <a:ea typeface="Inter"/>
                          <a:cs typeface="Inter"/>
                        </a:rPr>
                        <a:t>6.4.5.C.01; 6.4.6.C.01</a:t>
                      </a:r>
                    </a:p>
                    <a:p>
                      <a:r>
                        <a:rPr sz="1575" b="0">
                          <a:solidFill>
                            <a:srgbClr val="D7E2DF"/>
                          </a:solidFill>
                          <a:latin typeface="Inter"/>
                          <a:ea typeface="Inter"/>
                          <a:cs typeface="Inter"/>
                        </a:rPr>
                        <a:t>CIDs 1120, 1123</a:t>
                      </a:r>
                    </a:p>
                  </a:txBody>
                  <a:tcPr marL="91440" marR="91440" marT="45720" marB="45720" anchor="t">
                    <a:lnR w="7620">
                      <a:solidFill>
                        <a:srgbClr val="2A3B38"/>
                      </a:solidFill>
                      <a:prstDash val="solid"/>
                    </a:lnR>
                    <a:lnB w="7620">
                      <a:solidFill>
                        <a:srgbClr val="2A3B38"/>
                      </a:solidFill>
                      <a:prstDash val="solid"/>
                    </a:lnB>
                    <a:solidFill>
                      <a:srgbClr val="08100F"/>
                    </a:solidFill>
                  </a:tcPr>
                </a:tc>
                <a:tc>
                  <a:txBody>
                    <a:bodyPr wrap="square" lIns="85725" tIns="85725" rIns="85725" bIns="85725">
                      <a:noAutofit/>
                    </a:bodyPr>
                    <a:lstStyle/>
                    <a:p>
                      <a:r>
                        <a:rPr sz="1575" b="0">
                          <a:solidFill>
                            <a:srgbClr val="D7E2DF"/>
                          </a:solidFill>
                          <a:latin typeface="Inter"/>
                          <a:ea typeface="Inter"/>
                          <a:cs typeface="Inter"/>
                        </a:rPr>
                        <a:t>A sampled restore leaves whole-service recovery, dependencies and continuity untested.</a:t>
                      </a:r>
                    </a:p>
                  </a:txBody>
                  <a:tcPr marL="91440" marR="91440" marT="45720" marB="45720" anchor="t">
                    <a:lnR w="7620">
                      <a:solidFill>
                        <a:srgbClr val="2A3B38"/>
                      </a:solidFill>
                      <a:prstDash val="solid"/>
                    </a:lnR>
                    <a:lnB w="7620">
                      <a:solidFill>
                        <a:srgbClr val="2A3B38"/>
                      </a:solidFill>
                      <a:prstDash val="solid"/>
                    </a:lnB>
                    <a:solidFill>
                      <a:srgbClr val="08100F"/>
                    </a:solidFill>
                  </a:tcPr>
                </a:tc>
              </a:tr>
              <a:tr h="1025525">
                <a:tc>
                  <a:txBody>
                    <a:bodyPr wrap="square" lIns="85725" tIns="85725" rIns="85725" bIns="85725">
                      <a:noAutofit/>
                    </a:bodyPr>
                    <a:lstStyle/>
                    <a:p>
                      <a:r>
                        <a:rPr sz="1575" b="0">
                          <a:solidFill>
                            <a:srgbClr val="D7E2DF"/>
                          </a:solidFill>
                          <a:latin typeface="Inter"/>
                          <a:ea typeface="Inter"/>
                          <a:cs typeface="Inter"/>
                        </a:rPr>
                        <a:t>Q10 Response planning</a:t>
                      </a:r>
                    </a:p>
                  </a:txBody>
                  <a:tcPr marL="91440" marR="91440" marT="45720" marB="45720" anchor="t">
                    <a:lnL w="7620">
                      <a:solidFill>
                        <a:srgbClr val="2A3B38"/>
                      </a:solidFill>
                      <a:prstDash val="solid"/>
                    </a:lnL>
                    <a:lnR w="7620">
                      <a:solidFill>
                        <a:srgbClr val="2A3B38"/>
                      </a:solidFill>
                      <a:prstDash val="solid"/>
                    </a:lnR>
                    <a:lnB w="7620">
                      <a:solidFill>
                        <a:srgbClr val="2A3B38"/>
                      </a:solidFill>
                      <a:prstDash val="solid"/>
                    </a:lnB>
                    <a:solidFill>
                      <a:srgbClr val="08100F"/>
                    </a:solidFill>
                  </a:tcPr>
                </a:tc>
                <a:tc>
                  <a:txBody>
                    <a:bodyPr wrap="square" lIns="85725" tIns="85725" rIns="85725" bIns="85725">
                      <a:noAutofit/>
                    </a:bodyPr>
                    <a:lstStyle/>
                    <a:p>
                      <a:r>
                        <a:rPr sz="1575" b="0">
                          <a:solidFill>
                            <a:srgbClr val="D7E2DF"/>
                          </a:solidFill>
                          <a:latin typeface="Inter"/>
                          <a:ea typeface="Inter"/>
                          <a:cs typeface="Inter"/>
                        </a:rPr>
                        <a:t>5.1.12.C.01–02</a:t>
                      </a:r>
                    </a:p>
                    <a:p>
                      <a:r>
                        <a:rPr sz="1575" b="0">
                          <a:solidFill>
                            <a:srgbClr val="D7E2DF"/>
                          </a:solidFill>
                          <a:latin typeface="Inter"/>
                          <a:ea typeface="Inter"/>
                          <a:cs typeface="Inter"/>
                        </a:rPr>
                        <a:t>CIDs 708, 709</a:t>
                      </a:r>
                    </a:p>
                  </a:txBody>
                  <a:tcPr marL="91440" marR="91440" marT="45720" marB="45720" anchor="t">
                    <a:lnR w="7620">
                      <a:solidFill>
                        <a:srgbClr val="2A3B38"/>
                      </a:solidFill>
                      <a:prstDash val="solid"/>
                    </a:lnR>
                    <a:lnB w="7620">
                      <a:solidFill>
                        <a:srgbClr val="2A3B38"/>
                      </a:solidFill>
                      <a:prstDash val="solid"/>
                    </a:lnB>
                    <a:solidFill>
                      <a:srgbClr val="08100F"/>
                    </a:solidFill>
                  </a:tcPr>
                </a:tc>
                <a:tc>
                  <a:txBody>
                    <a:bodyPr wrap="square" lIns="85725" tIns="85725" rIns="85725" bIns="85725">
                      <a:noAutofit/>
                    </a:bodyPr>
                    <a:lstStyle/>
                    <a:p>
                      <a:r>
                        <a:rPr sz="1575" b="0">
                          <a:solidFill>
                            <a:srgbClr val="D7E2DF"/>
                          </a:solidFill>
                          <a:latin typeface="Inter"/>
                          <a:ea typeface="Inter"/>
                          <a:cs typeface="Inter"/>
                        </a:rPr>
                        <a:t>Reporting duties, evidence preservation, supplier coordination and response need deeper review.</a:t>
                      </a:r>
                    </a:p>
                  </a:txBody>
                  <a:tcPr marL="91440" marR="91440" marT="45720" marB="45720" anchor="t">
                    <a:lnR w="7620">
                      <a:solidFill>
                        <a:srgbClr val="2A3B38"/>
                      </a:solidFill>
                      <a:prstDash val="solid"/>
                    </a:lnR>
                    <a:lnB w="7620">
                      <a:solidFill>
                        <a:srgbClr val="2A3B38"/>
                      </a:solidFill>
                      <a:prstDash val="solid"/>
                    </a:lnB>
                    <a:solidFill>
                      <a:srgbClr val="08100F"/>
                    </a:solidFill>
                  </a:tcPr>
                </a:tc>
              </a:tr>
              <a:tr h="1025525">
                <a:tc>
                  <a:txBody>
                    <a:bodyPr wrap="square" lIns="85725" tIns="85725" rIns="85725" bIns="85725">
                      <a:noAutofit/>
                    </a:bodyPr>
                    <a:lstStyle/>
                    <a:p>
                      <a:r>
                        <a:rPr sz="1575" b="0">
                          <a:solidFill>
                            <a:srgbClr val="D7E2DF"/>
                          </a:solidFill>
                          <a:latin typeface="Inter"/>
                          <a:ea typeface="Inter"/>
                          <a:cs typeface="Inter"/>
                        </a:rPr>
                        <a:t>Q11 Password manager</a:t>
                      </a:r>
                    </a:p>
                  </a:txBody>
                  <a:tcPr marL="91440" marR="91440" marT="45720" marB="45720" anchor="t">
                    <a:lnL w="7620">
                      <a:solidFill>
                        <a:srgbClr val="2A3B38"/>
                      </a:solidFill>
                      <a:prstDash val="solid"/>
                    </a:lnL>
                    <a:lnR w="7620">
                      <a:solidFill>
                        <a:srgbClr val="2A3B38"/>
                      </a:solidFill>
                      <a:prstDash val="solid"/>
                    </a:lnR>
                    <a:lnB w="7620">
                      <a:solidFill>
                        <a:srgbClr val="2A3B38"/>
                      </a:solidFill>
                      <a:prstDash val="solid"/>
                    </a:lnB>
                    <a:solidFill>
                      <a:srgbClr val="08100F"/>
                    </a:solidFill>
                  </a:tcPr>
                </a:tc>
                <a:tc>
                  <a:txBody>
                    <a:bodyPr wrap="square" lIns="85725" tIns="85725" rIns="85725" bIns="85725">
                      <a:noAutofit/>
                    </a:bodyPr>
                    <a:lstStyle/>
                    <a:p>
                      <a:r>
                        <a:rPr sz="1575" b="0">
                          <a:solidFill>
                            <a:srgbClr val="D7E2DF"/>
                          </a:solidFill>
                          <a:latin typeface="Inter"/>
                          <a:ea typeface="Inter"/>
                          <a:cs typeface="Inter"/>
                        </a:rPr>
                        <a:t>16.1.37.C.01–02</a:t>
                      </a:r>
                    </a:p>
                    <a:p>
                      <a:r>
                        <a:rPr sz="1575" b="0">
                          <a:solidFill>
                            <a:srgbClr val="D7E2DF"/>
                          </a:solidFill>
                          <a:latin typeface="Inter"/>
                          <a:ea typeface="Inter"/>
                          <a:cs typeface="Inter"/>
                        </a:rPr>
                        <a:t>16.1.27.C.02</a:t>
                      </a:r>
                    </a:p>
                    <a:p>
                      <a:r>
                        <a:rPr sz="1575" b="0">
                          <a:solidFill>
                            <a:srgbClr val="D7E2DF"/>
                          </a:solidFill>
                          <a:latin typeface="Inter"/>
                          <a:ea typeface="Inter"/>
                          <a:cs typeface="Inter"/>
                        </a:rPr>
                        <a:t>CIDs 7558, 7559, 7542</a:t>
                      </a:r>
                    </a:p>
                  </a:txBody>
                  <a:tcPr marL="91440" marR="91440" marT="45720" marB="45720" anchor="t">
                    <a:lnR w="7620">
                      <a:solidFill>
                        <a:srgbClr val="2A3B38"/>
                      </a:solidFill>
                      <a:prstDash val="solid"/>
                    </a:lnR>
                    <a:lnB w="7620">
                      <a:solidFill>
                        <a:srgbClr val="2A3B38"/>
                      </a:solidFill>
                      <a:prstDash val="solid"/>
                    </a:lnB>
                    <a:solidFill>
                      <a:srgbClr val="08100F"/>
                    </a:solidFill>
                  </a:tcPr>
                </a:tc>
                <a:tc>
                  <a:txBody>
                    <a:bodyPr wrap="square" lIns="85725" tIns="85725" rIns="85725" bIns="85725">
                      <a:noAutofit/>
                    </a:bodyPr>
                    <a:lstStyle/>
                    <a:p>
                      <a:r>
                        <a:rPr sz="1575" b="0">
                          <a:solidFill>
                            <a:srgbClr val="D7E2DF"/>
                          </a:solidFill>
                          <a:latin typeface="Inter"/>
                          <a:ea typeface="Inter"/>
                          <a:cs typeface="Inter"/>
                        </a:rPr>
                        <a:t>NZISM prohibits shared privileged credentials, with a break-glass exception. Vault use alone is insufficient.</a:t>
                      </a:r>
                    </a:p>
                  </a:txBody>
                  <a:tcPr marL="91440" marR="91440" marT="45720" marB="45720" anchor="t">
                    <a:lnR w="7620">
                      <a:solidFill>
                        <a:srgbClr val="2A3B38"/>
                      </a:solidFill>
                      <a:prstDash val="solid"/>
                    </a:lnR>
                    <a:lnB w="7620">
                      <a:solidFill>
                        <a:srgbClr val="2A3B38"/>
                      </a:solidFill>
                      <a:prstDash val="solid"/>
                    </a:lnB>
                    <a:solidFill>
                      <a:srgbClr val="08100F"/>
                    </a:solidFill>
                  </a:tcPr>
                </a:tc>
              </a:tr>
            </a:tbl>
          </a:graphicData>
        </a:graphic>
      </p:graphicFrame>
      <p:sp>
        <p:nvSpPr>
          <p:cNvPr id="7" name="appendix-qualifier">
            <a:extLst xmlns:a="http://schemas.openxmlformats.org/drawingml/2006/main">
              <a:ext uri="{FF2B5EF4-FFF2-40B4-BE49-F238E27FC236}">
                <a16:creationId xmlns:a16="http://schemas.microsoft.com/office/drawing/2014/main" id="{92AF08AD-3142-4ABA-AE50-6E5DA6EC82AB}"/>
              </a:ext>
            </a:extLst>
          </p:cNvPr>
          <p:cNvSpPr>
            <a:spLocks xmlns:a="http://schemas.openxmlformats.org/drawingml/2006/main" noGrp="1"/>
          </p:cNvSpPr>
          <p:nvPr/>
        </p:nvSpPr>
        <p:spPr>
          <a:xfrm xmlns:a="http://schemas.openxmlformats.org/drawingml/2006/main">
            <a:off x="685800" y="6105525"/>
            <a:ext cx="10334625"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350" b="0">
                <a:solidFill>
                  <a:srgbClr val="FFD400"/>
                </a:solidFill>
                <a:latin typeface="Inter"/>
                <a:ea typeface="Inter"/>
                <a:cs typeface="Inter"/>
              </a:defRPr>
            </a:defPPr>
          </a:lstStyle>
          <a:p xmlns:a="http://schemas.openxmlformats.org/drawingml/2006/main">
            <a:pPr>
              <a:defRPr sz="1350" b="0">
                <a:solidFill>
                  <a:srgbClr val="FFD400"/>
                </a:solidFill>
                <a:latin typeface="Inter"/>
                <a:ea typeface="Inter"/>
                <a:cs typeface="Inter"/>
              </a:defRPr>
            </a:pPr>
            <a:r>
              <a:rPr sz="1350" b="0">
                <a:solidFill>
                  <a:srgbClr val="FFD400"/>
                </a:solidFill>
                <a:latin typeface="Inter"/>
                <a:ea typeface="Inter"/>
                <a:cs typeface="Inter"/>
              </a:rPr>
              <a:t>No Fries topic mapping only. Confirm applicability and control wording in a separate assessment.</a:t>
            </a:r>
          </a:p>
        </p:txBody>
      </p:sp>
      <p:sp>
        <p:nvSpPr>
          <p:cNvPr id="8" name="appendix-version">
            <a:extLst xmlns:a="http://schemas.openxmlformats.org/drawingml/2006/main">
              <a:ext uri="{FF2B5EF4-FFF2-40B4-BE49-F238E27FC236}">
                <a16:creationId xmlns:a16="http://schemas.microsoft.com/office/drawing/2014/main" id="{0BDDFE69-02EF-4082-AD80-C3F5E07B276F}"/>
              </a:ext>
            </a:extLst>
          </p:cNvPr>
          <p:cNvSpPr>
            <a:spLocks xmlns:a="http://schemas.openxmlformats.org/drawingml/2006/main" noGrp="1"/>
          </p:cNvSpPr>
          <p:nvPr/>
        </p:nvSpPr>
        <p:spPr>
          <a:xfrm xmlns:a="http://schemas.openxmlformats.org/drawingml/2006/main">
            <a:off x="685800" y="6429375"/>
            <a:ext cx="99060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125" b="0">
                <a:solidFill>
                  <a:srgbClr val="A9BBB7"/>
                </a:solidFill>
                <a:latin typeface="Inter"/>
                <a:ea typeface="Inter"/>
                <a:cs typeface="Inter"/>
              </a:defRPr>
            </a:defPPr>
          </a:lstStyle>
          <a:p xmlns:a="http://schemas.openxmlformats.org/drawingml/2006/main">
            <a:pPr>
              <a:defRPr sz="1125" b="0">
                <a:solidFill>
                  <a:srgbClr val="A9BBB7"/>
                </a:solidFill>
                <a:latin typeface="Inter"/>
                <a:ea typeface="Inter"/>
                <a:cs typeface="Inter"/>
              </a:defRPr>
            </a:pPr>
            <a:r>
              <a:rPr sz="1125" b="0">
                <a:solidFill>
                  <a:srgbClr val="A9BBB7"/>
                </a:solidFill>
                <a:latin typeface="Inter"/>
                <a:ea typeface="Inter"/>
                <a:cs typeface="Inter"/>
              </a:rPr>
              <a:t>NZISM v3.9, current online edition, updated November 2025. Checked 19 October 2026.</a:t>
            </a:r>
          </a:p>
        </p:txBody>
      </p:sp>
    </p:spTree>
    <p:extLst>
      <p:ext uri="{BB962C8B-B14F-4D97-AF65-F5344CB8AC3E}">
        <p14:creationId xmlns:p14="http://schemas.microsoft.com/office/powerpoint/2010/main" val="871001505"/>
      </p:ext>
    </p:extLst>
  </p:cSld>
</p:sld>
</file>

<file path=ppt/slides/slide25.xml><?xml version="1.0" encoding="utf-8"?>
<p:sld xmlns:p="http://schemas.openxmlformats.org/presentationml/2006/main">
  <p:cSld>
    <p:bg>
      <p:bgPr>
        <a:solidFill xmlns:a="http://schemas.openxmlformats.org/drawingml/2006/main">
          <a:srgbClr val="08100F"/>
        </a:solidFill>
      </p:bgPr>
    </p:bg>
    <p:spTree>
      <p:nvGrpSpPr>
        <p:cNvPr id="1" name=""/>
        <p:cNvGrpSpPr/>
        <p:nvPr/>
      </p:nvGrpSpPr>
      <p:grpSpPr>
        <a:xfrm xmlns:a="http://schemas.openxmlformats.org/drawingml/2006/main"/>
      </p:grpSpPr>
      <p:sp>
        <p:nvSpPr>
          <p:cNvPr id="9" name="brand">
            <a:extLst xmlns:a="http://schemas.openxmlformats.org/drawingml/2006/main">
              <a:ext uri="{FF2B5EF4-FFF2-40B4-BE49-F238E27FC236}">
                <a16:creationId xmlns:a16="http://schemas.microsoft.com/office/drawing/2014/main" id="{1A8C98E3-9EFF-4543-8FDA-612D7DAEFFF2}"/>
              </a:ext>
            </a:extLst>
          </p:cNvPr>
          <p:cNvSpPr>
            <a:spLocks xmlns:a="http://schemas.openxmlformats.org/drawingml/2006/main" noGrp="1"/>
          </p:cNvSpPr>
          <p:nvPr/>
        </p:nvSpPr>
        <p:spPr>
          <a:xfrm xmlns:a="http://schemas.openxmlformats.org/drawingml/2006/main">
            <a:off x="685800" y="323850"/>
            <a:ext cx="2952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00" b="1">
                <a:solidFill>
                  <a:srgbClr val="F6FAF9"/>
                </a:solidFill>
                <a:latin typeface="Inter"/>
                <a:ea typeface="Inter"/>
                <a:cs typeface="Inter"/>
              </a:defRPr>
            </a:defPPr>
          </a:lstStyle>
          <a:p xmlns:a="http://schemas.openxmlformats.org/drawingml/2006/main">
            <a:pPr>
              <a:defRPr sz="1800" b="1">
                <a:solidFill>
                  <a:srgbClr val="F6FAF9"/>
                </a:solidFill>
                <a:latin typeface="Inter"/>
                <a:ea typeface="Inter"/>
                <a:cs typeface="Inter"/>
              </a:defRPr>
            </a:pPr>
            <a:r>
              <a:rPr sz="1800" b="1">
                <a:solidFill>
                  <a:srgbClr val="F6FAF9"/>
                </a:solidFill>
                <a:latin typeface="Inter"/>
                <a:ea typeface="Inter"/>
                <a:cs typeface="Inter"/>
              </a:rPr>
              <a:t>NO FRIES</a:t>
            </a:r>
          </a:p>
        </p:txBody>
      </p:sp>
      <p:sp>
        <p:nvSpPr>
          <p:cNvPr id="2" name="section">
            <a:extLst xmlns:a="http://schemas.openxmlformats.org/drawingml/2006/main">
              <a:ext uri="{FF2B5EF4-FFF2-40B4-BE49-F238E27FC236}">
                <a16:creationId xmlns:a16="http://schemas.microsoft.com/office/drawing/2014/main" id="{A064976F-6391-475B-A543-CA1DA0C9E280}"/>
              </a:ext>
            </a:extLst>
          </p:cNvPr>
          <p:cNvSpPr>
            <a:spLocks xmlns:a="http://schemas.openxmlformats.org/drawingml/2006/main" noGrp="1"/>
          </p:cNvSpPr>
          <p:nvPr/>
        </p:nvSpPr>
        <p:spPr>
          <a:xfrm xmlns:a="http://schemas.openxmlformats.org/drawingml/2006/main">
            <a:off x="5524500" y="371475"/>
            <a:ext cx="59817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1">
                <a:solidFill>
                  <a:srgbClr val="6CD8C9"/>
                </a:solidFill>
                <a:latin typeface="Inter"/>
                <a:ea typeface="Inter"/>
                <a:cs typeface="Inter"/>
              </a:defRPr>
            </a:defPPr>
          </a:lstStyle>
          <a:p xmlns:a="http://schemas.openxmlformats.org/drawingml/2006/main">
            <a:pPr algn="r">
              <a:defRPr sz="1200" b="1">
                <a:solidFill>
                  <a:srgbClr val="6CD8C9"/>
                </a:solidFill>
                <a:latin typeface="Inter"/>
                <a:ea typeface="Inter"/>
                <a:cs typeface="Inter"/>
              </a:defRPr>
            </a:pPr>
            <a:r>
              <a:rPr sz="1200" b="1">
                <a:solidFill>
                  <a:srgbClr val="6CD8C9"/>
                </a:solidFill>
                <a:latin typeface="Inter"/>
                <a:ea typeface="Inter"/>
                <a:cs typeface="Inter"/>
              </a:rPr>
              <a:t>OPTIONAL NZISM APPENDIX</a:t>
            </a:r>
          </a:p>
        </p:txBody>
      </p:sp>
      <p:sp>
        <p:nvSpPr>
          <p:cNvPr id="3" name="page">
            <a:extLst xmlns:a="http://schemas.openxmlformats.org/drawingml/2006/main">
              <a:ext uri="{FF2B5EF4-FFF2-40B4-BE49-F238E27FC236}">
                <a16:creationId xmlns:a16="http://schemas.microsoft.com/office/drawing/2014/main" id="{B1F71F8F-5765-47D6-9EDB-01F06564E97F}"/>
              </a:ext>
            </a:extLst>
          </p:cNvPr>
          <p:cNvSpPr>
            <a:spLocks xmlns:a="http://schemas.openxmlformats.org/drawingml/2006/main" noGrp="1"/>
          </p:cNvSpPr>
          <p:nvPr/>
        </p:nvSpPr>
        <p:spPr>
          <a:xfrm xmlns:a="http://schemas.openxmlformats.org/drawingml/2006/main">
            <a:off x="10934700" y="6429375"/>
            <a:ext cx="5715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A9BBB7"/>
                </a:solidFill>
                <a:latin typeface="Inter"/>
                <a:ea typeface="Inter"/>
                <a:cs typeface="Inter"/>
              </a:defRPr>
            </a:defPPr>
          </a:lstStyle>
          <a:p xmlns:a="http://schemas.openxmlformats.org/drawingml/2006/main">
            <a:pPr algn="r">
              <a:defRPr sz="1200" b="0">
                <a:solidFill>
                  <a:srgbClr val="A9BBB7"/>
                </a:solidFill>
                <a:latin typeface="Inter"/>
                <a:ea typeface="Inter"/>
                <a:cs typeface="Inter"/>
              </a:defRPr>
            </a:pPr>
            <a:r>
              <a:rPr sz="1200" b="0">
                <a:solidFill>
                  <a:srgbClr val="A9BBB7"/>
                </a:solidFill>
                <a:latin typeface="Inter"/>
                <a:ea typeface="Inter"/>
                <a:cs typeface="Inter"/>
              </a:rPr>
              <a:t>25</a:t>
            </a:r>
          </a:p>
        </p:txBody>
      </p:sp>
      <p:sp>
        <p:nvSpPr>
          <p:cNvPr id="4" name="appendix-title">
            <a:extLst xmlns:a="http://schemas.openxmlformats.org/drawingml/2006/main">
              <a:ext uri="{FF2B5EF4-FFF2-40B4-BE49-F238E27FC236}">
                <a16:creationId xmlns:a16="http://schemas.microsoft.com/office/drawing/2014/main" id="{CB934433-E1C8-4158-ACAA-7CC319280C81}"/>
              </a:ext>
            </a:extLst>
          </p:cNvPr>
          <p:cNvSpPr>
            <a:spLocks xmlns:a="http://schemas.openxmlformats.org/drawingml/2006/main" noGrp="1"/>
          </p:cNvSpPr>
          <p:nvPr/>
        </p:nvSpPr>
        <p:spPr>
          <a:xfrm xmlns:a="http://schemas.openxmlformats.org/drawingml/2006/main">
            <a:off x="685800" y="1047750"/>
            <a:ext cx="108204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525" b="1">
                <a:solidFill>
                  <a:srgbClr val="F6FAF9"/>
                </a:solidFill>
                <a:latin typeface="Inter"/>
                <a:ea typeface="Inter"/>
                <a:cs typeface="Inter"/>
              </a:defRPr>
            </a:defPPr>
          </a:lstStyle>
          <a:p xmlns:a="http://schemas.openxmlformats.org/drawingml/2006/main">
            <a:pPr>
              <a:defRPr sz="3525" b="1">
                <a:solidFill>
                  <a:srgbClr val="F6FAF9"/>
                </a:solidFill>
                <a:latin typeface="Inter"/>
                <a:ea typeface="Inter"/>
                <a:cs typeface="Inter"/>
              </a:defRPr>
            </a:pPr>
            <a:r>
              <a:rPr sz="3525" b="1">
                <a:solidFill>
                  <a:srgbClr val="F6FAF9"/>
                </a:solidFill>
                <a:latin typeface="Inter"/>
                <a:ea typeface="Inter"/>
                <a:cs typeface="Inter"/>
              </a:rPr>
              <a:t>NZISM starting-point references</a:t>
            </a:r>
          </a:p>
        </p:txBody>
      </p:sp>
      <p:sp>
        <p:nvSpPr>
          <p:cNvPr id="5" name="appendix-range">
            <a:extLst xmlns:a="http://schemas.openxmlformats.org/drawingml/2006/main">
              <a:ext uri="{FF2B5EF4-FFF2-40B4-BE49-F238E27FC236}">
                <a16:creationId xmlns:a16="http://schemas.microsoft.com/office/drawing/2014/main" id="{D26DA1F1-57A2-4E89-A514-10E7771264DB}"/>
              </a:ext>
            </a:extLst>
          </p:cNvPr>
          <p:cNvSpPr>
            <a:spLocks xmlns:a="http://schemas.openxmlformats.org/drawingml/2006/main" noGrp="1"/>
          </p:cNvSpPr>
          <p:nvPr/>
        </p:nvSpPr>
        <p:spPr>
          <a:xfrm xmlns:a="http://schemas.openxmlformats.org/drawingml/2006/main">
            <a:off x="685800" y="1752600"/>
            <a:ext cx="108204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75" b="0">
                <a:solidFill>
                  <a:srgbClr val="D7E2DF"/>
                </a:solidFill>
                <a:latin typeface="Inter"/>
                <a:ea typeface="Inter"/>
                <a:cs typeface="Inter"/>
              </a:defRPr>
            </a:defPPr>
          </a:lstStyle>
          <a:p xmlns:a="http://schemas.openxmlformats.org/drawingml/2006/main">
            <a:pPr>
              <a:defRPr sz="1875" b="0">
                <a:solidFill>
                  <a:srgbClr val="D7E2DF"/>
                </a:solidFill>
                <a:latin typeface="Inter"/>
                <a:ea typeface="Inter"/>
                <a:cs typeface="Inter"/>
              </a:defRPr>
            </a:pPr>
            <a:r>
              <a:rPr sz="1875" b="0">
                <a:solidFill>
                  <a:srgbClr val="D7E2DF"/>
                </a:solidFill>
                <a:latin typeface="Inter"/>
                <a:ea typeface="Inter"/>
                <a:cs typeface="Inter"/>
              </a:rPr>
              <a:t>Questions 12–14. Selected references and gaps for further review.</a:t>
            </a:r>
          </a:p>
        </p:txBody>
      </p:sp>
      <p:graphicFrame>
        <p:nvGraphicFramePr>
          <p:cNvPr id="6" name="">
            <a:extLst xmlns:a="http://schemas.openxmlformats.org/drawingml/2006/main">
              <a:ext uri="{FF2B5EF4-FFF2-40B4-BE49-F238E27FC236}">
                <a16:creationId xmlns:a16="http://schemas.microsoft.com/office/drawing/2014/main" id="{0462A217-B722-44D5-BD52-1D7A1F2F4BC4}"/>
              </a:ext>
            </a:extLst>
          </p:cNvPr>
          <p:cNvGraphicFramePr/>
          <p:nvPr/>
        </p:nvGraphicFramePr>
        <p:xfrm>
          <a:off xmlns:a="http://schemas.openxmlformats.org/drawingml/2006/main" x="685800" y="2390775"/>
          <a:ext xmlns:a="http://schemas.openxmlformats.org/drawingml/2006/main" cx="10820400" cy="3486150"/>
        </p:xfrm>
        <a:graphic xmlns:a="http://schemas.openxmlformats.org/drawingml/2006/main">
          <a:graphicData uri="http://schemas.openxmlformats.org/drawingml/2006/table">
            <a:tbl>
              <a:tblPr firstRow="0" firstCol="0" lastRow="0" lastCol="0" bandRow="0" bandCol="0"/>
              <a:tblGrid>
                <a:gridCol w="2333625"/>
                <a:gridCol w="3190875"/>
                <a:gridCol w="5295900"/>
              </a:tblGrid>
              <a:tr h="409575">
                <a:tc>
                  <a:txBody>
                    <a:bodyPr wrap="square" lIns="85725" tIns="85725" rIns="85725" bIns="85725">
                      <a:noAutofit/>
                    </a:bodyPr>
                    <a:lstStyle/>
                    <a:p>
                      <a:r>
                        <a:rPr sz="1650" b="1">
                          <a:solidFill>
                            <a:srgbClr val="6CD8C9"/>
                          </a:solidFill>
                          <a:latin typeface="Inter"/>
                          <a:ea typeface="Inter"/>
                          <a:cs typeface="Inter"/>
                        </a:rPr>
                        <a:t>Question topic</a:t>
                      </a:r>
                    </a:p>
                  </a:txBody>
                  <a:tcPr marL="91440" marR="91440" marT="45720" marB="45720" anchor="t">
                    <a:lnL w="7620">
                      <a:solidFill>
                        <a:srgbClr val="2A3B38"/>
                      </a:solidFill>
                      <a:prstDash val="solid"/>
                    </a:lnL>
                    <a:lnR w="7620">
                      <a:solidFill>
                        <a:srgbClr val="2A3B38"/>
                      </a:solidFill>
                      <a:prstDash val="solid"/>
                    </a:lnR>
                    <a:lnT w="7620">
                      <a:solidFill>
                        <a:srgbClr val="2A3B38"/>
                      </a:solidFill>
                      <a:prstDash val="solid"/>
                    </a:lnT>
                    <a:lnB w="7620">
                      <a:solidFill>
                        <a:srgbClr val="2A3B38"/>
                      </a:solidFill>
                      <a:prstDash val="solid"/>
                    </a:lnB>
                    <a:solidFill>
                      <a:srgbClr val="08100F"/>
                    </a:solidFill>
                  </a:tcPr>
                </a:tc>
                <a:tc>
                  <a:txBody>
                    <a:bodyPr wrap="square" lIns="85725" tIns="85725" rIns="85725" bIns="85725">
                      <a:noAutofit/>
                    </a:bodyPr>
                    <a:lstStyle/>
                    <a:p>
                      <a:r>
                        <a:rPr sz="1650" b="1">
                          <a:solidFill>
                            <a:srgbClr val="6CD8C9"/>
                          </a:solidFill>
                          <a:latin typeface="Inter"/>
                          <a:ea typeface="Inter"/>
                          <a:cs typeface="Inter"/>
                        </a:rPr>
                        <a:t>Selected references</a:t>
                      </a:r>
                    </a:p>
                  </a:txBody>
                  <a:tcPr marL="91440" marR="91440" marT="45720" marB="45720" anchor="t">
                    <a:lnR w="7620">
                      <a:solidFill>
                        <a:srgbClr val="2A3B38"/>
                      </a:solidFill>
                      <a:prstDash val="solid"/>
                    </a:lnR>
                    <a:lnT w="7620">
                      <a:solidFill>
                        <a:srgbClr val="2A3B38"/>
                      </a:solidFill>
                      <a:prstDash val="solid"/>
                    </a:lnT>
                    <a:lnB w="7620">
                      <a:solidFill>
                        <a:srgbClr val="2A3B38"/>
                      </a:solidFill>
                      <a:prstDash val="solid"/>
                    </a:lnB>
                    <a:solidFill>
                      <a:srgbClr val="08100F"/>
                    </a:solidFill>
                  </a:tcPr>
                </a:tc>
                <a:tc>
                  <a:txBody>
                    <a:bodyPr wrap="square" lIns="85725" tIns="85725" rIns="85725" bIns="85725">
                      <a:noAutofit/>
                    </a:bodyPr>
                    <a:lstStyle/>
                    <a:p>
                      <a:r>
                        <a:rPr sz="1650" b="1">
                          <a:solidFill>
                            <a:srgbClr val="6CD8C9"/>
                          </a:solidFill>
                          <a:latin typeface="Inter"/>
                          <a:ea typeface="Inter"/>
                          <a:cs typeface="Inter"/>
                        </a:rPr>
                        <a:t>Further checks</a:t>
                      </a:r>
                    </a:p>
                  </a:txBody>
                  <a:tcPr marL="91440" marR="91440" marT="45720" marB="45720" anchor="t">
                    <a:lnR w="7620">
                      <a:solidFill>
                        <a:srgbClr val="2A3B38"/>
                      </a:solidFill>
                      <a:prstDash val="solid"/>
                    </a:lnR>
                    <a:lnT w="7620">
                      <a:solidFill>
                        <a:srgbClr val="2A3B38"/>
                      </a:solidFill>
                      <a:prstDash val="solid"/>
                    </a:lnT>
                    <a:lnB w="7620">
                      <a:solidFill>
                        <a:srgbClr val="2A3B38"/>
                      </a:solidFill>
                      <a:prstDash val="solid"/>
                    </a:lnB>
                    <a:solidFill>
                      <a:srgbClr val="08100F"/>
                    </a:solidFill>
                  </a:tcPr>
                </a:tc>
              </a:tr>
              <a:tr h="1025525">
                <a:tc>
                  <a:txBody>
                    <a:bodyPr wrap="square" lIns="85725" tIns="85725" rIns="85725" bIns="85725">
                      <a:noAutofit/>
                    </a:bodyPr>
                    <a:lstStyle/>
                    <a:p>
                      <a:r>
                        <a:rPr sz="1575" b="0">
                          <a:solidFill>
                            <a:srgbClr val="D7E2DF"/>
                          </a:solidFill>
                          <a:latin typeface="Inter"/>
                          <a:ea typeface="Inter"/>
                          <a:cs typeface="Inter"/>
                        </a:rPr>
                        <a:t>Q12 Request verification</a:t>
                      </a:r>
                    </a:p>
                  </a:txBody>
                  <a:tcPr marL="91440" marR="91440" marT="45720" marB="45720" anchor="t">
                    <a:lnL w="7620">
                      <a:solidFill>
                        <a:srgbClr val="2A3B38"/>
                      </a:solidFill>
                      <a:prstDash val="solid"/>
                    </a:lnL>
                    <a:lnR w="7620">
                      <a:solidFill>
                        <a:srgbClr val="2A3B38"/>
                      </a:solidFill>
                      <a:prstDash val="solid"/>
                    </a:lnR>
                    <a:lnB w="7620">
                      <a:solidFill>
                        <a:srgbClr val="2A3B38"/>
                      </a:solidFill>
                      <a:prstDash val="solid"/>
                    </a:lnB>
                    <a:solidFill>
                      <a:srgbClr val="08100F"/>
                    </a:solidFill>
                  </a:tcPr>
                </a:tc>
                <a:tc>
                  <a:txBody>
                    <a:bodyPr wrap="square" lIns="85725" tIns="85725" rIns="85725" bIns="85725">
                      <a:noAutofit/>
                    </a:bodyPr>
                    <a:lstStyle/>
                    <a:p>
                      <a:r>
                        <a:rPr sz="1575" b="0">
                          <a:solidFill>
                            <a:srgbClr val="D7E2DF"/>
                          </a:solidFill>
                          <a:latin typeface="Inter"/>
                          <a:ea typeface="Inter"/>
                          <a:cs typeface="Inter"/>
                        </a:rPr>
                        <a:t>16.1.36.C.01</a:t>
                      </a:r>
                    </a:p>
                    <a:p>
                      <a:r>
                        <a:rPr sz="1575" b="0">
                          <a:solidFill>
                            <a:srgbClr val="D7E2DF"/>
                          </a:solidFill>
                          <a:latin typeface="Inter"/>
                          <a:ea typeface="Inter"/>
                          <a:cs typeface="Inter"/>
                        </a:rPr>
                        <a:t>16.7.42.C.01–02</a:t>
                      </a:r>
                    </a:p>
                    <a:p>
                      <a:r>
                        <a:rPr sz="1575" b="0">
                          <a:solidFill>
                            <a:srgbClr val="D7E2DF"/>
                          </a:solidFill>
                          <a:latin typeface="Inter"/>
                          <a:ea typeface="Inter"/>
                          <a:cs typeface="Inter"/>
                        </a:rPr>
                        <a:t>CIDs 1875, 7563, 6953</a:t>
                      </a:r>
                    </a:p>
                  </a:txBody>
                  <a:tcPr marL="91440" marR="91440" marT="45720" marB="45720" anchor="t">
                    <a:lnR w="7620">
                      <a:solidFill>
                        <a:srgbClr val="2A3B38"/>
                      </a:solidFill>
                      <a:prstDash val="solid"/>
                    </a:lnR>
                    <a:lnB w="7620">
                      <a:solidFill>
                        <a:srgbClr val="2A3B38"/>
                      </a:solidFill>
                      <a:prstDash val="solid"/>
                    </a:lnB>
                    <a:solidFill>
                      <a:srgbClr val="08100F"/>
                    </a:solidFill>
                  </a:tcPr>
                </a:tc>
                <a:tc>
                  <a:txBody>
                    <a:bodyPr wrap="square" lIns="85725" tIns="85725" rIns="85725" bIns="85725">
                      <a:noAutofit/>
                    </a:bodyPr>
                    <a:lstStyle/>
                    <a:p>
                      <a:r>
                        <a:rPr sz="1575" b="0">
                          <a:solidFill>
                            <a:srgbClr val="D7E2DF"/>
                          </a:solidFill>
                          <a:latin typeface="Inter"/>
                          <a:ea typeface="Inter"/>
                          <a:cs typeface="Inter"/>
                        </a:rPr>
                        <a:t>Identity and account recovery overlap only. These references do not cover payment changes.</a:t>
                      </a:r>
                    </a:p>
                  </a:txBody>
                  <a:tcPr marL="91440" marR="91440" marT="45720" marB="45720" anchor="t">
                    <a:lnR w="7620">
                      <a:solidFill>
                        <a:srgbClr val="2A3B38"/>
                      </a:solidFill>
                      <a:prstDash val="solid"/>
                    </a:lnR>
                    <a:lnB w="7620">
                      <a:solidFill>
                        <a:srgbClr val="2A3B38"/>
                      </a:solidFill>
                      <a:prstDash val="solid"/>
                    </a:lnB>
                    <a:solidFill>
                      <a:srgbClr val="08100F"/>
                    </a:solidFill>
                  </a:tcPr>
                </a:tc>
              </a:tr>
              <a:tr h="1025525">
                <a:tc>
                  <a:txBody>
                    <a:bodyPr wrap="square" lIns="85725" tIns="85725" rIns="85725" bIns="85725">
                      <a:noAutofit/>
                    </a:bodyPr>
                    <a:lstStyle/>
                    <a:p>
                      <a:r>
                        <a:rPr sz="1575" b="0">
                          <a:solidFill>
                            <a:srgbClr val="D7E2DF"/>
                          </a:solidFill>
                          <a:latin typeface="Inter"/>
                          <a:ea typeface="Inter"/>
                          <a:cs typeface="Inter"/>
                        </a:rPr>
                        <a:t>Q13 Application control</a:t>
                      </a:r>
                    </a:p>
                  </a:txBody>
                  <a:tcPr marL="91440" marR="91440" marT="45720" marB="45720" anchor="t">
                    <a:lnL w="7620">
                      <a:solidFill>
                        <a:srgbClr val="2A3B38"/>
                      </a:solidFill>
                      <a:prstDash val="solid"/>
                    </a:lnL>
                    <a:lnR w="7620">
                      <a:solidFill>
                        <a:srgbClr val="2A3B38"/>
                      </a:solidFill>
                      <a:prstDash val="solid"/>
                    </a:lnR>
                    <a:lnB w="7620">
                      <a:solidFill>
                        <a:srgbClr val="2A3B38"/>
                      </a:solidFill>
                      <a:prstDash val="solid"/>
                    </a:lnB>
                    <a:solidFill>
                      <a:srgbClr val="08100F"/>
                    </a:solidFill>
                  </a:tcPr>
                </a:tc>
                <a:tc>
                  <a:txBody>
                    <a:bodyPr wrap="square" lIns="85725" tIns="85725" rIns="85725" bIns="85725">
                      <a:noAutofit/>
                    </a:bodyPr>
                    <a:lstStyle/>
                    <a:p>
                      <a:r>
                        <a:rPr sz="1575" b="0">
                          <a:solidFill>
                            <a:srgbClr val="D7E2DF"/>
                          </a:solidFill>
                          <a:latin typeface="Inter"/>
                          <a:ea typeface="Inter"/>
                          <a:cs typeface="Inter"/>
                        </a:rPr>
                        <a:t>14.2.4.C.01; 14.2.5.C.01</a:t>
                      </a:r>
                    </a:p>
                    <a:p>
                      <a:r>
                        <a:rPr sz="1575" b="0">
                          <a:solidFill>
                            <a:srgbClr val="D7E2DF"/>
                          </a:solidFill>
                          <a:latin typeface="Inter"/>
                          <a:ea typeface="Inter"/>
                          <a:cs typeface="Inter"/>
                        </a:rPr>
                        <a:t>14.2.7.C.01</a:t>
                      </a:r>
                    </a:p>
                    <a:p>
                      <a:r>
                        <a:rPr sz="1575" b="0">
                          <a:solidFill>
                            <a:srgbClr val="D7E2DF"/>
                          </a:solidFill>
                          <a:latin typeface="Inter"/>
                          <a:ea typeface="Inter"/>
                          <a:cs typeface="Inter"/>
                        </a:rPr>
                        <a:t>CIDs 1234, 1242, 934</a:t>
                      </a:r>
                    </a:p>
                  </a:txBody>
                  <a:tcPr marL="91440" marR="91440" marT="45720" marB="45720" anchor="t">
                    <a:lnR w="7620">
                      <a:solidFill>
                        <a:srgbClr val="2A3B38"/>
                      </a:solidFill>
                      <a:prstDash val="solid"/>
                    </a:lnR>
                    <a:lnB w="7620">
                      <a:solidFill>
                        <a:srgbClr val="2A3B38"/>
                      </a:solidFill>
                      <a:prstDash val="solid"/>
                    </a:lnB>
                    <a:solidFill>
                      <a:srgbClr val="08100F"/>
                    </a:solidFill>
                  </a:tcPr>
                </a:tc>
                <a:tc>
                  <a:txBody>
                    <a:bodyPr wrap="square" lIns="85725" tIns="85725" rIns="85725" bIns="85725">
                      <a:noAutofit/>
                    </a:bodyPr>
                    <a:lstStyle/>
                    <a:p>
                      <a:r>
                        <a:rPr sz="1575" b="0">
                          <a:solidFill>
                            <a:srgbClr val="D7E2DF"/>
                          </a:solidFill>
                          <a:latin typeface="Inter"/>
                          <a:ea typeface="Inter"/>
                          <a:cs typeface="Inter"/>
                        </a:rPr>
                        <a:t>Check default-deny, anti-tamper, administrator coverage and script or macro bypasses.</a:t>
                      </a:r>
                    </a:p>
                  </a:txBody>
                  <a:tcPr marL="91440" marR="91440" marT="45720" marB="45720" anchor="t">
                    <a:lnR w="7620">
                      <a:solidFill>
                        <a:srgbClr val="2A3B38"/>
                      </a:solidFill>
                      <a:prstDash val="solid"/>
                    </a:lnR>
                    <a:lnB w="7620">
                      <a:solidFill>
                        <a:srgbClr val="2A3B38"/>
                      </a:solidFill>
                      <a:prstDash val="solid"/>
                    </a:lnB>
                    <a:solidFill>
                      <a:srgbClr val="08100F"/>
                    </a:solidFill>
                  </a:tcPr>
                </a:tc>
              </a:tr>
              <a:tr h="1025525">
                <a:tc>
                  <a:txBody>
                    <a:bodyPr wrap="square" lIns="85725" tIns="85725" rIns="85725" bIns="85725">
                      <a:noAutofit/>
                    </a:bodyPr>
                    <a:lstStyle/>
                    <a:p>
                      <a:r>
                        <a:rPr sz="1575" b="0">
                          <a:solidFill>
                            <a:srgbClr val="D7E2DF"/>
                          </a:solidFill>
                          <a:latin typeface="Inter"/>
                          <a:ea typeface="Inter"/>
                          <a:cs typeface="Inter"/>
                        </a:rPr>
                        <a:t>Q14 Network separation</a:t>
                      </a:r>
                    </a:p>
                  </a:txBody>
                  <a:tcPr marL="91440" marR="91440" marT="45720" marB="45720" anchor="t">
                    <a:lnL w="7620">
                      <a:solidFill>
                        <a:srgbClr val="2A3B38"/>
                      </a:solidFill>
                      <a:prstDash val="solid"/>
                    </a:lnL>
                    <a:lnR w="7620">
                      <a:solidFill>
                        <a:srgbClr val="2A3B38"/>
                      </a:solidFill>
                      <a:prstDash val="solid"/>
                    </a:lnR>
                    <a:lnB w="7620">
                      <a:solidFill>
                        <a:srgbClr val="2A3B38"/>
                      </a:solidFill>
                      <a:prstDash val="solid"/>
                    </a:lnB>
                    <a:solidFill>
                      <a:srgbClr val="08100F"/>
                    </a:solidFill>
                  </a:tcPr>
                </a:tc>
                <a:tc>
                  <a:txBody>
                    <a:bodyPr wrap="square" lIns="85725" tIns="85725" rIns="85725" bIns="85725">
                      <a:noAutofit/>
                    </a:bodyPr>
                    <a:lstStyle/>
                    <a:p>
                      <a:r>
                        <a:rPr sz="1575" b="0">
                          <a:solidFill>
                            <a:srgbClr val="D7E2DF"/>
                          </a:solidFill>
                          <a:latin typeface="Inter"/>
                          <a:ea typeface="Inter"/>
                          <a:cs typeface="Inter"/>
                        </a:rPr>
                        <a:t>10.8.34.C.01–02</a:t>
                      </a:r>
                    </a:p>
                    <a:p>
                      <a:r>
                        <a:rPr sz="1575" b="0">
                          <a:solidFill>
                            <a:srgbClr val="D7E2DF"/>
                          </a:solidFill>
                          <a:latin typeface="Inter"/>
                          <a:ea typeface="Inter"/>
                          <a:cs typeface="Inter"/>
                        </a:rPr>
                        <a:t>10.8.35.C.01</a:t>
                      </a:r>
                    </a:p>
                    <a:p>
                      <a:r>
                        <a:rPr sz="1575" b="0">
                          <a:solidFill>
                            <a:srgbClr val="D7E2DF"/>
                          </a:solidFill>
                          <a:latin typeface="Inter"/>
                          <a:ea typeface="Inter"/>
                          <a:cs typeface="Inter"/>
                        </a:rPr>
                        <a:t>CIDs 5815, 5816, 5820</a:t>
                      </a:r>
                    </a:p>
                  </a:txBody>
                  <a:tcPr marL="91440" marR="91440" marT="45720" marB="45720" anchor="t">
                    <a:lnR w="7620">
                      <a:solidFill>
                        <a:srgbClr val="2A3B38"/>
                      </a:solidFill>
                      <a:prstDash val="solid"/>
                    </a:lnR>
                    <a:lnB w="7620">
                      <a:solidFill>
                        <a:srgbClr val="2A3B38"/>
                      </a:solidFill>
                      <a:prstDash val="solid"/>
                    </a:lnB>
                    <a:solidFill>
                      <a:srgbClr val="08100F"/>
                    </a:solidFill>
                  </a:tcPr>
                </a:tc>
                <a:tc>
                  <a:txBody>
                    <a:bodyPr wrap="square" lIns="85725" tIns="85725" rIns="85725" bIns="85725">
                      <a:noAutofit/>
                    </a:bodyPr>
                    <a:lstStyle/>
                    <a:p>
                      <a:r>
                        <a:rPr sz="1575" b="0">
                          <a:solidFill>
                            <a:srgbClr val="D7E2DF"/>
                          </a:solidFill>
                          <a:latin typeface="Inter"/>
                          <a:ea typeface="Inter"/>
                          <a:cs typeface="Inter"/>
                        </a:rPr>
                        <a:t>Test enforced isolation, routes, identity paths, gateways and permitted traffic.</a:t>
                      </a:r>
                    </a:p>
                  </a:txBody>
                  <a:tcPr marL="91440" marR="91440" marT="45720" marB="45720" anchor="t">
                    <a:lnR w="7620">
                      <a:solidFill>
                        <a:srgbClr val="2A3B38"/>
                      </a:solidFill>
                      <a:prstDash val="solid"/>
                    </a:lnR>
                    <a:lnB w="7620">
                      <a:solidFill>
                        <a:srgbClr val="2A3B38"/>
                      </a:solidFill>
                      <a:prstDash val="solid"/>
                    </a:lnB>
                    <a:solidFill>
                      <a:srgbClr val="08100F"/>
                    </a:solidFill>
                  </a:tcPr>
                </a:tc>
              </a:tr>
            </a:tbl>
          </a:graphicData>
        </a:graphic>
      </p:graphicFrame>
      <p:sp>
        <p:nvSpPr>
          <p:cNvPr id="7" name="appendix-qualifier">
            <a:extLst xmlns:a="http://schemas.openxmlformats.org/drawingml/2006/main">
              <a:ext uri="{FF2B5EF4-FFF2-40B4-BE49-F238E27FC236}">
                <a16:creationId xmlns:a16="http://schemas.microsoft.com/office/drawing/2014/main" id="{545A393C-0026-4DA3-ADD7-A1647A7A58C9}"/>
              </a:ext>
            </a:extLst>
          </p:cNvPr>
          <p:cNvSpPr>
            <a:spLocks xmlns:a="http://schemas.openxmlformats.org/drawingml/2006/main" noGrp="1"/>
          </p:cNvSpPr>
          <p:nvPr/>
        </p:nvSpPr>
        <p:spPr>
          <a:xfrm xmlns:a="http://schemas.openxmlformats.org/drawingml/2006/main">
            <a:off x="685800" y="6105525"/>
            <a:ext cx="10334625"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350" b="0">
                <a:solidFill>
                  <a:srgbClr val="FFD400"/>
                </a:solidFill>
                <a:latin typeface="Inter"/>
                <a:ea typeface="Inter"/>
                <a:cs typeface="Inter"/>
              </a:defRPr>
            </a:defPPr>
          </a:lstStyle>
          <a:p xmlns:a="http://schemas.openxmlformats.org/drawingml/2006/main">
            <a:pPr>
              <a:defRPr sz="1350" b="0">
                <a:solidFill>
                  <a:srgbClr val="FFD400"/>
                </a:solidFill>
                <a:latin typeface="Inter"/>
                <a:ea typeface="Inter"/>
                <a:cs typeface="Inter"/>
              </a:defRPr>
            </a:pPr>
            <a:r>
              <a:rPr sz="1350" b="0">
                <a:solidFill>
                  <a:srgbClr val="FFD400"/>
                </a:solidFill>
                <a:latin typeface="Inter"/>
                <a:ea typeface="Inter"/>
                <a:cs typeface="Inter"/>
              </a:rPr>
              <a:t>No Fries topic mapping only. Confirm applicability and control wording in a separate assessment.</a:t>
            </a:r>
          </a:p>
        </p:txBody>
      </p:sp>
      <p:sp>
        <p:nvSpPr>
          <p:cNvPr id="8" name="appendix-version">
            <a:extLst xmlns:a="http://schemas.openxmlformats.org/drawingml/2006/main">
              <a:ext uri="{FF2B5EF4-FFF2-40B4-BE49-F238E27FC236}">
                <a16:creationId xmlns:a16="http://schemas.microsoft.com/office/drawing/2014/main" id="{522500FD-BB88-4B70-B7FF-4B3196C02381}"/>
              </a:ext>
            </a:extLst>
          </p:cNvPr>
          <p:cNvSpPr>
            <a:spLocks xmlns:a="http://schemas.openxmlformats.org/drawingml/2006/main" noGrp="1"/>
          </p:cNvSpPr>
          <p:nvPr/>
        </p:nvSpPr>
        <p:spPr>
          <a:xfrm xmlns:a="http://schemas.openxmlformats.org/drawingml/2006/main">
            <a:off x="685800" y="6429375"/>
            <a:ext cx="99060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125" b="0">
                <a:solidFill>
                  <a:srgbClr val="A9BBB7"/>
                </a:solidFill>
                <a:latin typeface="Inter"/>
                <a:ea typeface="Inter"/>
                <a:cs typeface="Inter"/>
              </a:defRPr>
            </a:defPPr>
          </a:lstStyle>
          <a:p xmlns:a="http://schemas.openxmlformats.org/drawingml/2006/main">
            <a:pPr>
              <a:defRPr sz="1125" b="0">
                <a:solidFill>
                  <a:srgbClr val="A9BBB7"/>
                </a:solidFill>
                <a:latin typeface="Inter"/>
                <a:ea typeface="Inter"/>
                <a:cs typeface="Inter"/>
              </a:defRPr>
            </a:pPr>
            <a:r>
              <a:rPr sz="1125" b="0">
                <a:solidFill>
                  <a:srgbClr val="A9BBB7"/>
                </a:solidFill>
                <a:latin typeface="Inter"/>
                <a:ea typeface="Inter"/>
                <a:cs typeface="Inter"/>
              </a:rPr>
              <a:t>NZISM v3.9, current online edition, updated November 2025. Checked 19 October 2026.</a:t>
            </a:r>
          </a:p>
        </p:txBody>
      </p:sp>
    </p:spTree>
    <p:extLst>
      <p:ext uri="{BB962C8B-B14F-4D97-AF65-F5344CB8AC3E}">
        <p14:creationId xmlns:p14="http://schemas.microsoft.com/office/powerpoint/2010/main" val="10891869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2026-10-19T23:52:34.7380000Z</dcterms:created>
  <dcterms:modified xsi:type="dcterms:W3CDTF">2026-10-19T23:52:34.7380000Z</dcterms:modified>
</coreProperties>
</file>